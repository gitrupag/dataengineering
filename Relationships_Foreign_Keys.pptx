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015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4152" y="2377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0222992" y="2377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2834640"/>
            <a:ext cx="411480" cy="0"/>
          </a:xfrm>
          <a:prstGeom prst="line">
            <a:avLst/>
          </a:prstGeom>
          <a:noFill/>
          <a:ln w="31750">
            <a:solidFill>
              <a:srgbClr val="6FA8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4152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22992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tables connect: parent/child, cardinality, and referential integrity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Hours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students will: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099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relationships in databases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68796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68796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08876" y="17099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1:1, 1:M, and M:N relationships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6243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Parent and Child tables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68796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8876" y="26243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Primary Key vs Foreign Key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387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 using FOREIGN KEY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68796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68796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08876" y="35387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REFERENCES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4531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Referential Integrity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68796" y="4480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6879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08876" y="445312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ON DELETE / UPDATE CASCADE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Keys &amp;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Quick-fire questions to open the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Primary Key?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5292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529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rows have the same Primary Key?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2160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216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61188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Composite Key?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9028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902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constraints?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Relationships?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experiment: designing an Amazon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32E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r>
              <a:rPr lang="en-US" sz="16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customer details, orders, products, payments, and delivery details all be stored in one table?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answer: No.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stores related information in multiple tables, connected using relationships.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096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duplicate data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4988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256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901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28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consistency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53035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manage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6327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storage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Relationships?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Relationships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connection in a relational database falls into one of these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92424" cy="265176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relates to exactly one record in another 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1920240"/>
            <a:ext cx="3392424" cy="2651760"/>
          </a:xfrm>
          <a:prstGeom prst="roundRect">
            <a:avLst>
              <a:gd name="adj" fmla="val 4138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398264" y="214884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98264" y="278892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2584" y="329184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relates to many records in another 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47888" y="1920240"/>
            <a:ext cx="3392424" cy="2651760"/>
          </a:xfrm>
          <a:prstGeom prst="roundRect">
            <a:avLst>
              <a:gd name="adj" fmla="val 4138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47888" y="214884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M:N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47888" y="2788920"/>
            <a:ext cx="3392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22208" y="329184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3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records relate to many records — needs a junction table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Relationships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Relationship (1:1)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in one table relates to only one record in another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7830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7830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914400" cy="0"/>
          </a:xfrm>
          <a:prstGeom prst="line">
            <a:avLst/>
          </a:prstGeom>
          <a:noFill/>
          <a:ln w="25400">
            <a:solidFill>
              <a:srgbClr val="5C71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288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Person → One Passport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5328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Employee → One Locker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9169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Vehicle → One Registration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3383280" cy="5486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Table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3246120"/>
          <a:ext cx="3566160" cy="5486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passport_no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20624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Table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251960"/>
            <a:ext cx="7223760" cy="502920"/>
          </a:xfrm>
          <a:prstGeom prst="roundRect">
            <a:avLst>
              <a:gd name="adj" fmla="val 16364"/>
            </a:avLst>
          </a:prstGeom>
          <a:solidFill>
            <a:srgbClr val="F0F7F6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has only one passport.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Relationship (1:M)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in the parent table can have many related records in the child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7830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7830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914400" cy="0"/>
          </a:xfrm>
          <a:prstGeom prst="line">
            <a:avLst/>
          </a:prstGeom>
          <a:noFill/>
          <a:ln w="25400">
            <a:solidFill>
              <a:srgbClr val="5C71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288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Department → Many Employees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5328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Teacher → Many Students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9169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Customer → Many Orders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3383280" cy="8229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3246120"/>
          <a:ext cx="4023360" cy="109728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20624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074920"/>
            <a:ext cx="7680960" cy="502920"/>
          </a:xfrm>
          <a:prstGeom prst="roundRect">
            <a:avLst>
              <a:gd name="adj" fmla="val 16364"/>
            </a:avLst>
          </a:prstGeom>
          <a:solidFill>
            <a:srgbClr val="F0F7F6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50749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IT has multiple employees.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 Relationship (M:N)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records in one table relate to many records in another — needs a junction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B4A52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8928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23500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83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2240280"/>
            <a:ext cx="685800" cy="0"/>
          </a:xfrm>
          <a:prstGeom prst="line">
            <a:avLst/>
          </a:prstGeom>
          <a:noFill/>
          <a:ln w="25400">
            <a:solidFill>
              <a:srgbClr val="5C71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685800" cy="0"/>
          </a:xfrm>
          <a:prstGeom prst="line">
            <a:avLst/>
          </a:prstGeom>
          <a:noFill/>
          <a:ln w="25400">
            <a:solidFill>
              <a:srgbClr val="5C71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33288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06654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71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↔ Courses     Doctors ↔ Patients     Products ↔ Orders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2377440" cy="548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3931920"/>
          <a:ext cx="2743200" cy="822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320040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931920"/>
          <a:ext cx="3108960" cy="822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6217920" y="3639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5394960"/>
            <a:ext cx="8778240" cy="502920"/>
          </a:xfrm>
          <a:prstGeom prst="roundRect">
            <a:avLst>
              <a:gd name="adj" fmla="val 16364"/>
            </a:avLst>
          </a:prstGeom>
          <a:solidFill>
            <a:srgbClr val="F0F7F6"/>
          </a:solidFill>
          <a:ln/>
        </p:spPr>
      </p:sp>
      <p:sp>
        <p:nvSpPr>
          <p:cNvPr id="30" name="Text 25"/>
          <p:cNvSpPr/>
          <p:nvPr/>
        </p:nvSpPr>
        <p:spPr>
          <a:xfrm>
            <a:off x="822960" y="5394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enrolled in two courses.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Table &amp; Child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foreign-key relationship has two sides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5271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Primary Key that is referenced by another 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71516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926080"/>
            <a:ext cx="48691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 PRIMARY KEY,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dept_name VARCHAR(50)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is the Parent 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68796" y="17830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1783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68796" y="2212848"/>
            <a:ext cx="5271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Foreign Key that points back to the parent.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68796" y="2788920"/>
            <a:ext cx="5271516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9964" y="2926080"/>
            <a:ext cx="48691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INT PRIMARY KEY,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8796" y="425196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is the Child Table.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Child Tables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Foreign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refers to the Primary Key of another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0F7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is a column in one table that refers to the Primary Key of another table. It creates a relationship between the two tables.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749040"/>
            <a:ext cx="5998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KEY(column_name)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parent_table(parent_column)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table, child table, and a valid insert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4992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 PRIMARY KEY,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dept_name VARCHAR(50)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Department VALUES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(1,'IT'),(2,'HR'),(3,'Finance');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19088" y="1874520"/>
            <a:ext cx="4992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INT PRIMARY KEY,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KEY(dept_id)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Department(dept_id)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insert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4160520"/>
            <a:ext cx="10661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VALUES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(101,'Rahul',50000,1),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(102,'Priya',45000,2),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(103,'Hari',70000,1);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Works: department IDs 1 and 2 exist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Key: Valid Insert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reference doesn't exist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insert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286000"/>
            <a:ext cx="6455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VALUES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(104,'Anjali',65000,5);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6858000" cy="1188720"/>
          </a:xfrm>
          <a:prstGeom prst="roundRect">
            <a:avLst>
              <a:gd name="adj" fmla="val 7692"/>
            </a:avLst>
          </a:prstGeom>
          <a:solidFill>
            <a:srgbClr val="3A1414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
</a:t>
            </a:r>
            <a:r>
              <a:rPr lang="en-US" sz="1350" dirty="0">
                <a:solidFill>
                  <a:srgbClr val="F2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5 does not exist in the Department 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1783080"/>
            <a:ext cx="3977640" cy="2788920"/>
          </a:xfrm>
          <a:prstGeom prst="roundRect">
            <a:avLst>
              <a:gd name="adj" fmla="val 3279"/>
            </a:avLst>
          </a:prstGeom>
          <a:solidFill>
            <a:srgbClr val="032E3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4231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prevents invalid references. A Foreign Key value must always exist in the parent table's Primary Key column — this is enforced automatically.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Key: Invalid Insert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REFERENCES Keyword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SQL which parent table and column the Foreign Key points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0F7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tells SQL which parent table and column the Foreign Key points 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383280"/>
            <a:ext cx="50840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KEY(dept_id)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Department(dept_id)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32461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0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246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 </a:t>
            </a: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dept_id in the Employee table must exist in the Department table.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value in the child must match a Primary Key value in the parent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data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2372182" cy="822960"/>
        </p:xfrm>
        <a:graphic>
          <a:graphicData uri="http://schemas.openxmlformats.org/drawingml/2006/table">
            <a:tbl>
              <a:tblPr/>
              <a:tblGrid>
                <a:gridCol w="2372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84398" y="2240280"/>
          <a:ext cx="2635758" cy="822960"/>
        </p:xfrm>
        <a:graphic>
          <a:graphicData uri="http://schemas.openxmlformats.org/drawingml/2006/table">
            <a:tbl>
              <a:tblPr/>
              <a:tblGrid>
                <a:gridCol w="1317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52044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employees reference departments that exist.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data</a:t>
            </a:r>
            <a:endParaRPr lang="en-US" sz="15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8796" y="2240280"/>
          <a:ext cx="5271516" cy="548640"/>
        </p:xfrm>
        <a:graphic>
          <a:graphicData uri="http://schemas.openxmlformats.org/drawingml/2006/table">
            <a:tbl>
              <a:tblPr/>
              <a:tblGrid>
                <a:gridCol w="263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368796" y="2880360"/>
            <a:ext cx="5271516" cy="777240"/>
          </a:xfrm>
          <a:prstGeom prst="roundRect">
            <a:avLst>
              <a:gd name="adj" fmla="val 11765"/>
            </a:avLst>
          </a:prstGeom>
          <a:solidFill>
            <a:srgbClr val="3A1414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97396" y="288036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department 10 does not exist.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2976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32E33"/>
          </a:solidFill>
          <a:ln/>
        </p:spPr>
      </p:sp>
      <p:sp>
        <p:nvSpPr>
          <p:cNvPr id="13" name="Text 8"/>
          <p:cNvSpPr/>
          <p:nvPr/>
        </p:nvSpPr>
        <p:spPr>
          <a:xfrm>
            <a:off x="914400" y="429768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ensures every Foreign Key value in the child table must match a Primary Key value in the parent table.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000" dirty="0"/>
          </a:p>
        </p:txBody>
      </p:sp>
      <p:sp>
        <p:nvSpPr>
          <p:cNvPr id="5" name="Text 1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DELETE CASCADE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child rows when a parent row is deleted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CASCADE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271516" cy="914400"/>
          </a:xfrm>
          <a:prstGeom prst="roundRect">
            <a:avLst>
              <a:gd name="adj" fmla="val 8000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350008"/>
            <a:ext cx="48691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Department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dept_id=1;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271516" cy="777240"/>
          </a:xfrm>
          <a:prstGeom prst="roundRect">
            <a:avLst>
              <a:gd name="adj" fmla="val 11765"/>
            </a:avLst>
          </a:prstGeom>
          <a:solidFill>
            <a:srgbClr val="3A1414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4612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— employees still reference department 1.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CASCADE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8796" y="2212848"/>
            <a:ext cx="5271516" cy="1554480"/>
          </a:xfrm>
          <a:prstGeom prst="roundRect">
            <a:avLst>
              <a:gd name="adj" fmla="val 4706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9964" y="2350008"/>
            <a:ext cx="48691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KEY(dept_id)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Department(dept_id)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68796" y="3886200"/>
            <a:ext cx="5271516" cy="777240"/>
          </a:xfrm>
          <a:prstGeom prst="roundRect">
            <a:avLst>
              <a:gd name="adj" fmla="val 11765"/>
            </a:avLst>
          </a:prstGeom>
          <a:solidFill>
            <a:srgbClr val="F0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388620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deleted — all its employees are deleted automatically.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UPDATE CASCADE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child rows when a parent key value changes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CASCADE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271516" cy="914400"/>
          </a:xfrm>
          <a:prstGeom prst="roundRect">
            <a:avLst>
              <a:gd name="adj" fmla="val 8000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350008"/>
            <a:ext cx="48691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Department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dept_id=10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dept_id=1;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271516" cy="777240"/>
          </a:xfrm>
          <a:prstGeom prst="roundRect">
            <a:avLst>
              <a:gd name="adj" fmla="val 11765"/>
            </a:avLst>
          </a:prstGeom>
          <a:solidFill>
            <a:srgbClr val="3A1414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9184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 becomes invalid, or the update is rejected.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CASCADE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8796" y="2212848"/>
            <a:ext cx="5271516" cy="1554480"/>
          </a:xfrm>
          <a:prstGeom prst="roundRect">
            <a:avLst>
              <a:gd name="adj" fmla="val 4706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9964" y="2350008"/>
            <a:ext cx="48691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KEY(dept_id)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Department(dept_id)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UPDATE CASCADE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68796" y="3886200"/>
            <a:ext cx="5271516" cy="777240"/>
          </a:xfrm>
          <a:prstGeom prst="roundRect">
            <a:avLst>
              <a:gd name="adj" fmla="val 11765"/>
            </a:avLst>
          </a:prstGeom>
          <a:solidFill>
            <a:srgbClr val="F0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388620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updates to 10 in Department, and Employee rows update automatically.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UPDATE CASCADE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vs Foreign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comparison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10896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identifies a row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Refers to the Primary Key of another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duplicate values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values allowed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NULL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NULL (unless restricted)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Primary Key per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Foreign Keys allowed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vs Foreign Key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Activity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parent/child pair and trigger a referential-integrity error on purpose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20240"/>
            <a:ext cx="49926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 PRIMARY KEY,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dept_name VARCHAR(50)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2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19088" y="1920240"/>
            <a:ext cx="499262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INT PRIMARY KEY,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INT,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KEY(dept_id)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Department(dept_id)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377647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 departments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423367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 employees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469087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inserting an employee with a non-existing department ID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514807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error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560527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error occurs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Customer/Orders relationship and prove referential integrity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(Primary Key)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(Primary Key)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6974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(Foreign Key)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370832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valid records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80974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inserting an order with a customer ID that doesn't exist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2669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24865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error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checks students should be able to answer confidently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78308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relationship in a database?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651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256032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1:1, 1:M, and M:N relationships.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333756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Foreign Key?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411480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REFERENCES keyword?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489204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Referential Integrity?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8796" y="178308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5956" y="18745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0595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7164" y="178308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Primary Key vs Foreign Key.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68796" y="256032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5956" y="2651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05956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27164" y="256032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Parent Table?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68796" y="333756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05956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505956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27164" y="333756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Child Table?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68796" y="411480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505956" y="4206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6505956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27164" y="411480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DELETE CASCADE?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68796" y="4892040"/>
            <a:ext cx="5271516" cy="658368"/>
          </a:xfrm>
          <a:prstGeom prst="roundRect">
            <a:avLst>
              <a:gd name="adj" fmla="val 12500"/>
            </a:avLst>
          </a:prstGeom>
          <a:solidFill>
            <a:srgbClr val="F0F7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505956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505956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27164" y="4892040"/>
            <a:ext cx="44485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UPDATE CASCADE?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CLASS SUMMARY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665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65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connect multiple tables.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633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328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uniquely identifies records in the parent table.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98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creates a link between parent and child tables.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667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specifies which table and column the Foreign Key points to.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3342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336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prevents invalid references.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9011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006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deletes related child records automatically.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4681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3675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UPDATE CASCADE updates related child records automatically.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Foreign Keys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1650</Words>
  <Application>Microsoft Office PowerPoint</Application>
  <PresentationFormat>Widescreen</PresentationFormat>
  <Paragraphs>389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 G</cp:lastModifiedBy>
  <cp:revision>2</cp:revision>
  <dcterms:created xsi:type="dcterms:W3CDTF">2026-08-10T03:42:41Z</dcterms:created>
  <dcterms:modified xsi:type="dcterms:W3CDTF">2026-08-10T04:29:24Z</dcterms:modified>
</cp:coreProperties>
</file>