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3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71432" y="1828800"/>
            <a:ext cx="1737360" cy="1737360"/>
          </a:xfrm>
          <a:prstGeom prst="ellipse">
            <a:avLst/>
          </a:prstGeom>
          <a:ln w="76200">
            <a:solidFill>
              <a:srgbClr val="00A8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88752" y="3246120"/>
            <a:ext cx="822960" cy="822960"/>
          </a:xfrm>
          <a:prstGeom prst="line">
            <a:avLst/>
          </a:prstGeom>
          <a:noFill/>
          <a:ln w="12700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91472" y="2148840"/>
            <a:ext cx="1097280" cy="1097280"/>
          </a:xfrm>
          <a:prstGeom prst="ellipse">
            <a:avLst/>
          </a:prstGeom>
          <a:solidFill>
            <a:srgbClr val="0B4A52"/>
          </a:solidFill>
          <a:ln/>
        </p:spPr>
      </p:sp>
      <p:sp>
        <p:nvSpPr>
          <p:cNvPr id="5" name="Text 3"/>
          <p:cNvSpPr/>
          <p:nvPr/>
        </p:nvSpPr>
        <p:spPr>
          <a:xfrm>
            <a:off x="9491472" y="214884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FILTERING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Filtering in SQL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731520" y="32918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FD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LIKE, wildcards, BETWEEN, IN, NULL checks, and aliases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4023360"/>
            <a:ext cx="2377440" cy="502920"/>
          </a:xfrm>
          <a:prstGeom prst="roundRect">
            <a:avLst>
              <a:gd name="adj" fmla="val 50909"/>
            </a:avLst>
          </a:prstGeom>
          <a:solidFill>
            <a:srgbClr val="0B4A52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40233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 2 Hours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class, students will be able to: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1801368"/>
            <a:ext cx="45857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LIKE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368796" y="18288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6368796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008876" y="1801368"/>
            <a:ext cx="45857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Wildcards (% and _)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27432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88720" y="2715768"/>
            <a:ext cx="45857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BETWEEN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368796" y="27432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6368796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008876" y="2715768"/>
            <a:ext cx="45857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IN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36576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657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88720" y="3630168"/>
            <a:ext cx="45857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NOT IN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368796" y="36576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6368796" y="3657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008876" y="3630168"/>
            <a:ext cx="45857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IS NULL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48640" y="45720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4572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88720" y="4544568"/>
            <a:ext cx="45857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IS NOT NULL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368796" y="45720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6368796" y="4572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008876" y="4544568"/>
            <a:ext cx="45857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Aliases (AS)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Filtering in SQL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Recap: Grouping &amp; Limiting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minutes · Quick-fire questions to open the class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091672" cy="713232"/>
          </a:xfrm>
          <a:prstGeom prst="roundRect">
            <a:avLst>
              <a:gd name="adj" fmla="val 12821"/>
            </a:avLst>
          </a:prstGeom>
          <a:solidFill>
            <a:srgbClr val="F0F7F6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029968"/>
            <a:ext cx="493776" cy="49377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29968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08760" y="1920240"/>
            <a:ext cx="97200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GROUP BY?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788920"/>
            <a:ext cx="11091672" cy="713232"/>
          </a:xfrm>
          <a:prstGeom prst="roundRect">
            <a:avLst>
              <a:gd name="adj" fmla="val 12821"/>
            </a:avLst>
          </a:prstGeom>
          <a:solidFill>
            <a:srgbClr val="F0F7F6"/>
          </a:solidFill>
          <a:ln/>
        </p:spPr>
      </p:sp>
      <p:sp>
        <p:nvSpPr>
          <p:cNvPr id="9" name="Shape 7"/>
          <p:cNvSpPr/>
          <p:nvPr/>
        </p:nvSpPr>
        <p:spPr>
          <a:xfrm>
            <a:off x="777240" y="2898648"/>
            <a:ext cx="493776" cy="49377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898648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508760" y="2788920"/>
            <a:ext cx="97200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 between WHERE and HAVING?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11091672" cy="713232"/>
          </a:xfrm>
          <a:prstGeom prst="roundRect">
            <a:avLst>
              <a:gd name="adj" fmla="val 12821"/>
            </a:avLst>
          </a:prstGeom>
          <a:solidFill>
            <a:srgbClr val="F0F7F6"/>
          </a:solidFill>
          <a:ln/>
        </p:spPr>
      </p:sp>
      <p:sp>
        <p:nvSpPr>
          <p:cNvPr id="13" name="Shape 11"/>
          <p:cNvSpPr/>
          <p:nvPr/>
        </p:nvSpPr>
        <p:spPr>
          <a:xfrm>
            <a:off x="777240" y="3767328"/>
            <a:ext cx="493776" cy="49377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767328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508760" y="3657600"/>
            <a:ext cx="97200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LIMIT?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526280"/>
            <a:ext cx="11091672" cy="713232"/>
          </a:xfrm>
          <a:prstGeom prst="roundRect">
            <a:avLst>
              <a:gd name="adj" fmla="val 12821"/>
            </a:avLst>
          </a:prstGeom>
          <a:solidFill>
            <a:srgbClr val="F0F7F6"/>
          </a:solidFill>
          <a:ln/>
        </p:spPr>
      </p:sp>
      <p:sp>
        <p:nvSpPr>
          <p:cNvPr id="17" name="Shape 15"/>
          <p:cNvSpPr/>
          <p:nvPr/>
        </p:nvSpPr>
        <p:spPr>
          <a:xfrm>
            <a:off x="777240" y="4636008"/>
            <a:ext cx="493776" cy="49377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636008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508760" y="4526280"/>
            <a:ext cx="97200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DISTINCT?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Filtering in SQL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Table: Employee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table drives every example in today's class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120640" cy="2377440"/>
          </a:xfrm>
          <a:prstGeom prst="roundRect">
            <a:avLst>
              <a:gd name="adj" fmla="val 3077"/>
            </a:avLst>
          </a:prstGeom>
          <a:solidFill>
            <a:srgbClr val="0B2A2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883664"/>
            <a:ext cx="4663440" cy="2084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Employee(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 INT PRIMARY KEY,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 VARCHAR(50),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age INT,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department VARCHAR(30),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salary DECIMAL(10,2),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city VARCHAR(30)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343400"/>
          <a:ext cx="11064240" cy="1965960"/>
        </p:xfrm>
        <a:graphic>
          <a:graphicData uri="http://schemas.openxmlformats.org/drawingml/2006/table">
            <a:tbl>
              <a:tblPr/>
              <a:tblGrid>
                <a:gridCol w="1844040"/>
                <a:gridCol w="1844040"/>
                <a:gridCol w="1844040"/>
                <a:gridCol w="1844040"/>
                <a:gridCol w="1844040"/>
                <a:gridCol w="1844040"/>
              </a:tblGrid>
              <a:tr h="28085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salary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28085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Rahul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Hyderabad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Priya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Bangalore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Hyderabad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Anjali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Chennai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Kiran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Mumbai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Ramesh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i="1" dirty="0">
                          <a:solidFill>
                            <a:srgbClr val="B5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943600" y="1737360"/>
            <a:ext cx="5669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Ramesh's city is NULL — it powers the IS NULL examples later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Table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Filtering in SQL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LIKE Operator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for a specific pattern in a string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83080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11091672" cy="914400"/>
          </a:xfrm>
          <a:prstGeom prst="roundRect">
            <a:avLst>
              <a:gd name="adj" fmla="val 10000"/>
            </a:avLst>
          </a:prstGeom>
          <a:solidFill>
            <a:srgbClr val="F0F7F6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194560"/>
            <a:ext cx="1045159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is used to search for a specific pattern in a string, using wildcard characters to match partial text.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38328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383280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794760"/>
            <a:ext cx="5486400" cy="1280160"/>
          </a:xfrm>
          <a:prstGeom prst="roundRect">
            <a:avLst>
              <a:gd name="adj" fmla="val 5714"/>
            </a:avLst>
          </a:prstGeom>
          <a:solidFill>
            <a:srgbClr val="0B2A2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3941064"/>
            <a:ext cx="5029200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Employee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name LIKE 'pattern';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0" y="3931920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wildcards make LIKE powerful: % and _ — covered next.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Operator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Filtering in SQL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Wildcard %: Zero or More Characters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queries against the Employee table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3172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with R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212848"/>
            <a:ext cx="5317236" cy="777240"/>
          </a:xfrm>
          <a:prstGeom prst="roundRect">
            <a:avLst>
              <a:gd name="adj" fmla="val 9412"/>
            </a:avLst>
          </a:prstGeom>
          <a:solidFill>
            <a:srgbClr val="0B2A2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359152"/>
            <a:ext cx="4860036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name LIKE 'R%';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3063240"/>
            <a:ext cx="53172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 </a:t>
            </a:r>
            <a:pPr indent="0" marL="0">
              <a:buNone/>
            </a:pPr>
            <a:r>
              <a:rPr lang="en-US" sz="1300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Rahul, Ramesh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323076" y="1828800"/>
            <a:ext cx="53172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Ends with i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323076" y="2212848"/>
            <a:ext cx="5317236" cy="777240"/>
          </a:xfrm>
          <a:prstGeom prst="roundRect">
            <a:avLst>
              <a:gd name="adj" fmla="val 9412"/>
            </a:avLst>
          </a:prstGeom>
          <a:solidFill>
            <a:srgbClr val="0B2A2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51676" y="2359152"/>
            <a:ext cx="4860036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name LIKE '%i';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323076" y="3063240"/>
            <a:ext cx="53172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 </a:t>
            </a:r>
            <a:pPr indent="0" marL="0">
              <a:buNone/>
            </a:pPr>
            <a:r>
              <a:rPr lang="en-US" sz="1300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Hari, Priya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3794760"/>
            <a:ext cx="53172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 "an"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4178808"/>
            <a:ext cx="5317236" cy="777240"/>
          </a:xfrm>
          <a:prstGeom prst="roundRect">
            <a:avLst>
              <a:gd name="adj" fmla="val 9412"/>
            </a:avLst>
          </a:prstGeom>
          <a:solidFill>
            <a:srgbClr val="0B2A2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" y="4325112"/>
            <a:ext cx="4860036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name LIKE '%an%';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5029200"/>
            <a:ext cx="53172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 </a:t>
            </a:r>
            <a:pPr indent="0" marL="0">
              <a:buNone/>
            </a:pPr>
            <a:r>
              <a:rPr lang="en-US" sz="1300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Anjali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23076" y="3794760"/>
            <a:ext cx="53172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H, ends i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323076" y="4178808"/>
            <a:ext cx="5317236" cy="777240"/>
          </a:xfrm>
          <a:prstGeom prst="roundRect">
            <a:avLst>
              <a:gd name="adj" fmla="val 9412"/>
            </a:avLst>
          </a:prstGeom>
          <a:solidFill>
            <a:srgbClr val="0B2A2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551676" y="4325112"/>
            <a:ext cx="4860036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name LIKE 'H%i';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23076" y="5029200"/>
            <a:ext cx="53172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 </a:t>
            </a:r>
            <a:pPr indent="0" marL="0">
              <a:buNone/>
            </a:pPr>
            <a:r>
              <a:rPr lang="en-US" sz="1300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Wildcard %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Filtering in SQL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Wildcard _: Exactly One Character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queries and the % vs _ comparison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2715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letter is 'a'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212848"/>
            <a:ext cx="5271516" cy="777240"/>
          </a:xfrm>
          <a:prstGeom prst="roundRect">
            <a:avLst>
              <a:gd name="adj" fmla="val 9412"/>
            </a:avLst>
          </a:prstGeom>
          <a:solidFill>
            <a:srgbClr val="0B2A2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359152"/>
            <a:ext cx="4814316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name LIKE '_a%';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3063240"/>
            <a:ext cx="52715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Matches:  </a:t>
            </a:r>
            <a:pPr indent="0" marL="0">
              <a:buNone/>
            </a:pPr>
            <a:r>
              <a:rPr lang="en-US" sz="1300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Rahul, Hari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566160"/>
            <a:ext cx="52715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five characters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3950208"/>
            <a:ext cx="5271516" cy="777240"/>
          </a:xfrm>
          <a:prstGeom prst="roundRect">
            <a:avLst>
              <a:gd name="adj" fmla="val 9412"/>
            </a:avLst>
          </a:prstGeom>
          <a:solidFill>
            <a:srgbClr val="0B2A2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7240" y="4096512"/>
            <a:ext cx="4814316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name LIKE '_____';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4800600"/>
            <a:ext cx="52715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Matches:  </a:t>
            </a:r>
            <a:pPr indent="0" marL="0">
              <a:buNone/>
            </a:pPr>
            <a:r>
              <a:rPr lang="en-US" sz="1300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with exactly 5 letters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368796" y="1828800"/>
            <a:ext cx="52715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vs _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68796" y="2240280"/>
          <a:ext cx="5271516" cy="1188720"/>
        </p:xfrm>
        <a:graphic>
          <a:graphicData uri="http://schemas.openxmlformats.org/drawingml/2006/table">
            <a:tbl>
              <a:tblPr/>
              <a:tblGrid>
                <a:gridCol w="2635758"/>
                <a:gridCol w="2635758"/>
              </a:tblGrid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96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 or more characters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Exactly one character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Wildcard _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Filtering in SQL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BETWEEN Operator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values within a range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37360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11091672" cy="685800"/>
          </a:xfrm>
          <a:prstGeom prst="roundRect">
            <a:avLst>
              <a:gd name="adj" fmla="val 13333"/>
            </a:avLst>
          </a:prstGeom>
          <a:solidFill>
            <a:srgbClr val="F0F7F6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148840"/>
            <a:ext cx="104515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selects all values that fall within a given range, inclusive of both endpoints.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548640" y="3017520"/>
            <a:ext cx="33924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Range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401568"/>
            <a:ext cx="3392424" cy="1828800"/>
          </a:xfrm>
          <a:prstGeom prst="roundRect">
            <a:avLst>
              <a:gd name="adj" fmla="val 4000"/>
            </a:avLst>
          </a:prstGeom>
          <a:solidFill>
            <a:srgbClr val="0B2A2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7240" y="3547872"/>
            <a:ext cx="2935224" cy="1536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Employee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salary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BETWEEN 50000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 70000;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398264" y="3017520"/>
            <a:ext cx="33924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Range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98264" y="3401568"/>
            <a:ext cx="3392424" cy="1828800"/>
          </a:xfrm>
          <a:prstGeom prst="roundRect">
            <a:avLst>
              <a:gd name="adj" fmla="val 4000"/>
            </a:avLst>
          </a:prstGeom>
          <a:solidFill>
            <a:srgbClr val="0B2A2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26864" y="3547872"/>
            <a:ext cx="2935224" cy="1536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Employee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age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BETWEEN 22 AND 25;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47888" y="3017520"/>
            <a:ext cx="33924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BETWEEN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247888" y="3401568"/>
            <a:ext cx="3392424" cy="1828800"/>
          </a:xfrm>
          <a:prstGeom prst="roundRect">
            <a:avLst>
              <a:gd name="adj" fmla="val 4000"/>
            </a:avLst>
          </a:prstGeom>
          <a:solidFill>
            <a:srgbClr val="0B2A2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476488" y="3547872"/>
            <a:ext cx="2935224" cy="1536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Employee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salary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NOT BETWEEN 50000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 70000;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Filtering in SQL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 Operator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whether a value exists in a list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writing this: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21408"/>
            <a:ext cx="5120640" cy="1188720"/>
          </a:xfrm>
          <a:prstGeom prst="roundRect">
            <a:avLst>
              <a:gd name="adj" fmla="val 6154"/>
            </a:avLst>
          </a:prstGeom>
          <a:solidFill>
            <a:srgbClr val="0B2A2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267712"/>
            <a:ext cx="466344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department='IT'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 department='HR'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 department='Sales'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035040" y="178308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...write this: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035040" y="2121408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0B2A2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263640" y="2267712"/>
            <a:ext cx="493776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Employee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department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 ('IT','HR','Sales');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35661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3950208"/>
            <a:ext cx="5120640" cy="1051560"/>
          </a:xfrm>
          <a:prstGeom prst="roundRect">
            <a:avLst>
              <a:gd name="adj" fmla="val 6957"/>
            </a:avLst>
          </a:prstGeom>
          <a:solidFill>
            <a:srgbClr val="0B2A2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77240" y="4096512"/>
            <a:ext cx="4663440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Employee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department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NOT IN ('IT','HR');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035040" y="356616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vs OR</a:t>
            </a:r>
            <a:endParaRPr lang="en-US" sz="14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0" y="3950208"/>
          <a:ext cx="5394960" cy="1051560"/>
        </p:xfrm>
        <a:graphic>
          <a:graphicData uri="http://schemas.openxmlformats.org/drawingml/2006/table">
            <a:tbl>
              <a:tblPr/>
              <a:tblGrid>
                <a:gridCol w="2697480"/>
                <a:gridCol w="2697480"/>
              </a:tblGrid>
              <a:tr h="350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96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 and readable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 query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 multiple values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 for 2 conditions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1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Operator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Filtering in SQL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NULL &amp; IS NOT NULL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(and excluding) missing values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2715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NULL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5271516" cy="1051560"/>
          </a:xfrm>
          <a:prstGeom prst="roundRect">
            <a:avLst>
              <a:gd name="adj" fmla="val 6957"/>
            </a:avLst>
          </a:prstGeom>
          <a:solidFill>
            <a:srgbClr val="0B2A2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386584"/>
            <a:ext cx="4814316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Employee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city IS NULL;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48640" y="3401568"/>
            <a:ext cx="52715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 </a:t>
            </a:r>
            <a:pPr indent="0" marL="0">
              <a:buNone/>
            </a:pPr>
            <a:r>
              <a:rPr lang="en-US" sz="1350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Ramesh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368796" y="1828800"/>
            <a:ext cx="52715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NOT NULL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368796" y="2240280"/>
            <a:ext cx="5271516" cy="1051560"/>
          </a:xfrm>
          <a:prstGeom prst="roundRect">
            <a:avLst>
              <a:gd name="adj" fmla="val 6957"/>
            </a:avLst>
          </a:prstGeom>
          <a:solidFill>
            <a:srgbClr val="0B2A2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97396" y="2386584"/>
            <a:ext cx="4814316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Employee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city IS NOT NULL;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368796" y="3401568"/>
            <a:ext cx="52715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every employee except Ramesh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160520"/>
            <a:ext cx="11091672" cy="1463040"/>
          </a:xfrm>
          <a:prstGeom prst="roundRect">
            <a:avLst>
              <a:gd name="adj" fmla="val 6250"/>
            </a:avLst>
          </a:prstGeom>
          <a:solidFill>
            <a:srgbClr val="032E33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343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interview point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36015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2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Wrong:   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2A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city = NULL;
</a:t>
            </a:r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Correct:  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city IS NULL;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NULL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Filtering in SQL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Aliases (AS)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Temporary names for columns and tables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2715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Alias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5271516" cy="1463040"/>
          </a:xfrm>
          <a:prstGeom prst="roundRect">
            <a:avLst>
              <a:gd name="adj" fmla="val 5000"/>
            </a:avLst>
          </a:prstGeom>
          <a:solidFill>
            <a:srgbClr val="0B2A2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386584"/>
            <a:ext cx="4814316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 AS Employee_Name,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salary AS Monthly_Salary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Employee;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3794760"/>
            <a:ext cx="52715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Temporarily changes the column name in the output.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368796" y="1828800"/>
            <a:ext cx="52715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Alias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368796" y="2240280"/>
            <a:ext cx="5271516" cy="1463040"/>
          </a:xfrm>
          <a:prstGeom prst="roundRect">
            <a:avLst>
              <a:gd name="adj" fmla="val 5000"/>
            </a:avLst>
          </a:prstGeom>
          <a:solidFill>
            <a:srgbClr val="0B2A2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97396" y="2386584"/>
            <a:ext cx="4814316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e.name,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e.salary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Employee e;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368796" y="3794760"/>
            <a:ext cx="527151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is a short name for the Employee table — especially useful when writing JOIN queries.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709160"/>
            <a:ext cx="11091672" cy="914400"/>
          </a:xfrm>
          <a:prstGeom prst="roundRect">
            <a:avLst>
              <a:gd name="adj" fmla="val 10000"/>
            </a:avLst>
          </a:prstGeom>
          <a:solidFill>
            <a:srgbClr val="F0F7F6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709160"/>
            <a:ext cx="103601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Remember:  </a:t>
            </a:r>
            <a:pPr indent="0" marL="0">
              <a:buNone/>
            </a:pPr>
            <a:r>
              <a:rPr lang="en-US" sz="1500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aliases only change the name in the query result — never in the database itself.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Aliases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Filtering in SQL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Questions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through these individually, then review as a class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745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15568" y="1847088"/>
            <a:ext cx="467715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employees whose names start with 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651760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6517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15568" y="2624328"/>
            <a:ext cx="467715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employees whose names end with i.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429000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42900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15568" y="3401568"/>
            <a:ext cx="467715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employees whose names contain "an".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206240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20624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15568" y="4178808"/>
            <a:ext cx="467715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employees whose salary is between ₹50,000 and ₹70,000.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983480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98348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15568" y="4956048"/>
            <a:ext cx="467715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employees whose age is between 22 and 26.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68796" y="1874520"/>
            <a:ext cx="402336" cy="40233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0" name="Text 18"/>
          <p:cNvSpPr/>
          <p:nvPr/>
        </p:nvSpPr>
        <p:spPr>
          <a:xfrm>
            <a:off x="6368796" y="18745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935724" y="1847088"/>
            <a:ext cx="467715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employees working in IT or HR.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368796" y="2651760"/>
            <a:ext cx="402336" cy="40233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3" name="Text 21"/>
          <p:cNvSpPr/>
          <p:nvPr/>
        </p:nvSpPr>
        <p:spPr>
          <a:xfrm>
            <a:off x="6368796" y="26517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935724" y="2624328"/>
            <a:ext cx="467715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employees not working in Finance.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368796" y="3429000"/>
            <a:ext cx="402336" cy="40233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6" name="Text 24"/>
          <p:cNvSpPr/>
          <p:nvPr/>
        </p:nvSpPr>
        <p:spPr>
          <a:xfrm>
            <a:off x="6368796" y="342900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935724" y="3401568"/>
            <a:ext cx="467715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employees whose city is NULL.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368796" y="4206240"/>
            <a:ext cx="402336" cy="40233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9" name="Text 27"/>
          <p:cNvSpPr/>
          <p:nvPr/>
        </p:nvSpPr>
        <p:spPr>
          <a:xfrm>
            <a:off x="6368796" y="420624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935724" y="4178808"/>
            <a:ext cx="467715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employees whose city is NOT NULL.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368796" y="4983480"/>
            <a:ext cx="402336" cy="40233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2" name="Text 30"/>
          <p:cNvSpPr/>
          <p:nvPr/>
        </p:nvSpPr>
        <p:spPr>
          <a:xfrm>
            <a:off x="6368796" y="498348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935724" y="4956048"/>
            <a:ext cx="467715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employee names and salaries using aliases.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Questions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Filtering in SQL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Classroom Activity: Student Table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new table and apply every clause from today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4937760" cy="1920240"/>
          </a:xfrm>
          <a:prstGeom prst="roundRect">
            <a:avLst>
              <a:gd name="adj" fmla="val 3810"/>
            </a:avLst>
          </a:prstGeom>
          <a:solidFill>
            <a:srgbClr val="0B2A2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929384"/>
            <a:ext cx="4480560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Student(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 INT PRIMARY KEY,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 VARCHAR(50),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branch VARCHAR(30),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marks DECIMAL(5,2),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city VARCHAR(30)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Insert 10 records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760720" y="1783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queries using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760720" y="2194560"/>
            <a:ext cx="1691640" cy="502920"/>
          </a:xfrm>
          <a:prstGeom prst="roundRect">
            <a:avLst>
              <a:gd name="adj" fmla="val 49091"/>
            </a:avLst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5760720" y="21945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LIKE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616952" y="2194560"/>
            <a:ext cx="1691640" cy="502920"/>
          </a:xfrm>
          <a:prstGeom prst="roundRect">
            <a:avLst>
              <a:gd name="adj" fmla="val 49091"/>
            </a:avLst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7616952" y="21945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473184" y="2194560"/>
            <a:ext cx="1691640" cy="502920"/>
          </a:xfrm>
          <a:prstGeom prst="roundRect">
            <a:avLst>
              <a:gd name="adj" fmla="val 49091"/>
            </a:avLst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9473184" y="21945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 (one char)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760720" y="2862072"/>
            <a:ext cx="1691640" cy="502920"/>
          </a:xfrm>
          <a:prstGeom prst="roundRect">
            <a:avLst>
              <a:gd name="adj" fmla="val 49091"/>
            </a:avLst>
          </a:prstGeom>
          <a:solidFill>
            <a:srgbClr val="00A896"/>
          </a:solidFill>
          <a:ln/>
        </p:spPr>
      </p:sp>
      <p:sp>
        <p:nvSpPr>
          <p:cNvPr id="14" name="Text 12"/>
          <p:cNvSpPr/>
          <p:nvPr/>
        </p:nvSpPr>
        <p:spPr>
          <a:xfrm>
            <a:off x="5760720" y="2862072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BETWEEN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616952" y="2862072"/>
            <a:ext cx="1691640" cy="502920"/>
          </a:xfrm>
          <a:prstGeom prst="roundRect">
            <a:avLst>
              <a:gd name="adj" fmla="val 49091"/>
            </a:avLst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7616952" y="2862072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473184" y="2862072"/>
            <a:ext cx="1691640" cy="502920"/>
          </a:xfrm>
          <a:prstGeom prst="roundRect">
            <a:avLst>
              <a:gd name="adj" fmla="val 49091"/>
            </a:avLst>
          </a:prstGeom>
          <a:solidFill>
            <a:srgbClr val="00A896"/>
          </a:solidFill>
          <a:ln/>
        </p:spPr>
      </p:sp>
      <p:sp>
        <p:nvSpPr>
          <p:cNvPr id="18" name="Text 16"/>
          <p:cNvSpPr/>
          <p:nvPr/>
        </p:nvSpPr>
        <p:spPr>
          <a:xfrm>
            <a:off x="9473184" y="2862072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IN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760720" y="3529584"/>
            <a:ext cx="1691640" cy="502920"/>
          </a:xfrm>
          <a:prstGeom prst="roundRect">
            <a:avLst>
              <a:gd name="adj" fmla="val 49091"/>
            </a:avLst>
          </a:prstGeom>
          <a:solidFill>
            <a:srgbClr val="00A896"/>
          </a:solidFill>
          <a:ln/>
        </p:spPr>
      </p:sp>
      <p:sp>
        <p:nvSpPr>
          <p:cNvPr id="20" name="Text 18"/>
          <p:cNvSpPr/>
          <p:nvPr/>
        </p:nvSpPr>
        <p:spPr>
          <a:xfrm>
            <a:off x="5760720" y="3529584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 NULL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616952" y="3529584"/>
            <a:ext cx="1691640" cy="502920"/>
          </a:xfrm>
          <a:prstGeom prst="roundRect">
            <a:avLst>
              <a:gd name="adj" fmla="val 49091"/>
            </a:avLst>
          </a:prstGeom>
          <a:solidFill>
            <a:srgbClr val="00A896"/>
          </a:solidFill>
          <a:ln/>
        </p:spPr>
      </p:sp>
      <p:sp>
        <p:nvSpPr>
          <p:cNvPr id="22" name="Text 20"/>
          <p:cNvSpPr/>
          <p:nvPr/>
        </p:nvSpPr>
        <p:spPr>
          <a:xfrm>
            <a:off x="7616952" y="3529584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 NOT NULL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473184" y="3529584"/>
            <a:ext cx="1691640" cy="502920"/>
          </a:xfrm>
          <a:prstGeom prst="roundRect">
            <a:avLst>
              <a:gd name="adj" fmla="val 49091"/>
            </a:avLst>
          </a:prstGeom>
          <a:solidFill>
            <a:srgbClr val="00A896"/>
          </a:solidFill>
          <a:ln/>
        </p:spPr>
      </p:sp>
      <p:sp>
        <p:nvSpPr>
          <p:cNvPr id="24" name="Text 22"/>
          <p:cNvSpPr/>
          <p:nvPr/>
        </p:nvSpPr>
        <p:spPr>
          <a:xfrm>
            <a:off x="9473184" y="3529584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Classroom Activity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Filtering in SQL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Homework: Customer Table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Customer table, insert 10 records, and write queries to: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091672" cy="621792"/>
          </a:xfrm>
          <a:prstGeom prst="roundRect">
            <a:avLst>
              <a:gd name="adj" fmla="val 13235"/>
            </a:avLst>
          </a:prstGeom>
          <a:solidFill>
            <a:srgbClr val="F0F7F6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2002536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0025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17320" y="1920240"/>
            <a:ext cx="99943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customers whose names start with A.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2633472"/>
            <a:ext cx="11091672" cy="621792"/>
          </a:xfrm>
          <a:prstGeom prst="roundRect">
            <a:avLst>
              <a:gd name="adj" fmla="val 13235"/>
            </a:avLst>
          </a:prstGeom>
          <a:solidFill>
            <a:srgbClr val="F0F7F6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271576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7157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417320" y="2633472"/>
            <a:ext cx="99943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customers whose city ends with i.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3346704"/>
            <a:ext cx="11091672" cy="621792"/>
          </a:xfrm>
          <a:prstGeom prst="roundRect">
            <a:avLst>
              <a:gd name="adj" fmla="val 13235"/>
            </a:avLst>
          </a:prstGeom>
          <a:solidFill>
            <a:srgbClr val="F0F7F6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0" y="34290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429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17320" y="3346704"/>
            <a:ext cx="99943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customers aged between 20 and 30.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4059936"/>
            <a:ext cx="11091672" cy="621792"/>
          </a:xfrm>
          <a:prstGeom prst="roundRect">
            <a:avLst>
              <a:gd name="adj" fmla="val 13235"/>
            </a:avLst>
          </a:prstGeom>
          <a:solidFill>
            <a:srgbClr val="F0F7F6"/>
          </a:solidFill>
          <a:ln/>
        </p:spPr>
      </p:sp>
      <p:sp>
        <p:nvSpPr>
          <p:cNvPr id="17" name="Shape 15"/>
          <p:cNvSpPr/>
          <p:nvPr/>
        </p:nvSpPr>
        <p:spPr>
          <a:xfrm>
            <a:off x="731520" y="4142232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1422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417320" y="4059936"/>
            <a:ext cx="99943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customers from Hyderabad, Chennai, or Bangalore using IN.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48640" y="4773168"/>
            <a:ext cx="11091672" cy="621792"/>
          </a:xfrm>
          <a:prstGeom prst="roundRect">
            <a:avLst>
              <a:gd name="adj" fmla="val 13235"/>
            </a:avLst>
          </a:prstGeom>
          <a:solidFill>
            <a:srgbClr val="F0F7F6"/>
          </a:solidFill>
          <a:ln/>
        </p:spPr>
      </p:sp>
      <p:sp>
        <p:nvSpPr>
          <p:cNvPr id="21" name="Shape 19"/>
          <p:cNvSpPr/>
          <p:nvPr/>
        </p:nvSpPr>
        <p:spPr>
          <a:xfrm>
            <a:off x="731520" y="4855464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48554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417320" y="4773168"/>
            <a:ext cx="99943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customers whose phone number is NULL.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548640" y="5486400"/>
            <a:ext cx="11091672" cy="621792"/>
          </a:xfrm>
          <a:prstGeom prst="roundRect">
            <a:avLst>
              <a:gd name="adj" fmla="val 13235"/>
            </a:avLst>
          </a:prstGeom>
          <a:solidFill>
            <a:srgbClr val="F0F7F6"/>
          </a:solidFill>
          <a:ln/>
        </p:spPr>
      </p:sp>
      <p:sp>
        <p:nvSpPr>
          <p:cNvPr id="25" name="Shape 23"/>
          <p:cNvSpPr/>
          <p:nvPr/>
        </p:nvSpPr>
        <p:spPr>
          <a:xfrm>
            <a:off x="731520" y="5568696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55686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417320" y="5486400"/>
            <a:ext cx="99943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customer names using aliases.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Filtering in SQL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Interview Questions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checks students should be able to answer confidently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271516" cy="822960"/>
          </a:xfrm>
          <a:prstGeom prst="roundRect">
            <a:avLst>
              <a:gd name="adj" fmla="val 11111"/>
            </a:avLst>
          </a:prstGeom>
          <a:solidFill>
            <a:srgbClr val="F0F7F6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210312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1920240"/>
            <a:ext cx="426567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LIKE operator?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880360"/>
            <a:ext cx="5271516" cy="822960"/>
          </a:xfrm>
          <a:prstGeom prst="roundRect">
            <a:avLst>
              <a:gd name="adj" fmla="val 11111"/>
            </a:avLst>
          </a:prstGeom>
          <a:solidFill>
            <a:srgbClr val="F0F7F6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306324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063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2880360"/>
            <a:ext cx="426567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 between % and _.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840480"/>
            <a:ext cx="5271516" cy="822960"/>
          </a:xfrm>
          <a:prstGeom prst="roundRect">
            <a:avLst>
              <a:gd name="adj" fmla="val 11111"/>
            </a:avLst>
          </a:prstGeom>
          <a:solidFill>
            <a:srgbClr val="F0F7F6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0" y="402336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3840480"/>
            <a:ext cx="426567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BETWEEN?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800600"/>
            <a:ext cx="5271516" cy="822960"/>
          </a:xfrm>
          <a:prstGeom prst="roundRect">
            <a:avLst>
              <a:gd name="adj" fmla="val 11111"/>
            </a:avLst>
          </a:prstGeom>
          <a:solidFill>
            <a:srgbClr val="F0F7F6"/>
          </a:solidFill>
          <a:ln/>
        </p:spPr>
      </p:sp>
      <p:sp>
        <p:nvSpPr>
          <p:cNvPr id="17" name="Shape 15"/>
          <p:cNvSpPr/>
          <p:nvPr/>
        </p:nvSpPr>
        <p:spPr>
          <a:xfrm>
            <a:off x="731520" y="498348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983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71600" y="4800600"/>
            <a:ext cx="426567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 between IN and OR.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368796" y="1920240"/>
            <a:ext cx="5271516" cy="822960"/>
          </a:xfrm>
          <a:prstGeom prst="roundRect">
            <a:avLst>
              <a:gd name="adj" fmla="val 11111"/>
            </a:avLst>
          </a:prstGeom>
          <a:solidFill>
            <a:srgbClr val="F0F7F6"/>
          </a:solidFill>
          <a:ln/>
        </p:spPr>
      </p:sp>
      <p:sp>
        <p:nvSpPr>
          <p:cNvPr id="21" name="Shape 19"/>
          <p:cNvSpPr/>
          <p:nvPr/>
        </p:nvSpPr>
        <p:spPr>
          <a:xfrm>
            <a:off x="6551676" y="210312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6551676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191756" y="1920240"/>
            <a:ext cx="426567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we use IS NULL instead of = NULL?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368796" y="2880360"/>
            <a:ext cx="5271516" cy="822960"/>
          </a:xfrm>
          <a:prstGeom prst="roundRect">
            <a:avLst>
              <a:gd name="adj" fmla="val 11111"/>
            </a:avLst>
          </a:prstGeom>
          <a:solidFill>
            <a:srgbClr val="F0F7F6"/>
          </a:solidFill>
          <a:ln/>
        </p:spPr>
      </p:sp>
      <p:sp>
        <p:nvSpPr>
          <p:cNvPr id="25" name="Shape 23"/>
          <p:cNvSpPr/>
          <p:nvPr/>
        </p:nvSpPr>
        <p:spPr>
          <a:xfrm>
            <a:off x="6551676" y="306324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6551676" y="3063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191756" y="2880360"/>
            <a:ext cx="426567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an Alias?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368796" y="3840480"/>
            <a:ext cx="5271516" cy="822960"/>
          </a:xfrm>
          <a:prstGeom prst="roundRect">
            <a:avLst>
              <a:gd name="adj" fmla="val 11111"/>
            </a:avLst>
          </a:prstGeom>
          <a:solidFill>
            <a:srgbClr val="F0F7F6"/>
          </a:solidFill>
          <a:ln/>
        </p:spPr>
      </p:sp>
      <p:sp>
        <p:nvSpPr>
          <p:cNvPr id="29" name="Shape 27"/>
          <p:cNvSpPr/>
          <p:nvPr/>
        </p:nvSpPr>
        <p:spPr>
          <a:xfrm>
            <a:off x="6551676" y="402336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0" name="Text 28"/>
          <p:cNvSpPr/>
          <p:nvPr/>
        </p:nvSpPr>
        <p:spPr>
          <a:xfrm>
            <a:off x="6551676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191756" y="3840480"/>
            <a:ext cx="426567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 between Column Alias and Table Alias.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368796" y="4800600"/>
            <a:ext cx="5271516" cy="822960"/>
          </a:xfrm>
          <a:prstGeom prst="roundRect">
            <a:avLst>
              <a:gd name="adj" fmla="val 11111"/>
            </a:avLst>
          </a:prstGeom>
          <a:solidFill>
            <a:srgbClr val="F0F7F6"/>
          </a:solidFill>
          <a:ln/>
        </p:spPr>
      </p:sp>
      <p:sp>
        <p:nvSpPr>
          <p:cNvPr id="33" name="Shape 31"/>
          <p:cNvSpPr/>
          <p:nvPr/>
        </p:nvSpPr>
        <p:spPr>
          <a:xfrm>
            <a:off x="6551676" y="498348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4" name="Text 32"/>
          <p:cNvSpPr/>
          <p:nvPr/>
        </p:nvSpPr>
        <p:spPr>
          <a:xfrm>
            <a:off x="6551676" y="4983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191756" y="4800600"/>
            <a:ext cx="426567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aliases permanently rename a column?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548640" y="5806440"/>
            <a:ext cx="11091672" cy="594360"/>
          </a:xfrm>
          <a:prstGeom prst="roundRect">
            <a:avLst>
              <a:gd name="adj" fmla="val 15385"/>
            </a:avLst>
          </a:prstGeom>
          <a:solidFill>
            <a:srgbClr val="032E33"/>
          </a:solidFill>
          <a:ln/>
        </p:spPr>
      </p:sp>
      <p:sp>
        <p:nvSpPr>
          <p:cNvPr id="37" name="Text 35"/>
          <p:cNvSpPr/>
          <p:nvPr/>
        </p:nvSpPr>
        <p:spPr>
          <a:xfrm>
            <a:off x="914400" y="5806440"/>
            <a:ext cx="103601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to the last question:  </a:t>
            </a:r>
            <a:pPr indent="0" marL="0">
              <a:buNone/>
            </a:pPr>
            <a:r>
              <a:rPr lang="en-US" sz="1250" dirty="0">
                <a:solidFill>
                  <a:srgbClr val="D7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Aliases only change the column or table name in the query result, not in the database.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Questions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Filtering in SQL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3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TOOLKIT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Filtering Data Like a Pro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FD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new tools for narrowing down exactly the rows you need.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928116" y="2743200"/>
            <a:ext cx="2377440" cy="685800"/>
          </a:xfrm>
          <a:prstGeom prst="roundRect">
            <a:avLst>
              <a:gd name="adj" fmla="val 13333"/>
            </a:avLst>
          </a:prstGeom>
          <a:solidFill>
            <a:srgbClr val="0B4A52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28116" y="274320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LIKE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579876" y="2743200"/>
            <a:ext cx="2377440" cy="685800"/>
          </a:xfrm>
          <a:prstGeom prst="roundRect">
            <a:avLst>
              <a:gd name="adj" fmla="val 13333"/>
            </a:avLst>
          </a:prstGeom>
          <a:solidFill>
            <a:srgbClr val="0B4A52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79876" y="274320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wildcard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31636" y="2743200"/>
            <a:ext cx="2377440" cy="685800"/>
          </a:xfrm>
          <a:prstGeom prst="roundRect">
            <a:avLst>
              <a:gd name="adj" fmla="val 13333"/>
            </a:avLst>
          </a:prstGeom>
          <a:solidFill>
            <a:srgbClr val="0B4A52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31636" y="274320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 wildcard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883396" y="2743200"/>
            <a:ext cx="2377440" cy="685800"/>
          </a:xfrm>
          <a:prstGeom prst="roundRect">
            <a:avLst>
              <a:gd name="adj" fmla="val 13333"/>
            </a:avLst>
          </a:prstGeom>
          <a:solidFill>
            <a:srgbClr val="0B4A52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83396" y="274320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BETWEEN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28116" y="3703320"/>
            <a:ext cx="2377440" cy="685800"/>
          </a:xfrm>
          <a:prstGeom prst="roundRect">
            <a:avLst>
              <a:gd name="adj" fmla="val 13333"/>
            </a:avLst>
          </a:prstGeom>
          <a:solidFill>
            <a:srgbClr val="0B4A52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8116" y="370332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579876" y="3703320"/>
            <a:ext cx="2377440" cy="685800"/>
          </a:xfrm>
          <a:prstGeom prst="roundRect">
            <a:avLst>
              <a:gd name="adj" fmla="val 13333"/>
            </a:avLst>
          </a:prstGeom>
          <a:solidFill>
            <a:srgbClr val="0B4A52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79876" y="370332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IN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231636" y="3703320"/>
            <a:ext cx="2377440" cy="685800"/>
          </a:xfrm>
          <a:prstGeom prst="roundRect">
            <a:avLst>
              <a:gd name="adj" fmla="val 13333"/>
            </a:avLst>
          </a:prstGeom>
          <a:solidFill>
            <a:srgbClr val="0B4A52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31636" y="370332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 NULL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883396" y="3703320"/>
            <a:ext cx="2377440" cy="685800"/>
          </a:xfrm>
          <a:prstGeom prst="roundRect">
            <a:avLst>
              <a:gd name="adj" fmla="val 13333"/>
            </a:avLst>
          </a:prstGeom>
          <a:solidFill>
            <a:srgbClr val="0B4A52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883396" y="370332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 alias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FA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Complete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A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Filtering in SQL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2026-08-09T13:13:17Z</dcterms:created>
  <dcterms:modified xsi:type="dcterms:W3CDTF">2026-08-09T13:13:17Z</dcterms:modified>
</cp:coreProperties>
</file>