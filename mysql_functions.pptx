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302B"/>
          </a:solidFill>
          <a:ln w="12700">
            <a:solidFill>
              <a:srgbClr val="1630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4389120"/>
            <a:ext cx="2926080" cy="2926080"/>
          </a:xfrm>
          <a:prstGeom prst="ellipse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02C39A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FUNCTIONS IN MySQL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Transformation &amp; NULL Handling for Data Engineering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91440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343400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28800" y="4343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D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Function  →  </a:t>
            </a:r>
            <a:pPr indent="0" marL="0">
              <a:buNone/>
            </a:pPr>
            <a:r>
              <a:rPr lang="en-US" sz="1600" dirty="0">
                <a:solidFill>
                  <a:srgbClr val="9FD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SQL Function?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operation that performs a specific task on data and returns a result.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286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63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'hello'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97480" y="2788920"/>
            <a:ext cx="50292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46120" y="228600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2286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F4EE"/>
                </a:solidFill>
              </a:rPr>
              <a:t>FUNCTION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15000" y="2788920"/>
            <a:ext cx="50292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309360" y="228600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2286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FF9"/>
                </a:solidFill>
              </a:rPr>
              <a:t>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63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'HELLO'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279392"/>
            <a:ext cx="4663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UPPER('hello');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Output: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HELLO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374904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69380" y="40919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9380" y="40919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32320" y="4069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4709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SQL function follows the same shape: it takes an input, applies a rule, and hands back a result. Once students see this pattern, every new function is just a new rule to learn, not a new concept.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SQL Functions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course, group functions into four families.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98424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Functions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manipulation: case, trimming, substrings, concatenation.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65960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0" y="198424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Functions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83464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operations: rounding, absolute value, arithmetic.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389120"/>
            <a:ext cx="6400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91640" y="440740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 Functions  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52578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important in Data Engineering, parsing, formatting, intervals.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1148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389120"/>
            <a:ext cx="640080" cy="640080"/>
          </a:xfrm>
          <a:prstGeom prst="ellipse">
            <a:avLst/>
          </a:prstGeom>
          <a:solidFill>
            <a:srgbClr val="0B6E5A"/>
          </a:solidFill>
          <a:ln w="12700">
            <a:solidFill>
              <a:srgbClr val="0B6E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15200" y="440740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&amp; NULL-Handling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52578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data and manage missing values, covered in depth today.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NULL Values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data-cleaning skill: knowing when a value is missing and deciding what should stand in for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IFNULL()   •   COALESCE()   •   NULL in calculations   •   NULL in aggregates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pPr indent="0" marL="0">
              <a:buNone/>
            </a:pPr>
            <a:r>
              <a:rPr lang="en-US" sz="30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IFNULL()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399032"/>
            <a:ext cx="50292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emp_name,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IFNULL(dept_id, 0) AS dept_id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24612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</a:t>
            </a:r>
            <a:pPr indent="0" marL="0">
              <a:buNone/>
            </a:pPr>
            <a:r>
              <a:rPr lang="en-US" sz="14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dept_id is NULL, return 0; otherwise return the actual value.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234440"/>
            <a:ext cx="52120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75120" y="1920240"/>
            <a:ext cx="4663440" cy="411480"/>
          </a:xfrm>
          <a:prstGeom prst="rect">
            <a:avLst/>
          </a:prstGeom>
          <a:solidFill>
            <a:srgbClr val="028090"/>
          </a:solidFill>
          <a:ln w="6350">
            <a:solidFill>
              <a:srgbClr val="E0EF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dept_id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05256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IFNULL result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0" y="2331720"/>
            <a:ext cx="4663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F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05256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75120" y="2743200"/>
            <a:ext cx="4663440" cy="411480"/>
          </a:xfrm>
          <a:prstGeom prst="rect">
            <a:avLst/>
          </a:prstGeom>
          <a:solidFill>
            <a:srgbClr val="F2FAF8"/>
          </a:solidFill>
          <a:ln w="6350">
            <a:solidFill>
              <a:srgbClr val="E0EF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5256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75120" y="3154680"/>
            <a:ext cx="4663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F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154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052560" y="3154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6302B"/>
          </a:solidFill>
          <a:ln w="12700">
            <a:solidFill>
              <a:srgbClr val="1630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617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IFNULL takes exactly two arguments. For more than one fallback column, use COALESCE instead.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30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COALESCE()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399032"/>
            <a:ext cx="50292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emp_name,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COALESCE(phone, email, 'No Contact')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 contact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24612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</a:t>
            </a:r>
            <a:pPr indent="0" marL="0">
              <a:buNone/>
            </a:pPr>
            <a:r>
              <a:rPr lang="en-US" sz="14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first non-NULL value from the list, checked left to right.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234440"/>
            <a:ext cx="52120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Chain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66560" y="1993392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6092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60920" y="2240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first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95160" y="2496312"/>
            <a:ext cx="0" cy="365760"/>
          </a:xfrm>
          <a:prstGeom prst="line">
            <a:avLst/>
          </a:prstGeom>
          <a:noFill/>
          <a:ln w="19050">
            <a:solidFill>
              <a:srgbClr val="CFE8E3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766560" y="2907792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6092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60920" y="3154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if phone is NULL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95160" y="3410712"/>
            <a:ext cx="0" cy="365760"/>
          </a:xfrm>
          <a:prstGeom prst="line">
            <a:avLst/>
          </a:prstGeom>
          <a:noFill/>
          <a:ln w="19050">
            <a:solidFill>
              <a:srgbClr val="CFE8E3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766560" y="3822192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6092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 Contact'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60920" y="4069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if both are NULL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6302B"/>
          </a:solidFill>
          <a:ln w="12700">
            <a:solidFill>
              <a:srgbClr val="1630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617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 works with any number of arguments and any data type, which makes it more flexible than IFNULL.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30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NULL in Calculations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73352"/>
            <a:ext cx="4846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salary + bonus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BEAEA"/>
          </a:solidFill>
          <a:ln w="12700">
            <a:solidFill>
              <a:srgbClr val="D9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803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bonus is NULL, the whole result becomes NULL. Even a valid salary is lost.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093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673352"/>
            <a:ext cx="4846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salary + IFNULL(bonus, 0)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total_salary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288036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8803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bonus in IFNULL guarantees a number, so the addition always works.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6302B"/>
          </a:solidFill>
          <a:ln w="12700">
            <a:solidFill>
              <a:srgbClr val="1630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977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arithmetic touching a NULL produces NULL. Wrap nullable columns before adding, subtracting, or multiplying them.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516636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50749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class: </a:t>
            </a:r>
            <a:pPr indent="0" marL="0">
              <a:buNone/>
            </a:pPr>
            <a:r>
              <a:rPr lang="en-US" sz="1300" i="1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COALESCE(bonus, 0) do differently from IFNULL(bonus, 0) here? (Nothing, for two arguments, they behave the same.)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pPr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NULL with Aggregate Functions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0E2A28"/>
          </a:solidFill>
          <a:ln w="12700">
            <a:solidFill>
              <a:srgbClr val="0E2A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44752"/>
            <a:ext cx="4663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AVG(salary)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E4F5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517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</a:t>
            </a:r>
            <a:pPr indent="0" marL="0">
              <a:buNone/>
            </a:pPr>
            <a:r>
              <a:rPr lang="en-US" sz="13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 (AVG, SUM, COUNT, MAX, MIN) generally ignore NULL values. They are excluded from the calculation, not treated as zero.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89320" y="1280160"/>
            <a:ext cx="56235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FE8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 column: 40000, NULL, 60000, 50000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AVG(salary)  =  </a:t>
            </a:r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150000 / 3 = 50000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63640" y="26974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Divided by 3 rows, not 4. The NULL row never enters the calculation.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6302B"/>
          </a:solidFill>
          <a:ln w="12700">
            <a:solidFill>
              <a:srgbClr val="1630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counts all rows including NULLs, but COUNT(column) skips NULLs in that column. Ask students to predict both before running the query.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530352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521208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class: </a:t>
            </a:r>
            <a:pPr indent="0" marL="0">
              <a:buNone/>
            </a:pPr>
            <a:r>
              <a:rPr lang="en-US" sz="1300" i="1" dirty="0">
                <a:solidFill>
                  <a:srgbClr val="3B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same 4 rows, what does COUNT(salary) return, and how is that different from COUNT(*)?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Functions - Data Engineering Track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82980" y="162306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2980" y="16230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1554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IFNULL(x, default)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35040" y="1554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 single NULL for a fallback value.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82980" y="258318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2980" y="25831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25146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COALESCE(a, b, c, ...)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35040" y="2514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first non-NULL value across several columns.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82980" y="354330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2980" y="35433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34747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Arithmetic + NULL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35040" y="3474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NULL in a calculation makes the whole result NULL. Wrap it first.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82980" y="450342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" y="45034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44348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Aggregates + NULL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35040" y="4434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AVG, SUM, MAX, MIN skip NULLs; COUNT(*) still counts the row.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8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String, Numeric, and Date &amp; Time functions.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2026-08-19T16:12:57Z</dcterms:created>
  <dcterms:modified xsi:type="dcterms:W3CDTF">2026-08-19T16:12:57Z</dcterms:modified>
</cp:coreProperties>
</file>