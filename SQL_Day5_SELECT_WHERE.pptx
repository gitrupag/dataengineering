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4312" y="1920240"/>
            <a:ext cx="219456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9354312" y="2194560"/>
            <a:ext cx="219456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9354312" y="2834640"/>
            <a:ext cx="219456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9354312" y="3108960"/>
            <a:ext cx="219456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9354312" y="3749040"/>
            <a:ext cx="219456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SQL: SELECT, WHERE, Operators,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BY, DISTINCT &amp; LIMIT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31520" y="4343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the Employee database — filtering, sorting, and refining results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512064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0B4A5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1206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2 Hours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class, students will be able to: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783080"/>
            <a:ext cx="45399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data using SELECT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68796" y="18288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368796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054596" y="1783080"/>
            <a:ext cx="45399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records using WHERE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2834640"/>
            <a:ext cx="45399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comparison operators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68796" y="28803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368796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54596" y="2834640"/>
            <a:ext cx="45399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logical operators (AND, OR, NOT)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3886200"/>
            <a:ext cx="45399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 using DISTINCT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68796" y="39319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368796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54596" y="3886200"/>
            <a:ext cx="45399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records using ORDER BY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49834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983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34440" y="4937760"/>
            <a:ext cx="45399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limited records using LIMIT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SQL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Keys &amp; Constraints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 · Quick-fire questions to open the class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1672" cy="621792"/>
          </a:xfrm>
          <a:prstGeom prst="roundRect">
            <a:avLst>
              <a:gd name="adj" fmla="val 14706"/>
            </a:avLst>
          </a:prstGeom>
          <a:solidFill>
            <a:srgbClr val="F0F7F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56816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56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874520"/>
            <a:ext cx="98115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constraint?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11091672" cy="621792"/>
          </a:xfrm>
          <a:prstGeom prst="roundRect">
            <a:avLst>
              <a:gd name="adj" fmla="val 14706"/>
            </a:avLst>
          </a:prstGeom>
          <a:solidFill>
            <a:srgbClr val="F0F7F6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706624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06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2624328"/>
            <a:ext cx="98115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Primary Key?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374136"/>
            <a:ext cx="11091672" cy="621792"/>
          </a:xfrm>
          <a:prstGeom prst="roundRect">
            <a:avLst>
              <a:gd name="adj" fmla="val 14706"/>
            </a:avLst>
          </a:prstGeom>
          <a:solidFill>
            <a:srgbClr val="F0F7F6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45643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56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3374136"/>
            <a:ext cx="98115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Primary Key and Foreign Key?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123944"/>
            <a:ext cx="11091672" cy="621792"/>
          </a:xfrm>
          <a:prstGeom prst="roundRect">
            <a:avLst>
              <a:gd name="adj" fmla="val 14706"/>
            </a:avLst>
          </a:prstGeom>
          <a:solidFill>
            <a:srgbClr val="F0F7F6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42062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4123944"/>
            <a:ext cx="98115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Candidate Key?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873752"/>
            <a:ext cx="11091672" cy="621792"/>
          </a:xfrm>
          <a:prstGeom prst="roundRect">
            <a:avLst>
              <a:gd name="adj" fmla="val 14706"/>
            </a:avLst>
          </a:prstGeom>
          <a:solidFill>
            <a:srgbClr val="F0F7F6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95604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956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7320" y="4873752"/>
            <a:ext cx="98115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table have two Primary Keys?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5623560"/>
            <a:ext cx="11091672" cy="621792"/>
          </a:xfrm>
          <a:prstGeom prst="roundRect">
            <a:avLst>
              <a:gd name="adj" fmla="val 14706"/>
            </a:avLst>
          </a:prstGeom>
          <a:solidFill>
            <a:srgbClr val="F0F7F6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5705856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705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17320" y="5623560"/>
            <a:ext cx="98115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Composite Key?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SQL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Up: the Employee Table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 + sample data (15 minutes)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2468880"/>
          </a:xfrm>
          <a:prstGeom prst="roundRect">
            <a:avLst>
              <a:gd name="adj" fmla="val 2963"/>
            </a:avLst>
          </a:prstGeom>
          <a:solidFill>
            <a:srgbClr val="0B2A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01952"/>
            <a:ext cx="4663440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Employee(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emp_id INT PRIMARY KEY,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VARCHAR(50),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 INT,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department VARCHAR(30),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salary DECIMAL(10,2),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city VARCHAR(30)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11064240" cy="1828800"/>
        </p:xfrm>
        <a:graphic>
          <a:graphicData uri="http://schemas.openxmlformats.org/drawingml/2006/table">
            <a:tbl>
              <a:tblPr/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emp_id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Anjali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Chennai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943600" y="173736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records loaded into the Employee table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the Table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SQL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SELECT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retrieves data from a table  ·  15 minutes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3392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columns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392424" cy="1737360"/>
          </a:xfrm>
          <a:prstGeom prst="roundRect">
            <a:avLst>
              <a:gd name="adj" fmla="val 4211"/>
            </a:avLst>
          </a:prstGeom>
          <a:solidFill>
            <a:srgbClr val="0B2A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450592"/>
            <a:ext cx="293522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Employee;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398264" y="1874520"/>
            <a:ext cx="3392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columns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98264" y="2286000"/>
            <a:ext cx="3392424" cy="1737360"/>
          </a:xfrm>
          <a:prstGeom prst="roundRect">
            <a:avLst>
              <a:gd name="adj" fmla="val 4211"/>
            </a:avLst>
          </a:prstGeom>
          <a:solidFill>
            <a:srgbClr val="0B2A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26864" y="2450592"/>
            <a:ext cx="293522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salary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Employee;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47888" y="1874520"/>
            <a:ext cx="3392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columns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47888" y="2286000"/>
            <a:ext cx="3392424" cy="1737360"/>
          </a:xfrm>
          <a:prstGeom prst="roundRect">
            <a:avLst>
              <a:gd name="adj" fmla="val 4211"/>
            </a:avLst>
          </a:prstGeom>
          <a:solidFill>
            <a:srgbClr val="0B2A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76488" y="2450592"/>
            <a:ext cx="293522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department, city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Employee;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F0F7F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34340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pPr indent="0" marL="0">
              <a:buNone/>
            </a:pPr>
            <a:r>
              <a:rPr lang="en-US" sz="15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means all columns. Naming columns explicitly retrieves only what you need — faster and clearer.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Statement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SQL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WHERE Clause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records based on a condition  ·  20 minutes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0B2A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47672"/>
            <a:ext cx="493776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Employee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department = 'IT';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783080"/>
          <a:ext cx="5349240" cy="2743200"/>
        </p:xfrm>
        <a:graphic>
          <a:graphicData uri="http://schemas.openxmlformats.org/drawingml/2006/table">
            <a:tbl>
              <a:tblPr/>
              <a:tblGrid>
                <a:gridCol w="2011680"/>
                <a:gridCol w="3337560"/>
              </a:tblGrid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Than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Than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&gt;=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Than or Equal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&lt;=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Than or Equal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!= or &lt;&gt;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Equal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4290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which employees are NOT in HR?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84048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0B2A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4005072"/>
            <a:ext cx="493776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Employee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department != 'HR';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or: WHERE department &lt;&gt; 'HR';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Clause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SQL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in Action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employees by salary and age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3392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Than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392424" cy="1371600"/>
          </a:xfrm>
          <a:prstGeom prst="roundRect">
            <a:avLst>
              <a:gd name="adj" fmla="val 5333"/>
            </a:avLst>
          </a:prstGeom>
          <a:solidFill>
            <a:srgbClr val="0B2A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450592"/>
            <a:ext cx="2935224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Employee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salary &gt; 50000;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398264" y="1874520"/>
            <a:ext cx="3392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or Equal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98264" y="2286000"/>
            <a:ext cx="3392424" cy="1371600"/>
          </a:xfrm>
          <a:prstGeom prst="roundRect">
            <a:avLst>
              <a:gd name="adj" fmla="val 5333"/>
            </a:avLst>
          </a:prstGeom>
          <a:solidFill>
            <a:srgbClr val="0B2A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26864" y="2450592"/>
            <a:ext cx="2935224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Employee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age &lt;= 23;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47888" y="1874520"/>
            <a:ext cx="3392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or Equal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47888" y="2286000"/>
            <a:ext cx="3392424" cy="1371600"/>
          </a:xfrm>
          <a:prstGeom prst="roundRect">
            <a:avLst>
              <a:gd name="adj" fmla="val 5333"/>
            </a:avLst>
          </a:prstGeom>
          <a:solidFill>
            <a:srgbClr val="0B2A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76488" y="2450592"/>
            <a:ext cx="2935224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Employee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salary &gt;= 55000;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11091672" cy="1600200"/>
          </a:xfrm>
          <a:prstGeom prst="roundRect">
            <a:avLst>
              <a:gd name="adj" fmla="val 5714"/>
            </a:avLst>
          </a:prstGeom>
          <a:solidFill>
            <a:srgbClr val="032E33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160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tip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526280"/>
            <a:ext cx="1036015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it as a real request: “Finance Team: show employees earning more than ₹60,000.” Students map the sentence directly onto WHERE salary &gt; 60000.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 Action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SQL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Operators: AND · OR · NOT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conditions to refine a query  ·  20 minutes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92424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3392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395728"/>
            <a:ext cx="3392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conditions must be true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3392424" cy="1600200"/>
          </a:xfrm>
          <a:prstGeom prst="roundRect">
            <a:avLst>
              <a:gd name="adj" fmla="val 4571"/>
            </a:avLst>
          </a:prstGeom>
          <a:solidFill>
            <a:srgbClr val="0B2A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136392"/>
            <a:ext cx="2935224" cy="1271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Employee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department='IT'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salary&gt;60000;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98264" y="1828800"/>
            <a:ext cx="3392424" cy="502920"/>
          </a:xfrm>
          <a:prstGeom prst="roundRect">
            <a:avLst>
              <a:gd name="adj" fmla="val 14545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398264" y="1828800"/>
            <a:ext cx="3392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398264" y="2395728"/>
            <a:ext cx="3392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one condition should be true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98264" y="2971800"/>
            <a:ext cx="3392424" cy="1600200"/>
          </a:xfrm>
          <a:prstGeom prst="roundRect">
            <a:avLst>
              <a:gd name="adj" fmla="val 4571"/>
            </a:avLst>
          </a:prstGeom>
          <a:solidFill>
            <a:srgbClr val="0B2A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3136392"/>
            <a:ext cx="2935224" cy="1271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Employee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city='Hyderabad'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city='Chennai';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47888" y="1828800"/>
            <a:ext cx="3392424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247888" y="1828800"/>
            <a:ext cx="3392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47888" y="2395728"/>
            <a:ext cx="3392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opposite result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47888" y="2971800"/>
            <a:ext cx="3392424" cy="1600200"/>
          </a:xfrm>
          <a:prstGeom prst="roundRect">
            <a:avLst>
              <a:gd name="adj" fmla="val 4571"/>
            </a:avLst>
          </a:prstGeom>
          <a:solidFill>
            <a:srgbClr val="0B2A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76488" y="3136392"/>
            <a:ext cx="2935224" cy="1271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Employee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NOT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department='Sales';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Operators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SQL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DISTINCT: Removing Duplicates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2715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DISTINCT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271516" cy="914400"/>
          </a:xfrm>
          <a:prstGeom prst="roundRect">
            <a:avLst>
              <a:gd name="adj" fmla="val 8000"/>
            </a:avLst>
          </a:prstGeom>
          <a:solidFill>
            <a:srgbClr val="0B2A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450592"/>
            <a:ext cx="4814316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department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Employee;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5271516" cy="1737360"/>
        </p:xfrm>
        <a:graphic>
          <a:graphicData uri="http://schemas.openxmlformats.org/drawingml/2006/table">
            <a:tbl>
              <a:tblPr/>
              <a:tblGrid>
                <a:gridCol w="5271516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368796" y="1874520"/>
            <a:ext cx="52715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DISTINCT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368796" y="2286000"/>
            <a:ext cx="5271516" cy="914400"/>
          </a:xfrm>
          <a:prstGeom prst="roundRect">
            <a:avLst>
              <a:gd name="adj" fmla="val 8000"/>
            </a:avLst>
          </a:prstGeom>
          <a:solidFill>
            <a:srgbClr val="0B2A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97396" y="2450592"/>
            <a:ext cx="4814316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DISTINCT department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Employee;</a:t>
            </a:r>
            <a:endParaRPr lang="en-US" sz="13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68796" y="3337560"/>
          <a:ext cx="5271516" cy="1463040"/>
        </p:xfrm>
        <a:graphic>
          <a:graphicData uri="http://schemas.openxmlformats.org/drawingml/2006/table">
            <a:tbl>
              <a:tblPr/>
              <a:tblGrid>
                <a:gridCol w="5271516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SQL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BY: Sorting Data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2715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Ascending (default)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271516" cy="1737360"/>
          </a:xfrm>
          <a:prstGeom prst="roundRect">
            <a:avLst>
              <a:gd name="adj" fmla="val 4211"/>
            </a:avLst>
          </a:prstGeom>
          <a:solidFill>
            <a:srgbClr val="0B2A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450592"/>
            <a:ext cx="481431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Employee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salary;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or explicitly: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salary ASC;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160520"/>
            <a:ext cx="365760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206240"/>
            <a:ext cx="52715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Lowest salary first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68796" y="1874520"/>
            <a:ext cx="52715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68796" y="2286000"/>
            <a:ext cx="5271516" cy="1737360"/>
          </a:xfrm>
          <a:prstGeom prst="roundRect">
            <a:avLst>
              <a:gd name="adj" fmla="val 4211"/>
            </a:avLst>
          </a:prstGeom>
          <a:solidFill>
            <a:srgbClr val="0B2A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97396" y="2450592"/>
            <a:ext cx="4814316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Employee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salary DESC;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sort by name instead: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name ASC;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68796" y="4206240"/>
            <a:ext cx="52715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Highest salary first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SQL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LIMIT: Capping the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only a specified number of rows  ·  10 minutes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3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874520"/>
            <a:ext cx="2798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 Records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3392424" cy="1554480"/>
          </a:xfrm>
          <a:prstGeom prst="roundRect">
            <a:avLst>
              <a:gd name="adj" fmla="val 4706"/>
            </a:avLst>
          </a:prstGeom>
          <a:solidFill>
            <a:srgbClr val="0B2A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633472"/>
            <a:ext cx="2935224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Employee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3;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98264" y="18745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398264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3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92624" y="1874520"/>
            <a:ext cx="2798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Salary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398264" y="2468880"/>
            <a:ext cx="3392424" cy="1554480"/>
          </a:xfrm>
          <a:prstGeom prst="roundRect">
            <a:avLst>
              <a:gd name="adj" fmla="val 4706"/>
            </a:avLst>
          </a:prstGeom>
          <a:solidFill>
            <a:srgbClr val="0B2A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2633472"/>
            <a:ext cx="2935224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Employee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salary DESC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1;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47888" y="18745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247888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3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842248" y="1874520"/>
            <a:ext cx="2798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 Highest Salaries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247888" y="2468880"/>
            <a:ext cx="3392424" cy="1554480"/>
          </a:xfrm>
          <a:prstGeom prst="roundRect">
            <a:avLst>
              <a:gd name="adj" fmla="val 4706"/>
            </a:avLst>
          </a:prstGeom>
          <a:solidFill>
            <a:srgbClr val="0B2A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76488" y="2633472"/>
            <a:ext cx="2935224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Employee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salary DESC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2;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SQL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Questions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these individually, then review as a class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78992" y="1856232"/>
            <a:ext cx="47228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all employee details.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53288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32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2514600"/>
            <a:ext cx="47228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only employee names and salaries.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19125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1912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78992" y="3172968"/>
            <a:ext cx="47228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employees from the IT department.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84962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849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8992" y="3831336"/>
            <a:ext cx="47228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employees whose salary is greater than ₹50,000.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5079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507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78992" y="4489704"/>
            <a:ext cx="47228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employees whose age is less than 25.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166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78992" y="5148072"/>
            <a:ext cx="47228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employees from Hyderabad.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68796" y="187452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6368796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99148" y="1856232"/>
            <a:ext cx="47228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employees from IT with salary greater than ₹60,000.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68796" y="253288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6368796" y="2532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99148" y="2514600"/>
            <a:ext cx="47228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employees from Bangalore or Chennai.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68796" y="3191256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9" name="Text 27"/>
          <p:cNvSpPr/>
          <p:nvPr/>
        </p:nvSpPr>
        <p:spPr>
          <a:xfrm>
            <a:off x="6368796" y="31912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99148" y="3172968"/>
            <a:ext cx="47228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all unique departments.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368796" y="3849624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2" name="Text 30"/>
          <p:cNvSpPr/>
          <p:nvPr/>
        </p:nvSpPr>
        <p:spPr>
          <a:xfrm>
            <a:off x="6368796" y="3849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99148" y="3831336"/>
            <a:ext cx="47228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employees sorted by salary (highest first).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368796" y="4507992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5" name="Text 33"/>
          <p:cNvSpPr/>
          <p:nvPr/>
        </p:nvSpPr>
        <p:spPr>
          <a:xfrm>
            <a:off x="6368796" y="4507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99148" y="4489704"/>
            <a:ext cx="47228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the first three employees.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368796" y="516636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8" name="Text 36"/>
          <p:cNvSpPr/>
          <p:nvPr/>
        </p:nvSpPr>
        <p:spPr>
          <a:xfrm>
            <a:off x="6368796" y="5166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899148" y="5148072"/>
            <a:ext cx="47228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the employee with the highest salary.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Questions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SQL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Classroom Activity: Student Table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new table and repeat the query patterns learned today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0B2A2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47672"/>
            <a:ext cx="4754880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Student(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student_id INT PRIMARY KEY,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VARCHAR(50),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branch VARCHAR(30),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marks DECIMAL(5,2),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city VARCHAR(30)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E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Insert at least 6 records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0" y="1783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queries to: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235915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228600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all students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35040" y="277977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2706624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only names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35040" y="320040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3127248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students with marks above 80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035040" y="362102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354787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students from CSE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035040" y="404164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3968496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unique branches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035040" y="446227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438912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students sorted by marks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035040" y="488289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4809744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the top 3 students based on marks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Activity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SQL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Homework: Product Table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Product table, insert 10 products, and practice every clause from today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F0F7F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402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9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product_id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F0F7F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7889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9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product_name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F0F7F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337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9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F0F7F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8862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9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F0F7F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434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9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94960" y="18288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using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394960" y="2240280"/>
            <a:ext cx="1554480" cy="502920"/>
          </a:xfrm>
          <a:prstGeom prst="roundRect">
            <a:avLst>
              <a:gd name="adj" fmla="val 49091"/>
            </a:avLst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5394960" y="22402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32320" y="2240280"/>
            <a:ext cx="1554480" cy="502920"/>
          </a:xfrm>
          <a:prstGeom prst="roundRect">
            <a:avLst>
              <a:gd name="adj" fmla="val 49091"/>
            </a:avLst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22402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869680" y="2240280"/>
            <a:ext cx="1554480" cy="502920"/>
          </a:xfrm>
          <a:prstGeom prst="roundRect">
            <a:avLst>
              <a:gd name="adj" fmla="val 49091"/>
            </a:avLst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8869680" y="22402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607040" y="2240280"/>
            <a:ext cx="1554480" cy="502920"/>
          </a:xfrm>
          <a:prstGeom prst="roundRect">
            <a:avLst>
              <a:gd name="adj" fmla="val 49091"/>
            </a:avLst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10607040" y="22402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394960" y="2926080"/>
            <a:ext cx="1554480" cy="502920"/>
          </a:xfrm>
          <a:prstGeom prst="roundRect">
            <a:avLst>
              <a:gd name="adj" fmla="val 49091"/>
            </a:avLst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5394960" y="29260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132320" y="2926080"/>
            <a:ext cx="1554480" cy="502920"/>
          </a:xfrm>
          <a:prstGeom prst="roundRect">
            <a:avLst>
              <a:gd name="adj" fmla="val 49091"/>
            </a:avLst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0" y="29260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869680" y="2926080"/>
            <a:ext cx="1554480" cy="502920"/>
          </a:xfrm>
          <a:prstGeom prst="roundRect">
            <a:avLst>
              <a:gd name="adj" fmla="val 49091"/>
            </a:avLst>
          </a:prstGeom>
          <a:solidFill>
            <a:srgbClr val="00A896"/>
          </a:solidFill>
          <a:ln/>
        </p:spPr>
      </p:sp>
      <p:sp>
        <p:nvSpPr>
          <p:cNvPr id="29" name="Text 27"/>
          <p:cNvSpPr/>
          <p:nvPr/>
        </p:nvSpPr>
        <p:spPr>
          <a:xfrm>
            <a:off x="8869680" y="29260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0607040" y="2926080"/>
            <a:ext cx="1554480" cy="502920"/>
          </a:xfrm>
          <a:prstGeom prst="roundRect">
            <a:avLst>
              <a:gd name="adj" fmla="val 49091"/>
            </a:avLst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10607040" y="29260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SQL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Questions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checks students should be able to answer confidently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71516" cy="822960"/>
          </a:xfrm>
          <a:prstGeom prst="roundRect">
            <a:avLst>
              <a:gd name="adj" fmla="val 11111"/>
            </a:avLst>
          </a:prstGeom>
          <a:solidFill>
            <a:srgbClr val="F0F7F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920240"/>
            <a:ext cx="42656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purpose of the SELECT statement?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5271516" cy="822960"/>
          </a:xfrm>
          <a:prstGeom prst="roundRect">
            <a:avLst>
              <a:gd name="adj" fmla="val 11111"/>
            </a:avLst>
          </a:prstGeom>
          <a:solidFill>
            <a:srgbClr val="F0F7F6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30632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880360"/>
            <a:ext cx="42656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WHERE clause?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271516" cy="822960"/>
          </a:xfrm>
          <a:prstGeom prst="roundRect">
            <a:avLst>
              <a:gd name="adj" fmla="val 11111"/>
            </a:avLst>
          </a:prstGeom>
          <a:solidFill>
            <a:srgbClr val="F0F7F6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840480"/>
            <a:ext cx="42656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WHERE and ORDER BY?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5271516" cy="822960"/>
          </a:xfrm>
          <a:prstGeom prst="roundRect">
            <a:avLst>
              <a:gd name="adj" fmla="val 11111"/>
            </a:avLst>
          </a:prstGeom>
          <a:solidFill>
            <a:srgbClr val="F0F7F6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49834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800600"/>
            <a:ext cx="42656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AND and OR?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68796" y="1920240"/>
            <a:ext cx="5271516" cy="822960"/>
          </a:xfrm>
          <a:prstGeom prst="roundRect">
            <a:avLst>
              <a:gd name="adj" fmla="val 11111"/>
            </a:avLst>
          </a:prstGeom>
          <a:solidFill>
            <a:srgbClr val="F0F7F6"/>
          </a:solidFill>
          <a:ln/>
        </p:spPr>
      </p:sp>
      <p:sp>
        <p:nvSpPr>
          <p:cNvPr id="21" name="Shape 19"/>
          <p:cNvSpPr/>
          <p:nvPr/>
        </p:nvSpPr>
        <p:spPr>
          <a:xfrm>
            <a:off x="6551676" y="21031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6551676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91756" y="1920240"/>
            <a:ext cx="42656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DISTINCT?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68796" y="2880360"/>
            <a:ext cx="5271516" cy="822960"/>
          </a:xfrm>
          <a:prstGeom prst="roundRect">
            <a:avLst>
              <a:gd name="adj" fmla="val 11111"/>
            </a:avLst>
          </a:prstGeom>
          <a:solidFill>
            <a:srgbClr val="F0F7F6"/>
          </a:solidFill>
          <a:ln/>
        </p:spPr>
      </p:sp>
      <p:sp>
        <p:nvSpPr>
          <p:cNvPr id="25" name="Shape 23"/>
          <p:cNvSpPr/>
          <p:nvPr/>
        </p:nvSpPr>
        <p:spPr>
          <a:xfrm>
            <a:off x="6551676" y="30632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6551676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91756" y="2880360"/>
            <a:ext cx="42656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default order of ORDER BY?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68796" y="3840480"/>
            <a:ext cx="5271516" cy="822960"/>
          </a:xfrm>
          <a:prstGeom prst="roundRect">
            <a:avLst>
              <a:gd name="adj" fmla="val 11111"/>
            </a:avLst>
          </a:prstGeom>
          <a:solidFill>
            <a:srgbClr val="F0F7F6"/>
          </a:solidFill>
          <a:ln/>
        </p:spPr>
      </p:sp>
      <p:sp>
        <p:nvSpPr>
          <p:cNvPr id="29" name="Shape 27"/>
          <p:cNvSpPr/>
          <p:nvPr/>
        </p:nvSpPr>
        <p:spPr>
          <a:xfrm>
            <a:off x="6551676" y="40233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6551676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91756" y="3840480"/>
            <a:ext cx="42656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use LIMIT?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368796" y="4800600"/>
            <a:ext cx="5271516" cy="822960"/>
          </a:xfrm>
          <a:prstGeom prst="roundRect">
            <a:avLst>
              <a:gd name="adj" fmla="val 11111"/>
            </a:avLst>
          </a:prstGeom>
          <a:solidFill>
            <a:srgbClr val="F0F7F6"/>
          </a:solidFill>
          <a:ln/>
        </p:spPr>
      </p:sp>
      <p:sp>
        <p:nvSpPr>
          <p:cNvPr id="33" name="Shape 31"/>
          <p:cNvSpPr/>
          <p:nvPr/>
        </p:nvSpPr>
        <p:spPr>
          <a:xfrm>
            <a:off x="6551676" y="49834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4" name="Text 32"/>
          <p:cNvSpPr/>
          <p:nvPr/>
        </p:nvSpPr>
        <p:spPr>
          <a:xfrm>
            <a:off x="6551676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191756" y="4800600"/>
            <a:ext cx="42656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!= and &lt;&gt;?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SQL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3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 · DAY 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 Functions &amp; GROUP BY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build naturally on the querying skills learned today.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293876" y="2743200"/>
            <a:ext cx="2194560" cy="685800"/>
          </a:xfrm>
          <a:prstGeom prst="roundRect">
            <a:avLst>
              <a:gd name="adj" fmla="val 13333"/>
            </a:avLst>
          </a:prstGeom>
          <a:solidFill>
            <a:srgbClr val="0B4A5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3876" y="274320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762756" y="2743200"/>
            <a:ext cx="2194560" cy="685800"/>
          </a:xfrm>
          <a:prstGeom prst="roundRect">
            <a:avLst>
              <a:gd name="adj" fmla="val 13333"/>
            </a:avLst>
          </a:prstGeom>
          <a:solidFill>
            <a:srgbClr val="0B4A5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62756" y="274320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31636" y="2743200"/>
            <a:ext cx="2194560" cy="685800"/>
          </a:xfrm>
          <a:prstGeom prst="roundRect">
            <a:avLst>
              <a:gd name="adj" fmla="val 13333"/>
            </a:avLst>
          </a:prstGeom>
          <a:solidFill>
            <a:srgbClr val="0B4A5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31636" y="274320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AVG()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700516" y="2743200"/>
            <a:ext cx="2194560" cy="685800"/>
          </a:xfrm>
          <a:prstGeom prst="roundRect">
            <a:avLst>
              <a:gd name="adj" fmla="val 13333"/>
            </a:avLst>
          </a:prstGeom>
          <a:solidFill>
            <a:srgbClr val="0B4A5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00516" y="274320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93876" y="3703320"/>
            <a:ext cx="2194560" cy="685800"/>
          </a:xfrm>
          <a:prstGeom prst="roundRect">
            <a:avLst>
              <a:gd name="adj" fmla="val 13333"/>
            </a:avLst>
          </a:prstGeom>
          <a:solidFill>
            <a:srgbClr val="0B4A5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3876" y="370332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762756" y="3703320"/>
            <a:ext cx="2194560" cy="685800"/>
          </a:xfrm>
          <a:prstGeom prst="roundRect">
            <a:avLst>
              <a:gd name="adj" fmla="val 13333"/>
            </a:avLst>
          </a:prstGeom>
          <a:solidFill>
            <a:srgbClr val="0B4A5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2756" y="370332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31636" y="3703320"/>
            <a:ext cx="2194560" cy="685800"/>
          </a:xfrm>
          <a:prstGeom prst="roundRect">
            <a:avLst>
              <a:gd name="adj" fmla="val 13333"/>
            </a:avLst>
          </a:prstGeom>
          <a:solidFill>
            <a:srgbClr val="0B4A5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1636" y="370332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F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at Day 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SQL Fundamentals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2026-07-31T15:16:17Z</dcterms:created>
  <dcterms:modified xsi:type="dcterms:W3CDTF">2026-07-31T15:16:17Z</dcterms:modified>
</cp:coreProperties>
</file>