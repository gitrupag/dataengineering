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840480" cy="3840480"/>
          </a:xfrm>
          <a:prstGeom prst="ellipse">
            <a:avLst/>
          </a:prstGeom>
          <a:solidFill>
            <a:srgbClr val="16213E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 ·  DAY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 TABLE &amp;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Management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a table that already exists — without ever deleting and starting over.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9F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26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 Hours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C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 MODIFY   CHANGE   RENAME   DROP   DELETE   TRUNCATE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96" dirty="0"/>
          </a:p>
        </p:txBody>
      </p:sp>
      <p:sp>
        <p:nvSpPr>
          <p:cNvPr id="7" name="Text 5"/>
          <p:cNvSpPr/>
          <p:nvPr/>
        </p:nvSpPr>
        <p:spPr>
          <a:xfrm>
            <a:off x="1280160" y="158191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 existing table's structure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96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columns to a table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16936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16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96" dirty="0"/>
          </a:p>
        </p:txBody>
      </p:sp>
      <p:sp>
        <p:nvSpPr>
          <p:cNvPr id="13" name="Text 11"/>
          <p:cNvSpPr/>
          <p:nvPr/>
        </p:nvSpPr>
        <p:spPr>
          <a:xfrm>
            <a:off x="1280160" y="28986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column data types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57530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75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96" dirty="0"/>
          </a:p>
        </p:txBody>
      </p:sp>
      <p:sp>
        <p:nvSpPr>
          <p:cNvPr id="16" name="Text 14"/>
          <p:cNvSpPr/>
          <p:nvPr/>
        </p:nvSpPr>
        <p:spPr>
          <a:xfrm>
            <a:off x="1280160" y="35570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23367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96" dirty="0"/>
          </a:p>
        </p:txBody>
      </p:sp>
      <p:sp>
        <p:nvSpPr>
          <p:cNvPr id="19" name="Text 17"/>
          <p:cNvSpPr/>
          <p:nvPr/>
        </p:nvSpPr>
        <p:spPr>
          <a:xfrm>
            <a:off x="1280160" y="421538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96" dirty="0"/>
          </a:p>
        </p:txBody>
      </p:sp>
      <p:sp>
        <p:nvSpPr>
          <p:cNvPr id="22" name="Text 20"/>
          <p:cNvSpPr/>
          <p:nvPr/>
        </p:nvSpPr>
        <p:spPr>
          <a:xfrm>
            <a:off x="1280160" y="48737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tables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40080" y="55504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550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96" dirty="0"/>
          </a:p>
        </p:txBody>
      </p:sp>
      <p:sp>
        <p:nvSpPr>
          <p:cNvPr id="25" name="Text 23"/>
          <p:cNvSpPr/>
          <p:nvPr/>
        </p:nvSpPr>
        <p:spPr>
          <a:xfrm>
            <a:off x="1280160" y="5532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difference between DELETE, TRUNCATE, and DROP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ALTER TABLE?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50800" dist="25400" dir="5400000">
              <a:srgbClr val="1A1A2E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 </a:t>
            </a:r>
            <a:pPr indent="0" marL="0">
              <a:buNone/>
            </a:pPr>
            <a:r>
              <a:rPr lang="en-US" sz="1450" i="1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"Suppose we created an Employee table but forgot to add the Email column. Should we delete the table and create it again?"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No.  </a:t>
            </a:r>
            <a:pPr indent="0" marL="0">
              <a:buNone/>
            </a:pPr>
            <a:r>
              <a:rPr lang="en-US" sz="1400" dirty="0">
                <a:solidFill>
                  <a:srgbClr val="E3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ALTER TABLE — it modifies the structure of an existing table without touching the data you already have.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6309360" cy="1691640"/>
          </a:xfrm>
          <a:prstGeom prst="roundRect">
            <a:avLst>
              <a:gd name="adj" fmla="val 432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8039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8039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5568" y="38039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7764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create_employee.sql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4041648"/>
            <a:ext cx="5797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Employee(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PRIMARY KEY,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 INT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6600" y="393192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starting table every example on this slide deck builds 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STRUCTURE ·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COLUMN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465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465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465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1907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add_email.sql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984248"/>
            <a:ext cx="5340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email VARCHAR(100);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29400" y="1609344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— NOW HAS 4 COLUMNS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920240"/>
          <a:ext cx="4983480" cy="914400"/>
        </p:xfrm>
        <a:graphic>
          <a:graphicData uri="http://schemas.openxmlformats.org/drawingml/2006/table">
            <a:tbl>
              <a:tblPr/>
              <a:tblGrid>
                <a:gridCol w="1245870"/>
                <a:gridCol w="1245870"/>
                <a:gridCol w="1245870"/>
                <a:gridCol w="124587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48640" y="3291840"/>
            <a:ext cx="5852160" cy="1783080"/>
          </a:xfrm>
          <a:prstGeom prst="roundRect">
            <a:avLst>
              <a:gd name="adj" fmla="val 410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13232" y="3438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3438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3"/>
          <p:cNvSpPr/>
          <p:nvPr/>
        </p:nvSpPr>
        <p:spPr>
          <a:xfrm>
            <a:off x="1115568" y="3438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3410712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add_multiple.sql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" y="3675888"/>
            <a:ext cx="53400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department VARCHAR(30),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salary DECIMAL(10,2);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629400" y="338328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3383280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Multiple Columns
</a:t>
            </a:r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ALTER TABLE statement can add several columns at once — each new column gets its own ADD clause, comma-separated.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STRUCTURE ·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an Existing Column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013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01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COLUMN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type only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0723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0723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8448" y="30723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310128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MODIFY name VARCHAR(100);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can now store up to 100 characters. The column name stays the same.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18013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801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COLUMN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26280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+ change type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29260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30723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0723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047488" y="30723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/>
          <p:nvPr/>
        </p:nvSpPr>
        <p:spPr>
          <a:xfrm>
            <a:off x="4736592" y="3310128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name employee_name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VARCHAR(100);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2628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name becomes employee_name — both the name and the type are set together.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046720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75320" y="180136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1801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8+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27532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COLUMN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75320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only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0" y="29260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94192" y="30723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4" name="Shape 32"/>
          <p:cNvSpPr/>
          <p:nvPr/>
        </p:nvSpPr>
        <p:spPr>
          <a:xfrm>
            <a:off x="8595360" y="30723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5" name="Shape 33"/>
          <p:cNvSpPr/>
          <p:nvPr/>
        </p:nvSpPr>
        <p:spPr>
          <a:xfrm>
            <a:off x="8796528" y="30723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6" name="Text 34"/>
          <p:cNvSpPr/>
          <p:nvPr/>
        </p:nvSpPr>
        <p:spPr>
          <a:xfrm>
            <a:off x="8485632" y="3310128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COLUMN employee_name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name;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275320" y="44348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column name changes — the data type is left exactly as it was.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STRUCTURE ·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COLUMN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943600" cy="1417320"/>
          </a:xfrm>
          <a:prstGeom prst="roundRect">
            <a:avLst>
              <a:gd name="adj" fmla="val 5161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836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836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8836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85623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drop_age.sql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121408"/>
            <a:ext cx="5431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COLUMN age;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66560" y="1737360"/>
            <a:ext cx="4846320" cy="1417320"/>
          </a:xfrm>
          <a:prstGeom prst="roundRect">
            <a:avLst>
              <a:gd name="adj" fmla="val 6452"/>
            </a:avLst>
          </a:prstGeom>
          <a:solidFill>
            <a:srgbClr val="FCEB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7373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 column is permanently removed.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stored in that column for every row is gone too — there is no undo.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163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4206240" cy="91440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A8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89204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577840" y="3163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4747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STRUCTURE ·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equivalent ways to rename a whole table: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1579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1579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1579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1305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395728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Employees;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28232" y="215798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629400" y="215798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830568" y="215798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1305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19672" y="2395728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RENAME TO Employees;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110996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38404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340" dirty="0"/>
          </a:p>
        </p:txBody>
      </p:sp>
      <p:sp>
        <p:nvSpPr>
          <p:cNvPr id="21" name="Text 19"/>
          <p:cNvSpPr/>
          <p:nvPr/>
        </p:nvSpPr>
        <p:spPr>
          <a:xfrm>
            <a:off x="1920240" y="352044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table's name changes. Every column, every row of data, and every constraint stays exactly as it was — nothing inside the table is touched.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DISTINCTION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vs TRUNCATE vs DROP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3611880" cy="594360"/>
          </a:xfrm>
          <a:prstGeom prst="roundRect">
            <a:avLst>
              <a:gd name="adj" fmla="val 18462"/>
            </a:avLst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61188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5237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25237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98448" y="25237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76148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Employee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 = 101;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694176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rows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151376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remains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608576"/>
            <a:ext cx="91440" cy="9144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use WHERE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1600200"/>
            <a:ext cx="3611880" cy="594360"/>
          </a:xfrm>
          <a:prstGeom prst="roundRect">
            <a:avLst>
              <a:gd name="adj" fmla="val 18462"/>
            </a:avLst>
          </a:prstGeom>
          <a:solidFill>
            <a:srgbClr val="B886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1920240"/>
            <a:ext cx="3611880" cy="2743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0" y="1600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TRUNCATE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480560" y="23774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25237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4846320" y="25237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5047488" y="25237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276148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Employee;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572000" y="3694176"/>
            <a:ext cx="91440" cy="914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all rows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4151376"/>
            <a:ext cx="91440" cy="914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remains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0" y="4608576"/>
            <a:ext cx="91440" cy="9144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WHERE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46720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sx="100000" sy="100000" kx="0" ky="0" algn="bl" rotWithShape="0" blurRad="63500" dist="25400" dir="5400000">
              <a:srgbClr val="1A1A2E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1600200"/>
            <a:ext cx="3611880" cy="594360"/>
          </a:xfrm>
          <a:prstGeom prst="roundRect">
            <a:avLst>
              <a:gd name="adj" fmla="val 18462"/>
            </a:avLst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0" y="1920240"/>
            <a:ext cx="361188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0" y="16002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8229600" y="23774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38100" dir="5400000">
              <a:srgbClr val="1A1A2E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394192" y="25237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1" name="Shape 39"/>
          <p:cNvSpPr/>
          <p:nvPr/>
        </p:nvSpPr>
        <p:spPr>
          <a:xfrm>
            <a:off x="8595360" y="25237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2" name="Shape 40"/>
          <p:cNvSpPr/>
          <p:nvPr/>
        </p:nvSpPr>
        <p:spPr>
          <a:xfrm>
            <a:off x="8796528" y="25237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43" name="Text 41"/>
          <p:cNvSpPr/>
          <p:nvPr/>
        </p:nvSpPr>
        <p:spPr>
          <a:xfrm>
            <a:off x="8485632" y="276148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F6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Employee;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321040" y="369417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entire table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321040" y="415137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structure gone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321040" y="460857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WHERE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103120"/>
          <a:ext cx="9966960" cy="914400"/>
        </p:xfrm>
        <a:graphic>
          <a:graphicData uri="http://schemas.openxmlformats.org/drawingml/2006/table">
            <a:tbl>
              <a:tblPr/>
              <a:tblGrid>
                <a:gridCol w="2491740"/>
                <a:gridCol w="2491740"/>
                <a:gridCol w="2491740"/>
                <a:gridCol w="24917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(all rows)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97280" y="3977640"/>
            <a:ext cx="9966960" cy="914400"/>
          </a:xfrm>
          <a:prstGeom prst="roundRect">
            <a:avLst>
              <a:gd name="adj" fmla="val 10000"/>
            </a:avLst>
          </a:prstGeom>
          <a:solidFill>
            <a:srgbClr val="FCEB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DELETE is the safest and most controlled. TRUNCATE is fast but total. DROP is irreversible — the table itself stops existing.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Employee table.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Text 8"/>
          <p:cNvSpPr/>
          <p:nvPr/>
        </p:nvSpPr>
        <p:spPr>
          <a:xfrm>
            <a:off x="1188720" y="2487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phone column.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741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1188720" y="332841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email and salary columns.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153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1188720" y="41696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size of the name column to VARCHAR(100).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56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188720" y="50109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phone to mobile_number.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1691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6858000" y="16459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salary column.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09360" y="25328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92" dirty="0"/>
          </a:p>
        </p:txBody>
      </p:sp>
      <p:sp>
        <p:nvSpPr>
          <p:cNvPr id="25" name="Text 23"/>
          <p:cNvSpPr/>
          <p:nvPr/>
        </p:nvSpPr>
        <p:spPr>
          <a:xfrm>
            <a:off x="6858000" y="2487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table to Employee_Details.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09360" y="33741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92" dirty="0"/>
          </a:p>
        </p:txBody>
      </p:sp>
      <p:sp>
        <p:nvSpPr>
          <p:cNvPr id="28" name="Text 26"/>
          <p:cNvSpPr/>
          <p:nvPr/>
        </p:nvSpPr>
        <p:spPr>
          <a:xfrm>
            <a:off x="6858000" y="332841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one employee using DELETE.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309360" y="42153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92" dirty="0"/>
          </a:p>
        </p:txBody>
      </p:sp>
      <p:sp>
        <p:nvSpPr>
          <p:cNvPr id="31" name="Text 29"/>
          <p:cNvSpPr/>
          <p:nvPr/>
        </p:nvSpPr>
        <p:spPr>
          <a:xfrm>
            <a:off x="6858000" y="41696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all records using TRUNCATE.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09360" y="5056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92" dirty="0"/>
          </a:p>
        </p:txBody>
      </p:sp>
      <p:sp>
        <p:nvSpPr>
          <p:cNvPr id="34" name="Text 32"/>
          <p:cNvSpPr/>
          <p:nvPr/>
        </p:nvSpPr>
        <p:spPr>
          <a:xfrm>
            <a:off x="6858000" y="50109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entire table using DROP.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Foundations · Day 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01200" y="6537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16213E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sorted!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F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 Constraints — PRIMARY KEY, FOREIGN KEY, UNIQUE, CHECK and NOT NULL.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C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 ·  MODIFY  ·  CHANGE  ·  RENAME  ·  DROP  ·  DELETE  ·  TRUNCATE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Day 7 - ALTER TABLE &amp; Table Management</dc:title>
  <dc:subject>PptxGenJS Presentation</dc:subject>
  <dc:creator>Rupa</dc:creator>
  <cp:lastModifiedBy>Rupa</cp:lastModifiedBy>
  <cp:revision>1</cp:revision>
  <dcterms:created xsi:type="dcterms:W3CDTF">2026-08-04T15:26:07Z</dcterms:created>
  <dcterms:modified xsi:type="dcterms:W3CDTF">2026-08-04T15:26:07Z</dcterms:modified>
</cp:coreProperties>
</file>