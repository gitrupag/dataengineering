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1400" b="1" spc="300" kern="0" dirty="0">
                <a:solidFill>
                  <a:srgbClr val="9FD2E8"/>
                </a:solidFill>
                <a:latin typeface="Calibri" pitchFamily="34" charset="0"/>
                <a:ea typeface="Calibri" pitchFamily="34" charset="-122"/>
                <a:cs typeface="Calibri" pitchFamily="34" charset="-120"/>
              </a:rPr>
              <a:t>AYVAN ACADEMY  ·  SQL TRAINING</a:t>
            </a:r>
            <a:endParaRPr lang="en-US" sz="1400" dirty="0"/>
          </a:p>
        </p:txBody>
      </p:sp>
      <p:sp>
        <p:nvSpPr>
          <p:cNvPr id="3" name="Text 1"/>
          <p:cNvSpPr/>
          <p:nvPr/>
        </p:nvSpPr>
        <p:spPr>
          <a:xfrm>
            <a:off x="822960" y="1874520"/>
            <a:ext cx="10058400"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Normalization &amp; Database Keys</a:t>
            </a:r>
            <a:endParaRPr lang="en-US" sz="4600" dirty="0"/>
          </a:p>
        </p:txBody>
      </p:sp>
      <p:sp>
        <p:nvSpPr>
          <p:cNvPr id="4" name="Text 2"/>
          <p:cNvSpPr/>
          <p:nvPr/>
        </p:nvSpPr>
        <p:spPr>
          <a:xfrm>
            <a:off x="822960" y="3246120"/>
            <a:ext cx="9326880" cy="640080"/>
          </a:xfrm>
          <a:prstGeom prst="rect">
            <a:avLst/>
          </a:prstGeom>
          <a:noFill/>
          <a:ln/>
        </p:spPr>
        <p:txBody>
          <a:bodyPr wrap="square" lIns="0" tIns="0" rIns="0" bIns="0" rtlCol="0" anchor="ctr"/>
          <a:lstStyle/>
          <a:p>
            <a:pPr indent="0" marL="0">
              <a:buNone/>
            </a:pPr>
            <a:r>
              <a:rPr lang="en-US" sz="1600" i="1" dirty="0">
                <a:solidFill>
                  <a:srgbClr val="D6E9F0"/>
                </a:solidFill>
                <a:latin typeface="Calibri" pitchFamily="34" charset="0"/>
                <a:ea typeface="Calibri" pitchFamily="34" charset="-122"/>
                <a:cs typeface="Calibri" pitchFamily="34" charset="-120"/>
              </a:rPr>
              <a:t>From redundant tables to clean, related data — 1NF through 4NF, candidate keys, and BCNF</a:t>
            </a:r>
            <a:endParaRPr lang="en-US" sz="1600" dirty="0"/>
          </a:p>
        </p:txBody>
      </p:sp>
      <p:sp>
        <p:nvSpPr>
          <p:cNvPr id="5" name="Shape 3"/>
          <p:cNvSpPr/>
          <p:nvPr/>
        </p:nvSpPr>
        <p:spPr>
          <a:xfrm>
            <a:off x="9692640" y="1554480"/>
            <a:ext cx="1828800" cy="1188720"/>
          </a:xfrm>
          <a:prstGeom prst="roundRect">
            <a:avLst>
              <a:gd name="adj" fmla="val 5385"/>
            </a:avLst>
          </a:prstGeom>
          <a:solidFill>
            <a:srgbClr val="0B4A66"/>
          </a:solidFill>
          <a:ln w="12700">
            <a:solidFill>
              <a:srgbClr val="3D8FB0"/>
            </a:solidFill>
            <a:prstDash val="solid"/>
          </a:ln>
        </p:spPr>
      </p:sp>
      <p:sp>
        <p:nvSpPr>
          <p:cNvPr id="6" name="Shape 4"/>
          <p:cNvSpPr/>
          <p:nvPr/>
        </p:nvSpPr>
        <p:spPr>
          <a:xfrm>
            <a:off x="9829800" y="1828800"/>
            <a:ext cx="1554480" cy="0"/>
          </a:xfrm>
          <a:prstGeom prst="line">
            <a:avLst/>
          </a:prstGeom>
          <a:noFill/>
          <a:ln w="12700">
            <a:solidFill>
              <a:srgbClr val="3D8FB0"/>
            </a:solidFill>
            <a:prstDash val="solid"/>
          </a:ln>
        </p:spPr>
      </p:sp>
      <p:sp>
        <p:nvSpPr>
          <p:cNvPr id="7" name="Shape 5"/>
          <p:cNvSpPr/>
          <p:nvPr/>
        </p:nvSpPr>
        <p:spPr>
          <a:xfrm>
            <a:off x="9829800" y="2103120"/>
            <a:ext cx="1554480" cy="0"/>
          </a:xfrm>
          <a:prstGeom prst="line">
            <a:avLst/>
          </a:prstGeom>
          <a:noFill/>
          <a:ln w="12700">
            <a:solidFill>
              <a:srgbClr val="3D8FB0"/>
            </a:solidFill>
            <a:prstDash val="solid"/>
          </a:ln>
        </p:spPr>
      </p:sp>
      <p:sp>
        <p:nvSpPr>
          <p:cNvPr id="8" name="Shape 6"/>
          <p:cNvSpPr/>
          <p:nvPr/>
        </p:nvSpPr>
        <p:spPr>
          <a:xfrm>
            <a:off x="9829800" y="2377440"/>
            <a:ext cx="1554480" cy="0"/>
          </a:xfrm>
          <a:prstGeom prst="line">
            <a:avLst/>
          </a:prstGeom>
          <a:noFill/>
          <a:ln w="12700">
            <a:solidFill>
              <a:srgbClr val="3D8FB0"/>
            </a:solidFill>
            <a:prstDash val="solid"/>
          </a:ln>
        </p:spPr>
      </p:sp>
      <p:sp>
        <p:nvSpPr>
          <p:cNvPr id="9" name="Shape 7"/>
          <p:cNvSpPr/>
          <p:nvPr/>
        </p:nvSpPr>
        <p:spPr>
          <a:xfrm>
            <a:off x="10479024" y="2880360"/>
            <a:ext cx="256032" cy="365760"/>
          </a:xfrm>
          <a:prstGeom prst="downArrow">
            <a:avLst/>
          </a:prstGeom>
          <a:solidFill>
            <a:srgbClr val="9FD2E8"/>
          </a:solidFill>
          <a:ln/>
        </p:spPr>
      </p:sp>
      <p:sp>
        <p:nvSpPr>
          <p:cNvPr id="10" name="Shape 8"/>
          <p:cNvSpPr/>
          <p:nvPr/>
        </p:nvSpPr>
        <p:spPr>
          <a:xfrm>
            <a:off x="9189720" y="3383280"/>
            <a:ext cx="1280160" cy="914400"/>
          </a:xfrm>
          <a:prstGeom prst="roundRect">
            <a:avLst>
              <a:gd name="adj" fmla="val 6000"/>
            </a:avLst>
          </a:prstGeom>
          <a:solidFill>
            <a:srgbClr val="10608A"/>
          </a:solidFill>
          <a:ln w="12700">
            <a:solidFill>
              <a:srgbClr val="3D8FB0"/>
            </a:solidFill>
            <a:prstDash val="solid"/>
          </a:ln>
        </p:spPr>
      </p:sp>
      <p:sp>
        <p:nvSpPr>
          <p:cNvPr id="11" name="Shape 9"/>
          <p:cNvSpPr/>
          <p:nvPr/>
        </p:nvSpPr>
        <p:spPr>
          <a:xfrm>
            <a:off x="10652760" y="3383280"/>
            <a:ext cx="1280160" cy="914400"/>
          </a:xfrm>
          <a:prstGeom prst="roundRect">
            <a:avLst>
              <a:gd name="adj" fmla="val 6000"/>
            </a:avLst>
          </a:prstGeom>
          <a:solidFill>
            <a:srgbClr val="10608A"/>
          </a:solidFill>
          <a:ln w="12700">
            <a:solidFill>
              <a:srgbClr val="3D8FB0"/>
            </a:solidFill>
            <a:prstDash val="solid"/>
          </a:ln>
        </p:spPr>
      </p:sp>
      <p:sp>
        <p:nvSpPr>
          <p:cNvPr id="12" name="Text 10"/>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Is Normalization?</a:t>
            </a:r>
            <a:endParaRPr lang="en-US" sz="3200" dirty="0"/>
          </a:p>
        </p:txBody>
      </p:sp>
      <p:sp>
        <p:nvSpPr>
          <p:cNvPr id="4" name="Text 2"/>
          <p:cNvSpPr/>
          <p:nvPr/>
        </p:nvSpPr>
        <p:spPr>
          <a:xfrm>
            <a:off x="548640" y="1463040"/>
            <a:ext cx="5486400" cy="10058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Organizing data into related tables instead of one large table — to cut down repeated data and keep it consistent.</a:t>
            </a:r>
            <a:endParaRPr lang="en-US" sz="1500" dirty="0"/>
          </a:p>
        </p:txBody>
      </p:sp>
      <p:sp>
        <p:nvSpPr>
          <p:cNvPr id="5" name="Shape 3"/>
          <p:cNvSpPr/>
          <p:nvPr/>
        </p:nvSpPr>
        <p:spPr>
          <a:xfrm>
            <a:off x="548640" y="2606040"/>
            <a:ext cx="384048" cy="384048"/>
          </a:xfrm>
          <a:prstGeom prst="ellipse">
            <a:avLst/>
          </a:prstGeom>
          <a:solidFill>
            <a:srgbClr val="1C7293"/>
          </a:solidFill>
          <a:ln/>
        </p:spPr>
      </p:sp>
      <p:sp>
        <p:nvSpPr>
          <p:cNvPr id="6" name="Text 4"/>
          <p:cNvSpPr/>
          <p:nvPr/>
        </p:nvSpPr>
        <p:spPr>
          <a:xfrm>
            <a:off x="548640" y="2606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097280" y="2606040"/>
            <a:ext cx="4937760" cy="384048"/>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Reduce duplicate data</a:t>
            </a:r>
            <a:endParaRPr lang="en-US" sz="1400" dirty="0"/>
          </a:p>
        </p:txBody>
      </p:sp>
      <p:sp>
        <p:nvSpPr>
          <p:cNvPr id="8" name="Shape 6"/>
          <p:cNvSpPr/>
          <p:nvPr/>
        </p:nvSpPr>
        <p:spPr>
          <a:xfrm>
            <a:off x="548640" y="3136392"/>
            <a:ext cx="384048" cy="384048"/>
          </a:xfrm>
          <a:prstGeom prst="ellipse">
            <a:avLst/>
          </a:prstGeom>
          <a:solidFill>
            <a:srgbClr val="1C7293"/>
          </a:solidFill>
          <a:ln/>
        </p:spPr>
      </p:sp>
      <p:sp>
        <p:nvSpPr>
          <p:cNvPr id="9" name="Text 7"/>
          <p:cNvSpPr/>
          <p:nvPr/>
        </p:nvSpPr>
        <p:spPr>
          <a:xfrm>
            <a:off x="548640" y="31363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097280" y="3136392"/>
            <a:ext cx="4937760" cy="384048"/>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Avoid inconsistent data</a:t>
            </a:r>
            <a:endParaRPr lang="en-US" sz="1400" dirty="0"/>
          </a:p>
        </p:txBody>
      </p:sp>
      <p:sp>
        <p:nvSpPr>
          <p:cNvPr id="11" name="Shape 9"/>
          <p:cNvSpPr/>
          <p:nvPr/>
        </p:nvSpPr>
        <p:spPr>
          <a:xfrm>
            <a:off x="548640" y="3666744"/>
            <a:ext cx="384048" cy="384048"/>
          </a:xfrm>
          <a:prstGeom prst="ellipse">
            <a:avLst/>
          </a:prstGeom>
          <a:solidFill>
            <a:srgbClr val="1C7293"/>
          </a:solidFill>
          <a:ln/>
        </p:spPr>
      </p:sp>
      <p:sp>
        <p:nvSpPr>
          <p:cNvPr id="12" name="Text 10"/>
          <p:cNvSpPr/>
          <p:nvPr/>
        </p:nvSpPr>
        <p:spPr>
          <a:xfrm>
            <a:off x="548640" y="36667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p:nvPr/>
        </p:nvSpPr>
        <p:spPr>
          <a:xfrm>
            <a:off x="1097280" y="3666744"/>
            <a:ext cx="4937760" cy="384048"/>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Make data easier to maintain</a:t>
            </a:r>
            <a:endParaRPr lang="en-US" sz="1400" dirty="0"/>
          </a:p>
        </p:txBody>
      </p:sp>
      <p:sp>
        <p:nvSpPr>
          <p:cNvPr id="14" name="Shape 12"/>
          <p:cNvSpPr/>
          <p:nvPr/>
        </p:nvSpPr>
        <p:spPr>
          <a:xfrm>
            <a:off x="548640" y="4197096"/>
            <a:ext cx="384048" cy="384048"/>
          </a:xfrm>
          <a:prstGeom prst="ellipse">
            <a:avLst/>
          </a:prstGeom>
          <a:solidFill>
            <a:srgbClr val="1C7293"/>
          </a:solidFill>
          <a:ln/>
        </p:spPr>
      </p:sp>
      <p:sp>
        <p:nvSpPr>
          <p:cNvPr id="15" name="Text 13"/>
          <p:cNvSpPr/>
          <p:nvPr/>
        </p:nvSpPr>
        <p:spPr>
          <a:xfrm>
            <a:off x="548640" y="4197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6" name="Text 14"/>
          <p:cNvSpPr/>
          <p:nvPr/>
        </p:nvSpPr>
        <p:spPr>
          <a:xfrm>
            <a:off x="1097280" y="4197096"/>
            <a:ext cx="4937760" cy="384048"/>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Improve data integrity</a:t>
            </a:r>
            <a:endParaRPr lang="en-US" sz="1400" dirty="0"/>
          </a:p>
        </p:txBody>
      </p:sp>
      <p:sp>
        <p:nvSpPr>
          <p:cNvPr id="17" name="Shape 15"/>
          <p:cNvSpPr/>
          <p:nvPr/>
        </p:nvSpPr>
        <p:spPr>
          <a:xfrm>
            <a:off x="548640" y="4727448"/>
            <a:ext cx="384048" cy="384048"/>
          </a:xfrm>
          <a:prstGeom prst="ellipse">
            <a:avLst/>
          </a:prstGeom>
          <a:solidFill>
            <a:srgbClr val="1C7293"/>
          </a:solidFill>
          <a:ln/>
        </p:spPr>
      </p:sp>
      <p:sp>
        <p:nvSpPr>
          <p:cNvPr id="18" name="Text 16"/>
          <p:cNvSpPr/>
          <p:nvPr/>
        </p:nvSpPr>
        <p:spPr>
          <a:xfrm>
            <a:off x="548640" y="47274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9" name="Text 17"/>
          <p:cNvSpPr/>
          <p:nvPr/>
        </p:nvSpPr>
        <p:spPr>
          <a:xfrm>
            <a:off x="1097280" y="4727448"/>
            <a:ext cx="4937760" cy="384048"/>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Build proper table relationships</a:t>
            </a:r>
            <a:endParaRPr lang="en-US" sz="1400" dirty="0"/>
          </a:p>
        </p:txBody>
      </p:sp>
      <p:sp>
        <p:nvSpPr>
          <p:cNvPr id="20" name="Shape 18"/>
          <p:cNvSpPr/>
          <p:nvPr/>
        </p:nvSpPr>
        <p:spPr>
          <a:xfrm>
            <a:off x="6766560" y="1508760"/>
            <a:ext cx="4846320" cy="960120"/>
          </a:xfrm>
          <a:prstGeom prst="roundRect">
            <a:avLst>
              <a:gd name="adj" fmla="val 5714"/>
            </a:avLst>
          </a:prstGeom>
          <a:solidFill>
            <a:srgbClr val="EAF3F6"/>
          </a:solidFill>
          <a:ln w="12700">
            <a:solidFill>
              <a:srgbClr val="1C7293"/>
            </a:solidFill>
            <a:prstDash val="solid"/>
          </a:ln>
        </p:spPr>
      </p:sp>
      <p:sp>
        <p:nvSpPr>
          <p:cNvPr id="21" name="Text 19"/>
          <p:cNvSpPr/>
          <p:nvPr/>
        </p:nvSpPr>
        <p:spPr>
          <a:xfrm>
            <a:off x="6766560" y="1508760"/>
            <a:ext cx="4846320" cy="365760"/>
          </a:xfrm>
          <a:prstGeom prst="rect">
            <a:avLst/>
          </a:prstGeom>
          <a:noFill/>
          <a:ln/>
        </p:spPr>
        <p:txBody>
          <a:bodyPr wrap="square" lIns="0" tIns="0" rIns="0" bIns="0" rtlCol="0" anchor="ctr"/>
          <a:lstStyle/>
          <a:p>
            <a:pPr algn="ctr" indent="0" marL="0">
              <a:buNone/>
            </a:pPr>
            <a:r>
              <a:rPr lang="en-US" sz="1100" b="1" dirty="0">
                <a:solidFill>
                  <a:srgbClr val="51707C"/>
                </a:solidFill>
                <a:latin typeface="Calibri" pitchFamily="34" charset="0"/>
                <a:ea typeface="Calibri" pitchFamily="34" charset="-122"/>
                <a:cs typeface="Calibri" pitchFamily="34" charset="-120"/>
              </a:rPr>
              <a:t>ONE LARGE TABLE</a:t>
            </a:r>
            <a:endParaRPr lang="en-US" sz="1100" dirty="0"/>
          </a:p>
        </p:txBody>
      </p:sp>
      <p:sp>
        <p:nvSpPr>
          <p:cNvPr id="22" name="Text 20"/>
          <p:cNvSpPr/>
          <p:nvPr/>
        </p:nvSpPr>
        <p:spPr>
          <a:xfrm>
            <a:off x="6766560" y="1874520"/>
            <a:ext cx="4846320" cy="502920"/>
          </a:xfrm>
          <a:prstGeom prst="rect">
            <a:avLst/>
          </a:prstGeom>
          <a:noFill/>
          <a:ln/>
        </p:spPr>
        <p:txBody>
          <a:bodyPr wrap="square" lIns="0" tIns="0" rIns="0" bIns="0" rtlCol="0" anchor="ctr"/>
          <a:lstStyle/>
          <a:p>
            <a:pPr algn="ctr" indent="0" marL="0">
              <a:buNone/>
            </a:pPr>
            <a:r>
              <a:rPr lang="en-US" sz="1300" dirty="0">
                <a:solidFill>
                  <a:srgbClr val="17222A"/>
                </a:solidFill>
                <a:latin typeface="Calibri" pitchFamily="34" charset="0"/>
                <a:ea typeface="Calibri" pitchFamily="34" charset="-122"/>
                <a:cs typeface="Calibri" pitchFamily="34" charset="-120"/>
              </a:rPr>
              <a:t>Everything mixed together</a:t>
            </a:r>
            <a:endParaRPr lang="en-US" sz="1300" dirty="0"/>
          </a:p>
        </p:txBody>
      </p:sp>
      <p:sp>
        <p:nvSpPr>
          <p:cNvPr id="23" name="Shape 21"/>
          <p:cNvSpPr/>
          <p:nvPr/>
        </p:nvSpPr>
        <p:spPr>
          <a:xfrm>
            <a:off x="9052560" y="2578608"/>
            <a:ext cx="256032" cy="365760"/>
          </a:xfrm>
          <a:prstGeom prst="downArrow">
            <a:avLst/>
          </a:prstGeom>
          <a:solidFill>
            <a:srgbClr val="1C7293"/>
          </a:solidFill>
          <a:ln/>
        </p:spPr>
      </p:sp>
      <p:sp>
        <p:nvSpPr>
          <p:cNvPr id="24" name="Shape 22"/>
          <p:cNvSpPr/>
          <p:nvPr/>
        </p:nvSpPr>
        <p:spPr>
          <a:xfrm>
            <a:off x="6766560" y="3063240"/>
            <a:ext cx="1463040" cy="822960"/>
          </a:xfrm>
          <a:prstGeom prst="roundRect">
            <a:avLst>
              <a:gd name="adj" fmla="val 6667"/>
            </a:avLst>
          </a:prstGeom>
          <a:solidFill>
            <a:srgbClr val="065A82"/>
          </a:solidFill>
          <a:ln/>
        </p:spPr>
      </p:sp>
      <p:sp>
        <p:nvSpPr>
          <p:cNvPr id="25" name="Text 23"/>
          <p:cNvSpPr/>
          <p:nvPr/>
        </p:nvSpPr>
        <p:spPr>
          <a:xfrm>
            <a:off x="6766560" y="3063240"/>
            <a:ext cx="146304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Student</a:t>
            </a:r>
            <a:endParaRPr lang="en-US" sz="1300" dirty="0"/>
          </a:p>
        </p:txBody>
      </p:sp>
      <p:sp>
        <p:nvSpPr>
          <p:cNvPr id="26" name="Shape 24"/>
          <p:cNvSpPr/>
          <p:nvPr/>
        </p:nvSpPr>
        <p:spPr>
          <a:xfrm>
            <a:off x="8366760" y="3063240"/>
            <a:ext cx="1463040" cy="822960"/>
          </a:xfrm>
          <a:prstGeom prst="roundRect">
            <a:avLst>
              <a:gd name="adj" fmla="val 6667"/>
            </a:avLst>
          </a:prstGeom>
          <a:solidFill>
            <a:srgbClr val="065A82"/>
          </a:solidFill>
          <a:ln/>
        </p:spPr>
      </p:sp>
      <p:sp>
        <p:nvSpPr>
          <p:cNvPr id="27" name="Text 25"/>
          <p:cNvSpPr/>
          <p:nvPr/>
        </p:nvSpPr>
        <p:spPr>
          <a:xfrm>
            <a:off x="8366760" y="3063240"/>
            <a:ext cx="146304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Course</a:t>
            </a:r>
            <a:endParaRPr lang="en-US" sz="1300" dirty="0"/>
          </a:p>
        </p:txBody>
      </p:sp>
      <p:sp>
        <p:nvSpPr>
          <p:cNvPr id="28" name="Shape 26"/>
          <p:cNvSpPr/>
          <p:nvPr/>
        </p:nvSpPr>
        <p:spPr>
          <a:xfrm>
            <a:off x="9966960" y="3063240"/>
            <a:ext cx="1463040" cy="822960"/>
          </a:xfrm>
          <a:prstGeom prst="roundRect">
            <a:avLst>
              <a:gd name="adj" fmla="val 6667"/>
            </a:avLst>
          </a:prstGeom>
          <a:solidFill>
            <a:srgbClr val="065A82"/>
          </a:solidFill>
          <a:ln/>
        </p:spPr>
      </p:sp>
      <p:sp>
        <p:nvSpPr>
          <p:cNvPr id="29" name="Text 27"/>
          <p:cNvSpPr/>
          <p:nvPr/>
        </p:nvSpPr>
        <p:spPr>
          <a:xfrm>
            <a:off x="9966960" y="3063240"/>
            <a:ext cx="146304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Instructor</a:t>
            </a:r>
            <a:endParaRPr lang="en-US" sz="1300" dirty="0"/>
          </a:p>
        </p:txBody>
      </p:sp>
      <p:sp>
        <p:nvSpPr>
          <p:cNvPr id="30" name="Text 28"/>
          <p:cNvSpPr/>
          <p:nvPr/>
        </p:nvSpPr>
        <p:spPr>
          <a:xfrm>
            <a:off x="6766560" y="4023360"/>
            <a:ext cx="4846320" cy="320040"/>
          </a:xfrm>
          <a:prstGeom prst="rect">
            <a:avLst/>
          </a:prstGeom>
          <a:noFill/>
          <a:ln/>
        </p:spPr>
        <p:txBody>
          <a:bodyPr wrap="square" lIns="0" tIns="0" rIns="0" bIns="0" rtlCol="0" anchor="ctr"/>
          <a:lstStyle/>
          <a:p>
            <a:pPr algn="ctr" indent="0" marL="0">
              <a:buNone/>
            </a:pPr>
            <a:r>
              <a:rPr lang="en-US" sz="1200" i="1" dirty="0">
                <a:solidFill>
                  <a:srgbClr val="51707C"/>
                </a:solidFill>
                <a:latin typeface="Calibri" pitchFamily="34" charset="0"/>
                <a:ea typeface="Calibri" pitchFamily="34" charset="-122"/>
                <a:cs typeface="Calibri" pitchFamily="34" charset="-120"/>
              </a:rPr>
              <a:t>Related, focused tables</a:t>
            </a:r>
            <a:endParaRPr lang="en-US" sz="1200" dirty="0"/>
          </a:p>
        </p:txBody>
      </p:sp>
      <p:sp>
        <p:nvSpPr>
          <p:cNvPr id="31" name="Shape 29"/>
          <p:cNvSpPr/>
          <p:nvPr/>
        </p:nvSpPr>
        <p:spPr>
          <a:xfrm>
            <a:off x="548640" y="5074920"/>
            <a:ext cx="11064240" cy="1051560"/>
          </a:xfrm>
          <a:prstGeom prst="roundRect">
            <a:avLst>
              <a:gd name="adj" fmla="val 6957"/>
            </a:avLst>
          </a:prstGeom>
          <a:solidFill>
            <a:srgbClr val="21295C"/>
          </a:solidFill>
          <a:ln/>
        </p:spPr>
      </p:sp>
      <p:sp>
        <p:nvSpPr>
          <p:cNvPr id="32" name="Text 30"/>
          <p:cNvSpPr/>
          <p:nvPr/>
        </p:nvSpPr>
        <p:spPr>
          <a:xfrm>
            <a:off x="914400" y="5074920"/>
            <a:ext cx="10332720" cy="10515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In simple words: split data into appropriate related tables instead of storing everything in one big table.</a:t>
            </a:r>
            <a:endParaRPr lang="en-US" sz="1500" dirty="0"/>
          </a:p>
        </p:txBody>
      </p:sp>
      <p:sp>
        <p:nvSpPr>
          <p:cNvPr id="33" name="Text 31"/>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Why Do We Need Normalization?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400800" cy="2194560"/>
        </p:xfrm>
        <a:graphic>
          <a:graphicData uri="http://schemas.openxmlformats.org/drawingml/2006/table">
            <a:tbl>
              <a:tblPr/>
              <a:tblGrid>
                <a:gridCol w="1600200"/>
                <a:gridCol w="1600200"/>
                <a:gridCol w="1600200"/>
                <a:gridCol w="160020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student</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course</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instructor</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phone</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r>
              <a:tr h="438912">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Rahul</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Java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Kumar</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9876543210</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438912">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Priya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Java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B7472A"/>
                          </a:solidFill>
                          <a:latin typeface="Calibri" pitchFamily="34" charset="0"/>
                          <a:ea typeface="Calibri" pitchFamily="34" charset="-122"/>
                          <a:cs typeface="Calibri" pitchFamily="34" charset="-120"/>
                        </a:rPr>
                        <a:t>Kumar</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c>
                  <a:txBody>
                    <a:bodyPr/>
                    <a:lstStyle/>
                    <a:p>
                      <a:pPr indent="0" marL="0">
                        <a:buNone/>
                      </a:pPr>
                      <a:r>
                        <a:rPr lang="en-US" sz="1300" b="1" dirty="0">
                          <a:solidFill>
                            <a:srgbClr val="B7472A"/>
                          </a:solidFill>
                          <a:latin typeface="Calibri" pitchFamily="34" charset="0"/>
                          <a:ea typeface="Calibri" pitchFamily="34" charset="-122"/>
                          <a:cs typeface="Calibri" pitchFamily="34" charset="-120"/>
                        </a:rPr>
                        <a:t>9876543210</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r>
              <a:tr h="438912">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Anjali</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Python</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Ravi</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9123456780</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438912">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Kiran</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Java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B7472A"/>
                          </a:solidFill>
                          <a:latin typeface="Calibri" pitchFamily="34" charset="0"/>
                          <a:ea typeface="Calibri" pitchFamily="34" charset="-122"/>
                          <a:cs typeface="Calibri" pitchFamily="34" charset="-120"/>
                        </a:rPr>
                        <a:t>Kumar</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c>
                  <a:txBody>
                    <a:bodyPr/>
                    <a:lstStyle/>
                    <a:p>
                      <a:pPr indent="0" marL="0">
                        <a:buNone/>
                      </a:pPr>
                      <a:r>
                        <a:rPr lang="en-US" sz="1300" b="1" dirty="0">
                          <a:solidFill>
                            <a:srgbClr val="B7472A"/>
                          </a:solidFill>
                          <a:latin typeface="Calibri" pitchFamily="34" charset="0"/>
                          <a:ea typeface="Calibri" pitchFamily="34" charset="-122"/>
                          <a:cs typeface="Calibri" pitchFamily="34" charset="-120"/>
                        </a:rPr>
                        <a:t>9876543210</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r>
            </a:tbl>
          </a:graphicData>
        </a:graphic>
      </p:graphicFrame>
      <p:sp>
        <p:nvSpPr>
          <p:cNvPr id="5" name="Text 2"/>
          <p:cNvSpPr/>
          <p:nvPr/>
        </p:nvSpPr>
        <p:spPr>
          <a:xfrm>
            <a:off x="548640" y="3840480"/>
            <a:ext cx="6400800" cy="457200"/>
          </a:xfrm>
          <a:prstGeom prst="rect">
            <a:avLst/>
          </a:prstGeom>
          <a:noFill/>
          <a:ln/>
        </p:spPr>
        <p:txBody>
          <a:bodyPr wrap="square" lIns="0" tIns="0" rIns="0" bIns="0" rtlCol="0" anchor="ctr"/>
          <a:lstStyle/>
          <a:p>
            <a:pPr indent="0" marL="0">
              <a:buNone/>
            </a:pPr>
            <a:r>
              <a:rPr lang="en-US" sz="1300" i="1" dirty="0">
                <a:solidFill>
                  <a:srgbClr val="B7472A"/>
                </a:solidFill>
                <a:latin typeface="Calibri" pitchFamily="34" charset="0"/>
                <a:ea typeface="Calibri" pitchFamily="34" charset="-122"/>
                <a:cs typeface="Calibri" pitchFamily="34" charset="-120"/>
              </a:rPr>
              <a:t>"Kumar / 9876543210" repeats across rows — that's data redundancy.</a:t>
            </a:r>
            <a:endParaRPr lang="en-US" sz="1300" dirty="0"/>
          </a:p>
        </p:txBody>
      </p:sp>
      <p:sp>
        <p:nvSpPr>
          <p:cNvPr id="6" name="Shape 3"/>
          <p:cNvSpPr/>
          <p:nvPr/>
        </p:nvSpPr>
        <p:spPr>
          <a:xfrm>
            <a:off x="7315200" y="1508760"/>
            <a:ext cx="4297680" cy="2606040"/>
          </a:xfrm>
          <a:prstGeom prst="roundRect">
            <a:avLst>
              <a:gd name="adj" fmla="val 2807"/>
            </a:avLst>
          </a:prstGeom>
          <a:solidFill>
            <a:srgbClr val="F5F0EC"/>
          </a:solidFill>
          <a:ln w="12700">
            <a:solidFill>
              <a:srgbClr val="B7472A"/>
            </a:solidFill>
            <a:prstDash val="solid"/>
          </a:ln>
        </p:spPr>
      </p:sp>
      <p:sp>
        <p:nvSpPr>
          <p:cNvPr id="7" name="Text 4"/>
          <p:cNvSpPr/>
          <p:nvPr/>
        </p:nvSpPr>
        <p:spPr>
          <a:xfrm>
            <a:off x="7589520" y="1691640"/>
            <a:ext cx="3749040"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If Kumar changes his number...</a:t>
            </a:r>
            <a:endParaRPr lang="en-US" sz="1300" dirty="0"/>
          </a:p>
        </p:txBody>
      </p:sp>
      <p:sp>
        <p:nvSpPr>
          <p:cNvPr id="8" name="Text 5"/>
          <p:cNvSpPr/>
          <p:nvPr/>
        </p:nvSpPr>
        <p:spPr>
          <a:xfrm>
            <a:off x="7589520" y="2057400"/>
            <a:ext cx="3749040" cy="365760"/>
          </a:xfrm>
          <a:prstGeom prst="rect">
            <a:avLst/>
          </a:prstGeom>
          <a:noFill/>
          <a:ln/>
        </p:spPr>
        <p:txBody>
          <a:bodyPr wrap="square" lIns="0" tIns="0" rIns="0" bIns="0" rtlCol="0" anchor="ctr"/>
          <a:lstStyle/>
          <a:p>
            <a:pPr indent="0" marL="0">
              <a:buNone/>
            </a:pPr>
            <a:r>
              <a:rPr lang="en-US" sz="1300" dirty="0">
                <a:solidFill>
                  <a:srgbClr val="17222A"/>
                </a:solidFill>
                <a:latin typeface="Calibri" pitchFamily="34" charset="0"/>
                <a:ea typeface="Calibri" pitchFamily="34" charset="-122"/>
                <a:cs typeface="Calibri" pitchFamily="34" charset="-120"/>
              </a:rPr>
              <a:t>We must update every row that has it.</a:t>
            </a:r>
            <a:endParaRPr lang="en-US" sz="1300" dirty="0"/>
          </a:p>
        </p:txBody>
      </p:sp>
      <p:sp>
        <p:nvSpPr>
          <p:cNvPr id="9" name="Text 6"/>
          <p:cNvSpPr/>
          <p:nvPr/>
        </p:nvSpPr>
        <p:spPr>
          <a:xfrm>
            <a:off x="7589520" y="2514600"/>
            <a:ext cx="3749040" cy="320040"/>
          </a:xfrm>
          <a:prstGeom prst="rect">
            <a:avLst/>
          </a:prstGeom>
          <a:noFill/>
          <a:ln/>
        </p:spPr>
        <p:txBody>
          <a:bodyPr wrap="square" lIns="0" tIns="0" rIns="0" bIns="0" rtlCol="0" anchor="ctr"/>
          <a:lstStyle/>
          <a:p>
            <a:pPr indent="0" marL="0">
              <a:buNone/>
            </a:pPr>
            <a:r>
              <a:rPr lang="en-US" sz="1200" dirty="0">
                <a:solidFill>
                  <a:srgbClr val="1B7A63"/>
                </a:solidFill>
                <a:latin typeface="Calibri" pitchFamily="34" charset="0"/>
                <a:ea typeface="Calibri" pitchFamily="34" charset="-122"/>
                <a:cs typeface="Calibri" pitchFamily="34" charset="-120"/>
              </a:rPr>
              <a:t>Update row 1  →  9999999999</a:t>
            </a:r>
            <a:endParaRPr lang="en-US" sz="1200" dirty="0"/>
          </a:p>
        </p:txBody>
      </p:sp>
      <p:sp>
        <p:nvSpPr>
          <p:cNvPr id="10" name="Text 7"/>
          <p:cNvSpPr/>
          <p:nvPr/>
        </p:nvSpPr>
        <p:spPr>
          <a:xfrm>
            <a:off x="7589520" y="2834640"/>
            <a:ext cx="3749040" cy="320040"/>
          </a:xfrm>
          <a:prstGeom prst="rect">
            <a:avLst/>
          </a:prstGeom>
          <a:noFill/>
          <a:ln/>
        </p:spPr>
        <p:txBody>
          <a:bodyPr wrap="square" lIns="0" tIns="0" rIns="0" bIns="0" rtlCol="0" anchor="ctr"/>
          <a:lstStyle/>
          <a:p>
            <a:pPr indent="0" marL="0">
              <a:buNone/>
            </a:pPr>
            <a:r>
              <a:rPr lang="en-US" sz="1200" dirty="0">
                <a:solidFill>
                  <a:srgbClr val="B7472A"/>
                </a:solidFill>
                <a:latin typeface="Calibri" pitchFamily="34" charset="0"/>
                <a:ea typeface="Calibri" pitchFamily="34" charset="-122"/>
                <a:cs typeface="Calibri" pitchFamily="34" charset="-120"/>
              </a:rPr>
              <a:t>Forget row 3  →  9876543210</a:t>
            </a:r>
            <a:endParaRPr lang="en-US" sz="1200" dirty="0"/>
          </a:p>
        </p:txBody>
      </p:sp>
      <p:sp>
        <p:nvSpPr>
          <p:cNvPr id="11" name="Shape 8"/>
          <p:cNvSpPr/>
          <p:nvPr/>
        </p:nvSpPr>
        <p:spPr>
          <a:xfrm>
            <a:off x="7589520" y="3246120"/>
            <a:ext cx="3749040" cy="0"/>
          </a:xfrm>
          <a:prstGeom prst="line">
            <a:avLst/>
          </a:prstGeom>
          <a:noFill/>
          <a:ln w="12700">
            <a:solidFill>
              <a:srgbClr val="D9B7A8"/>
            </a:solidFill>
            <a:prstDash val="dash"/>
          </a:ln>
        </p:spPr>
      </p:sp>
      <p:sp>
        <p:nvSpPr>
          <p:cNvPr id="12" name="Text 9"/>
          <p:cNvSpPr/>
          <p:nvPr/>
        </p:nvSpPr>
        <p:spPr>
          <a:xfrm>
            <a:off x="7589520" y="3383280"/>
            <a:ext cx="3749040" cy="640080"/>
          </a:xfrm>
          <a:prstGeom prst="rect">
            <a:avLst/>
          </a:prstGeom>
          <a:noFill/>
          <a:ln/>
        </p:spPr>
        <p:txBody>
          <a:bodyPr wrap="square" lIns="0" tIns="0" rIns="0" bIns="0" rtlCol="0" anchor="ctr"/>
          <a:lstStyle/>
          <a:p>
            <a:pPr indent="0" marL="0">
              <a:buNone/>
            </a:pPr>
            <a:r>
              <a:rPr lang="en-US" sz="1300" b="1" dirty="0">
                <a:solidFill>
                  <a:srgbClr val="B7472A"/>
                </a:solidFill>
                <a:latin typeface="Calibri" pitchFamily="34" charset="0"/>
                <a:ea typeface="Calibri" pitchFamily="34" charset="-122"/>
                <a:cs typeface="Calibri" pitchFamily="34" charset="-120"/>
              </a:rPr>
              <a:t>Result: two different phone numbers for the same instructor — inconsistent data.</a:t>
            </a:r>
            <a:endParaRPr lang="en-US" sz="1300" dirty="0"/>
          </a:p>
        </p:txBody>
      </p:sp>
      <p:sp>
        <p:nvSpPr>
          <p:cNvPr id="13" name="Shape 10"/>
          <p:cNvSpPr/>
          <p:nvPr/>
        </p:nvSpPr>
        <p:spPr>
          <a:xfrm>
            <a:off x="548640" y="4937760"/>
            <a:ext cx="11064240" cy="1188720"/>
          </a:xfrm>
          <a:prstGeom prst="roundRect">
            <a:avLst>
              <a:gd name="adj" fmla="val 6154"/>
            </a:avLst>
          </a:prstGeom>
          <a:solidFill>
            <a:srgbClr val="065A82"/>
          </a:solidFill>
          <a:ln/>
        </p:spPr>
      </p:sp>
      <p:sp>
        <p:nvSpPr>
          <p:cNvPr id="14" name="Text 11"/>
          <p:cNvSpPr/>
          <p:nvPr/>
        </p:nvSpPr>
        <p:spPr>
          <a:xfrm>
            <a:off x="914400" y="4937760"/>
            <a:ext cx="10332720" cy="11887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Normalization solves this by storing each fact — like an instructor's phone number — in exactly one place.</a:t>
            </a:r>
            <a:endParaRPr lang="en-US" sz="1600" dirty="0"/>
          </a:p>
        </p:txBody>
      </p:sp>
      <p:sp>
        <p:nvSpPr>
          <p:cNvPr id="15" name="Text 12"/>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Three Problems of Poor Design</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500" dirty="0">
                <a:solidFill>
                  <a:srgbClr val="51707C"/>
                </a:solidFill>
                <a:latin typeface="Calibri" pitchFamily="34" charset="0"/>
                <a:ea typeface="Calibri" pitchFamily="34" charset="-122"/>
                <a:cs typeface="Calibri" pitchFamily="34" charset="-120"/>
              </a:rPr>
              <a:t>These are called data anomalies — students should understand them before learning normal forms.</a:t>
            </a:r>
            <a:endParaRPr lang="en-US" sz="1500" dirty="0"/>
          </a:p>
        </p:txBody>
      </p:sp>
      <p:sp>
        <p:nvSpPr>
          <p:cNvPr id="5" name="Shape 3"/>
          <p:cNvSpPr/>
          <p:nvPr/>
        </p:nvSpPr>
        <p:spPr>
          <a:xfrm>
            <a:off x="548640" y="2148840"/>
            <a:ext cx="3520440" cy="3566160"/>
          </a:xfrm>
          <a:prstGeom prst="roundRect">
            <a:avLst>
              <a:gd name="adj" fmla="val 2597"/>
            </a:avLst>
          </a:prstGeom>
          <a:solidFill>
            <a:srgbClr val="FFFFFF"/>
          </a:solidFill>
          <a:ln w="15875">
            <a:solidFill>
              <a:srgbClr val="D5E3E8"/>
            </a:solidFill>
            <a:prstDash val="solid"/>
          </a:ln>
        </p:spPr>
      </p:sp>
      <p:sp>
        <p:nvSpPr>
          <p:cNvPr id="6" name="Shape 4"/>
          <p:cNvSpPr/>
          <p:nvPr/>
        </p:nvSpPr>
        <p:spPr>
          <a:xfrm>
            <a:off x="1897380" y="2468880"/>
            <a:ext cx="822960" cy="822960"/>
          </a:xfrm>
          <a:prstGeom prst="ellipse">
            <a:avLst/>
          </a:prstGeom>
          <a:solidFill>
            <a:srgbClr val="B7472A"/>
          </a:solidFill>
          <a:ln/>
        </p:spPr>
      </p:sp>
      <p:sp>
        <p:nvSpPr>
          <p:cNvPr id="7" name="Text 5"/>
          <p:cNvSpPr/>
          <p:nvPr/>
        </p:nvSpPr>
        <p:spPr>
          <a:xfrm>
            <a:off x="1897380" y="246888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t>
            </a:r>
            <a:endParaRPr lang="en-US" sz="3000" dirty="0"/>
          </a:p>
        </p:txBody>
      </p:sp>
      <p:sp>
        <p:nvSpPr>
          <p:cNvPr id="8" name="Text 6"/>
          <p:cNvSpPr/>
          <p:nvPr/>
        </p:nvSpPr>
        <p:spPr>
          <a:xfrm>
            <a:off x="731520" y="3520440"/>
            <a:ext cx="3154680" cy="41148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Insert Anomaly</a:t>
            </a:r>
            <a:endParaRPr lang="en-US" sz="1800" dirty="0"/>
          </a:p>
        </p:txBody>
      </p:sp>
      <p:sp>
        <p:nvSpPr>
          <p:cNvPr id="9" name="Text 7"/>
          <p:cNvSpPr/>
          <p:nvPr/>
        </p:nvSpPr>
        <p:spPr>
          <a:xfrm>
            <a:off x="868680" y="4069080"/>
            <a:ext cx="2880360" cy="1371600"/>
          </a:xfrm>
          <a:prstGeom prst="rect">
            <a:avLst/>
          </a:prstGeom>
          <a:noFill/>
          <a:ln/>
        </p:spPr>
        <p:txBody>
          <a:bodyPr wrap="square" lIns="0" tIns="0" rIns="0" bIns="0" rtlCol="0" anchor="ctr"/>
          <a:lstStyle/>
          <a:p>
            <a:pPr algn="ctr" indent="0" marL="0">
              <a:buNone/>
            </a:pPr>
            <a:r>
              <a:rPr lang="en-US" sz="1300" dirty="0">
                <a:solidFill>
                  <a:srgbClr val="17222A"/>
                </a:solidFill>
                <a:latin typeface="Calibri" pitchFamily="34" charset="0"/>
                <a:ea typeface="Calibri" pitchFamily="34" charset="-122"/>
                <a:cs typeface="Calibri" pitchFamily="34" charset="-120"/>
              </a:rPr>
              <a:t>Can't add some information without adding unrelated information too.</a:t>
            </a:r>
            <a:endParaRPr lang="en-US" sz="1300" dirty="0"/>
          </a:p>
        </p:txBody>
      </p:sp>
      <p:sp>
        <p:nvSpPr>
          <p:cNvPr id="10" name="Shape 8"/>
          <p:cNvSpPr/>
          <p:nvPr/>
        </p:nvSpPr>
        <p:spPr>
          <a:xfrm>
            <a:off x="4343400" y="2148840"/>
            <a:ext cx="3520440" cy="3566160"/>
          </a:xfrm>
          <a:prstGeom prst="roundRect">
            <a:avLst>
              <a:gd name="adj" fmla="val 2597"/>
            </a:avLst>
          </a:prstGeom>
          <a:solidFill>
            <a:srgbClr val="FFFFFF"/>
          </a:solidFill>
          <a:ln w="15875">
            <a:solidFill>
              <a:srgbClr val="D5E3E8"/>
            </a:solidFill>
            <a:prstDash val="solid"/>
          </a:ln>
        </p:spPr>
      </p:sp>
      <p:sp>
        <p:nvSpPr>
          <p:cNvPr id="11" name="Shape 9"/>
          <p:cNvSpPr/>
          <p:nvPr/>
        </p:nvSpPr>
        <p:spPr>
          <a:xfrm>
            <a:off x="5692140" y="2468880"/>
            <a:ext cx="822960" cy="822960"/>
          </a:xfrm>
          <a:prstGeom prst="ellipse">
            <a:avLst/>
          </a:prstGeom>
          <a:solidFill>
            <a:srgbClr val="B7472A"/>
          </a:solidFill>
          <a:ln/>
        </p:spPr>
      </p:sp>
      <p:sp>
        <p:nvSpPr>
          <p:cNvPr id="12" name="Text 10"/>
          <p:cNvSpPr/>
          <p:nvPr/>
        </p:nvSpPr>
        <p:spPr>
          <a:xfrm>
            <a:off x="5692140" y="246888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t>
            </a:r>
            <a:endParaRPr lang="en-US" sz="3000" dirty="0"/>
          </a:p>
        </p:txBody>
      </p:sp>
      <p:sp>
        <p:nvSpPr>
          <p:cNvPr id="13" name="Text 11"/>
          <p:cNvSpPr/>
          <p:nvPr/>
        </p:nvSpPr>
        <p:spPr>
          <a:xfrm>
            <a:off x="4526280" y="3520440"/>
            <a:ext cx="3154680" cy="41148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Update Anomaly</a:t>
            </a:r>
            <a:endParaRPr lang="en-US" sz="1800" dirty="0"/>
          </a:p>
        </p:txBody>
      </p:sp>
      <p:sp>
        <p:nvSpPr>
          <p:cNvPr id="14" name="Text 12"/>
          <p:cNvSpPr/>
          <p:nvPr/>
        </p:nvSpPr>
        <p:spPr>
          <a:xfrm>
            <a:off x="4663440" y="4069080"/>
            <a:ext cx="2880360" cy="1371600"/>
          </a:xfrm>
          <a:prstGeom prst="rect">
            <a:avLst/>
          </a:prstGeom>
          <a:noFill/>
          <a:ln/>
        </p:spPr>
        <p:txBody>
          <a:bodyPr wrap="square" lIns="0" tIns="0" rIns="0" bIns="0" rtlCol="0" anchor="ctr"/>
          <a:lstStyle/>
          <a:p>
            <a:pPr algn="ctr" indent="0" marL="0">
              <a:buNone/>
            </a:pPr>
            <a:r>
              <a:rPr lang="en-US" sz="1300" dirty="0">
                <a:solidFill>
                  <a:srgbClr val="17222A"/>
                </a:solidFill>
                <a:latin typeface="Calibri" pitchFamily="34" charset="0"/>
                <a:ea typeface="Calibri" pitchFamily="34" charset="-122"/>
                <a:cs typeface="Calibri" pitchFamily="34" charset="-120"/>
              </a:rPr>
              <a:t>The same fact is repeated, so changing it means updating many rows.</a:t>
            </a:r>
            <a:endParaRPr lang="en-US" sz="1300" dirty="0"/>
          </a:p>
        </p:txBody>
      </p:sp>
      <p:sp>
        <p:nvSpPr>
          <p:cNvPr id="15" name="Shape 13"/>
          <p:cNvSpPr/>
          <p:nvPr/>
        </p:nvSpPr>
        <p:spPr>
          <a:xfrm>
            <a:off x="8138160" y="2148840"/>
            <a:ext cx="3520440" cy="3566160"/>
          </a:xfrm>
          <a:prstGeom prst="roundRect">
            <a:avLst>
              <a:gd name="adj" fmla="val 2597"/>
            </a:avLst>
          </a:prstGeom>
          <a:solidFill>
            <a:srgbClr val="FFFFFF"/>
          </a:solidFill>
          <a:ln w="15875">
            <a:solidFill>
              <a:srgbClr val="D5E3E8"/>
            </a:solidFill>
            <a:prstDash val="solid"/>
          </a:ln>
        </p:spPr>
      </p:sp>
      <p:sp>
        <p:nvSpPr>
          <p:cNvPr id="16" name="Shape 14"/>
          <p:cNvSpPr/>
          <p:nvPr/>
        </p:nvSpPr>
        <p:spPr>
          <a:xfrm>
            <a:off x="9486900" y="2468880"/>
            <a:ext cx="822960" cy="822960"/>
          </a:xfrm>
          <a:prstGeom prst="ellipse">
            <a:avLst/>
          </a:prstGeom>
          <a:solidFill>
            <a:srgbClr val="B7472A"/>
          </a:solidFill>
          <a:ln/>
        </p:spPr>
      </p:sp>
      <p:sp>
        <p:nvSpPr>
          <p:cNvPr id="17" name="Text 15"/>
          <p:cNvSpPr/>
          <p:nvPr/>
        </p:nvSpPr>
        <p:spPr>
          <a:xfrm>
            <a:off x="9486900" y="246888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t>
            </a:r>
            <a:endParaRPr lang="en-US" sz="3000" dirty="0"/>
          </a:p>
        </p:txBody>
      </p:sp>
      <p:sp>
        <p:nvSpPr>
          <p:cNvPr id="18" name="Text 16"/>
          <p:cNvSpPr/>
          <p:nvPr/>
        </p:nvSpPr>
        <p:spPr>
          <a:xfrm>
            <a:off x="8321040" y="3520440"/>
            <a:ext cx="3154680" cy="41148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Delete Anomaly</a:t>
            </a:r>
            <a:endParaRPr lang="en-US" sz="1800" dirty="0"/>
          </a:p>
        </p:txBody>
      </p:sp>
      <p:sp>
        <p:nvSpPr>
          <p:cNvPr id="19" name="Text 17"/>
          <p:cNvSpPr/>
          <p:nvPr/>
        </p:nvSpPr>
        <p:spPr>
          <a:xfrm>
            <a:off x="8458200" y="4069080"/>
            <a:ext cx="2880360" cy="1371600"/>
          </a:xfrm>
          <a:prstGeom prst="rect">
            <a:avLst/>
          </a:prstGeom>
          <a:noFill/>
          <a:ln/>
        </p:spPr>
        <p:txBody>
          <a:bodyPr wrap="square" lIns="0" tIns="0" rIns="0" bIns="0" rtlCol="0" anchor="ctr"/>
          <a:lstStyle/>
          <a:p>
            <a:pPr algn="ctr" indent="0" marL="0">
              <a:buNone/>
            </a:pPr>
            <a:r>
              <a:rPr lang="en-US" sz="1300" dirty="0">
                <a:solidFill>
                  <a:srgbClr val="17222A"/>
                </a:solidFill>
                <a:latin typeface="Calibri" pitchFamily="34" charset="0"/>
                <a:ea typeface="Calibri" pitchFamily="34" charset="-122"/>
                <a:cs typeface="Calibri" pitchFamily="34" charset="-120"/>
              </a:rPr>
              <a:t>Deleting one record accidentally erases an unrelated fact.</a:t>
            </a:r>
            <a:endParaRPr lang="en-US" sz="1300" dirty="0"/>
          </a:p>
        </p:txBody>
      </p:sp>
      <p:sp>
        <p:nvSpPr>
          <p:cNvPr id="20" name="Text 18"/>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ANOMALIES · 1 OF 3</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Insert Anomaly</a:t>
            </a:r>
            <a:endParaRPr lang="en-US" sz="3200" dirty="0"/>
          </a:p>
        </p:txBody>
      </p:sp>
      <p:sp>
        <p:nvSpPr>
          <p:cNvPr id="4" name="Shape 2"/>
          <p:cNvSpPr/>
          <p:nvPr/>
        </p:nvSpPr>
        <p:spPr>
          <a:xfrm>
            <a:off x="548640" y="1417320"/>
            <a:ext cx="2377440" cy="365760"/>
          </a:xfrm>
          <a:prstGeom prst="roundRect">
            <a:avLst>
              <a:gd name="adj" fmla="val 20000"/>
            </a:avLst>
          </a:prstGeom>
          <a:solidFill>
            <a:srgbClr val="FBE4DA"/>
          </a:solidFill>
          <a:ln/>
        </p:spPr>
      </p:sp>
      <p:sp>
        <p:nvSpPr>
          <p:cNvPr id="5" name="Text 3"/>
          <p:cNvSpPr/>
          <p:nvPr/>
        </p:nvSpPr>
        <p:spPr>
          <a:xfrm>
            <a:off x="548640" y="1417320"/>
            <a:ext cx="2377440" cy="365760"/>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CAN'T INSERT ALONE</a:t>
            </a:r>
            <a:endParaRPr lang="en-US" sz="1200" dirty="0"/>
          </a:p>
        </p:txBody>
      </p:sp>
      <p:sp>
        <p:nvSpPr>
          <p:cNvPr id="6" name="Text 4"/>
          <p:cNvSpPr/>
          <p:nvPr/>
        </p:nvSpPr>
        <p:spPr>
          <a:xfrm>
            <a:off x="548640" y="1965960"/>
            <a:ext cx="5212080" cy="82296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We can't insert some information without inserting unrelated information.</a:t>
            </a:r>
            <a:endParaRPr lang="en-US" sz="1500" dirty="0"/>
          </a:p>
        </p:txBody>
      </p:sp>
      <p:sp>
        <p:nvSpPr>
          <p:cNvPr id="7" name="Text 5"/>
          <p:cNvSpPr/>
          <p:nvPr/>
        </p:nvSpPr>
        <p:spPr>
          <a:xfrm>
            <a:off x="548640" y="2743200"/>
            <a:ext cx="5212080" cy="1371600"/>
          </a:xfrm>
          <a:prstGeom prst="rect">
            <a:avLst/>
          </a:prstGeom>
          <a:noFill/>
          <a:ln/>
        </p:spPr>
        <p:txBody>
          <a:bodyPr wrap="square" lIns="0" tIns="0" rIns="0" bIns="0" rtlCol="0" anchor="ctr"/>
          <a:lstStyle/>
          <a:p>
            <a:pPr indent="0" marL="0">
              <a:buNone/>
            </a:pPr>
            <a:r>
              <a:rPr lang="en-US" sz="1350" dirty="0">
                <a:solidFill>
                  <a:srgbClr val="51707C"/>
                </a:solidFill>
                <a:latin typeface="Calibri" pitchFamily="34" charset="0"/>
                <a:ea typeface="Calibri" pitchFamily="34" charset="-122"/>
                <a:cs typeface="Calibri" pitchFamily="34" charset="-120"/>
              </a:rPr>
              <a:t>Example: a new course "Java" has no students enrolled yet. In a Student-centered table, there's no row to attach the course to — so it can't be stored properly.</a:t>
            </a:r>
            <a:endParaRPr lang="en-US" sz="1350" dirty="0"/>
          </a:p>
        </p:txBody>
      </p:sp>
      <p:sp>
        <p:nvSpPr>
          <p:cNvPr id="8" name="Shape 6"/>
          <p:cNvSpPr/>
          <p:nvPr/>
        </p:nvSpPr>
        <p:spPr>
          <a:xfrm>
            <a:off x="548640" y="4297680"/>
            <a:ext cx="5212080" cy="777240"/>
          </a:xfrm>
          <a:prstGeom prst="roundRect">
            <a:avLst>
              <a:gd name="adj" fmla="val 9412"/>
            </a:avLst>
          </a:prstGeom>
          <a:solidFill>
            <a:srgbClr val="F5F0EC"/>
          </a:solidFill>
          <a:ln w="12700">
            <a:solidFill>
              <a:srgbClr val="B7472A"/>
            </a:solidFill>
            <a:prstDash val="solid"/>
          </a:ln>
        </p:spPr>
      </p:sp>
      <p:sp>
        <p:nvSpPr>
          <p:cNvPr id="9" name="Text 7"/>
          <p:cNvSpPr/>
          <p:nvPr/>
        </p:nvSpPr>
        <p:spPr>
          <a:xfrm>
            <a:off x="822960" y="4297680"/>
            <a:ext cx="4663440" cy="777240"/>
          </a:xfrm>
          <a:prstGeom prst="rect">
            <a:avLst/>
          </a:prstGeom>
          <a:noFill/>
          <a:ln/>
        </p:spPr>
        <p:txBody>
          <a:bodyPr wrap="square" lIns="0" tIns="0" rIns="0" bIns="0" rtlCol="0" anchor="ctr"/>
          <a:lstStyle/>
          <a:p>
            <a:pPr indent="0" marL="0">
              <a:buNone/>
            </a:pPr>
            <a:r>
              <a:rPr lang="en-US" sz="1300" b="1" dirty="0">
                <a:solidFill>
                  <a:srgbClr val="B7472A"/>
                </a:solidFill>
                <a:latin typeface="Calibri" pitchFamily="34" charset="0"/>
                <a:ea typeface="Calibri" pitchFamily="34" charset="-122"/>
                <a:cs typeface="Calibri" pitchFamily="34" charset="-120"/>
              </a:rPr>
              <a:t>Problem: can't add a course unless a student exists.</a:t>
            </a:r>
            <a:endParaRPr lang="en-US" sz="1300" dirty="0"/>
          </a:p>
        </p:txBody>
      </p:sp>
      <p:sp>
        <p:nvSpPr>
          <p:cNvPr id="10" name="Shape 8"/>
          <p:cNvSpPr/>
          <p:nvPr/>
        </p:nvSpPr>
        <p:spPr>
          <a:xfrm>
            <a:off x="6309360" y="1554480"/>
            <a:ext cx="5303520" cy="1371600"/>
          </a:xfrm>
          <a:prstGeom prst="roundRect">
            <a:avLst>
              <a:gd name="adj" fmla="val 4667"/>
            </a:avLst>
          </a:prstGeom>
          <a:solidFill>
            <a:srgbClr val="EAF3F6"/>
          </a:solidFill>
          <a:ln w="12700">
            <a:solidFill>
              <a:srgbClr val="1C7293"/>
            </a:solidFill>
            <a:prstDash val="solid"/>
          </a:ln>
        </p:spPr>
      </p:sp>
      <p:sp>
        <p:nvSpPr>
          <p:cNvPr id="11" name="Text 9"/>
          <p:cNvSpPr/>
          <p:nvPr/>
        </p:nvSpPr>
        <p:spPr>
          <a:xfrm>
            <a:off x="6537960" y="1691640"/>
            <a:ext cx="4846320" cy="36576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Student  (student_id, name, course, instructor)</a:t>
            </a:r>
            <a:endParaRPr lang="en-US" sz="1200" dirty="0"/>
          </a:p>
        </p:txBody>
      </p:sp>
      <p:sp>
        <p:nvSpPr>
          <p:cNvPr id="12" name="Text 10"/>
          <p:cNvSpPr/>
          <p:nvPr/>
        </p:nvSpPr>
        <p:spPr>
          <a:xfrm>
            <a:off x="6537960" y="2148840"/>
            <a:ext cx="4846320" cy="640080"/>
          </a:xfrm>
          <a:prstGeom prst="rect">
            <a:avLst/>
          </a:prstGeom>
          <a:noFill/>
          <a:ln/>
        </p:spPr>
        <p:txBody>
          <a:bodyPr wrap="square" lIns="0" tIns="0" rIns="0" bIns="0" rtlCol="0" anchor="ctr"/>
          <a:lstStyle/>
          <a:p>
            <a:pPr indent="0" marL="0">
              <a:buNone/>
            </a:pPr>
            <a:r>
              <a:rPr lang="en-US" sz="1250" i="1" dirty="0">
                <a:solidFill>
                  <a:srgbClr val="B7472A"/>
                </a:solidFill>
                <a:latin typeface="Calibri" pitchFamily="34" charset="0"/>
                <a:ea typeface="Calibri" pitchFamily="34" charset="-122"/>
                <a:cs typeface="Calibri" pitchFamily="34" charset="-120"/>
              </a:rPr>
              <a:t>Java has no row to live in — nothing to insert.</a:t>
            </a:r>
            <a:endParaRPr lang="en-US" sz="1250" dirty="0"/>
          </a:p>
        </p:txBody>
      </p:sp>
      <p:sp>
        <p:nvSpPr>
          <p:cNvPr id="13" name="Shape 11"/>
          <p:cNvSpPr/>
          <p:nvPr/>
        </p:nvSpPr>
        <p:spPr>
          <a:xfrm>
            <a:off x="8823960" y="3063240"/>
            <a:ext cx="256032" cy="365760"/>
          </a:xfrm>
          <a:prstGeom prst="downArrow">
            <a:avLst/>
          </a:prstGeom>
          <a:solidFill>
            <a:srgbClr val="1B7A63"/>
          </a:solidFill>
          <a:ln/>
        </p:spPr>
      </p:sp>
      <p:sp>
        <p:nvSpPr>
          <p:cNvPr id="14" name="Shape 12"/>
          <p:cNvSpPr/>
          <p:nvPr/>
        </p:nvSpPr>
        <p:spPr>
          <a:xfrm>
            <a:off x="7315200" y="3520440"/>
            <a:ext cx="2651760" cy="320040"/>
          </a:xfrm>
          <a:prstGeom prst="roundRect">
            <a:avLst>
              <a:gd name="adj" fmla="val 22857"/>
            </a:avLst>
          </a:prstGeom>
          <a:solidFill>
            <a:srgbClr val="DCEEE8"/>
          </a:solidFill>
          <a:ln/>
        </p:spPr>
      </p:sp>
      <p:sp>
        <p:nvSpPr>
          <p:cNvPr id="15" name="Text 13"/>
          <p:cNvSpPr/>
          <p:nvPr/>
        </p:nvSpPr>
        <p:spPr>
          <a:xfrm>
            <a:off x="7315200" y="3520440"/>
            <a:ext cx="2651760" cy="320040"/>
          </a:xfrm>
          <a:prstGeom prst="rect">
            <a:avLst/>
          </a:prstGeom>
          <a:noFill/>
          <a:ln/>
        </p:spPr>
        <p:txBody>
          <a:bodyPr wrap="square" lIns="0" tIns="0" rIns="0" bIns="0" rtlCol="0" anchor="ctr"/>
          <a:lstStyle/>
          <a:p>
            <a:pPr algn="ctr" indent="0" marL="0">
              <a:buNone/>
            </a:pPr>
            <a:r>
              <a:rPr lang="en-US" sz="1200" b="1" dirty="0">
                <a:solidFill>
                  <a:srgbClr val="1B7A63"/>
                </a:solidFill>
                <a:latin typeface="Calibri" pitchFamily="34" charset="0"/>
                <a:ea typeface="Calibri" pitchFamily="34" charset="-122"/>
                <a:cs typeface="Calibri" pitchFamily="34" charset="-120"/>
              </a:rPr>
              <a:t>SEPARATE THE ENTITIES</a:t>
            </a:r>
            <a:endParaRPr lang="en-US" sz="1200" dirty="0"/>
          </a:p>
        </p:txBody>
      </p:sp>
      <p:sp>
        <p:nvSpPr>
          <p:cNvPr id="16" name="Shape 14"/>
          <p:cNvSpPr/>
          <p:nvPr/>
        </p:nvSpPr>
        <p:spPr>
          <a:xfrm>
            <a:off x="6309360" y="3977640"/>
            <a:ext cx="2514600" cy="914400"/>
          </a:xfrm>
          <a:prstGeom prst="roundRect">
            <a:avLst>
              <a:gd name="adj" fmla="val 6000"/>
            </a:avLst>
          </a:prstGeom>
          <a:solidFill>
            <a:srgbClr val="065A82"/>
          </a:solidFill>
          <a:ln/>
        </p:spPr>
      </p:sp>
      <p:sp>
        <p:nvSpPr>
          <p:cNvPr id="17" name="Text 15"/>
          <p:cNvSpPr/>
          <p:nvPr/>
        </p:nvSpPr>
        <p:spPr>
          <a:xfrm>
            <a:off x="6309360" y="3977640"/>
            <a:ext cx="251460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p>
        </p:txBody>
      </p:sp>
      <p:sp>
        <p:nvSpPr>
          <p:cNvPr id="18" name="Shape 16"/>
          <p:cNvSpPr/>
          <p:nvPr/>
        </p:nvSpPr>
        <p:spPr>
          <a:xfrm>
            <a:off x="9098280" y="3977640"/>
            <a:ext cx="2514600" cy="914400"/>
          </a:xfrm>
          <a:prstGeom prst="roundRect">
            <a:avLst>
              <a:gd name="adj" fmla="val 6000"/>
            </a:avLst>
          </a:prstGeom>
          <a:solidFill>
            <a:srgbClr val="1C7293"/>
          </a:solidFill>
          <a:ln/>
        </p:spPr>
      </p:sp>
      <p:sp>
        <p:nvSpPr>
          <p:cNvPr id="19" name="Text 17"/>
          <p:cNvSpPr/>
          <p:nvPr/>
        </p:nvSpPr>
        <p:spPr>
          <a:xfrm>
            <a:off x="9098280" y="3977640"/>
            <a:ext cx="251460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Course</a:t>
            </a:r>
            <a:endParaRPr lang="en-US" sz="1400" dirty="0"/>
          </a:p>
        </p:txBody>
      </p:sp>
      <p:sp>
        <p:nvSpPr>
          <p:cNvPr id="20" name="Text 18"/>
          <p:cNvSpPr/>
          <p:nvPr/>
        </p:nvSpPr>
        <p:spPr>
          <a:xfrm>
            <a:off x="6309360" y="5074920"/>
            <a:ext cx="5303520" cy="457200"/>
          </a:xfrm>
          <a:prstGeom prst="rect">
            <a:avLst/>
          </a:prstGeom>
          <a:noFill/>
          <a:ln/>
        </p:spPr>
        <p:txBody>
          <a:bodyPr wrap="square" lIns="0" tIns="0" rIns="0" bIns="0" rtlCol="0" anchor="ctr"/>
          <a:lstStyle/>
          <a:p>
            <a:pPr indent="0" marL="0">
              <a:buNone/>
            </a:pPr>
            <a:r>
              <a:rPr lang="en-US" sz="1300" i="1" dirty="0">
                <a:solidFill>
                  <a:srgbClr val="1B7A63"/>
                </a:solidFill>
                <a:latin typeface="Calibri" pitchFamily="34" charset="0"/>
                <a:ea typeface="Calibri" pitchFamily="34" charset="-122"/>
                <a:cs typeface="Calibri" pitchFamily="34" charset="-120"/>
              </a:rPr>
              <a:t>Now a course can be added even with zero students enrolled.</a:t>
            </a:r>
            <a:endParaRPr lang="en-US" sz="1300" dirty="0"/>
          </a:p>
        </p:txBody>
      </p:sp>
      <p:sp>
        <p:nvSpPr>
          <p:cNvPr id="21" name="Text 19"/>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ANOMALIES · 2 OF 3</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Update Anomaly</a:t>
            </a:r>
            <a:endParaRPr lang="en-US" sz="3200" dirty="0"/>
          </a:p>
        </p:txBody>
      </p:sp>
      <p:sp>
        <p:nvSpPr>
          <p:cNvPr id="4" name="Shape 2"/>
          <p:cNvSpPr/>
          <p:nvPr/>
        </p:nvSpPr>
        <p:spPr>
          <a:xfrm>
            <a:off x="548640" y="1417320"/>
            <a:ext cx="2194560" cy="365760"/>
          </a:xfrm>
          <a:prstGeom prst="roundRect">
            <a:avLst>
              <a:gd name="adj" fmla="val 20000"/>
            </a:avLst>
          </a:prstGeom>
          <a:solidFill>
            <a:srgbClr val="FBE4DA"/>
          </a:solidFill>
          <a:ln/>
        </p:spPr>
      </p:sp>
      <p:sp>
        <p:nvSpPr>
          <p:cNvPr id="5" name="Text 3"/>
          <p:cNvSpPr/>
          <p:nvPr/>
        </p:nvSpPr>
        <p:spPr>
          <a:xfrm>
            <a:off x="548640" y="1417320"/>
            <a:ext cx="2194560" cy="365760"/>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REPEATED CHANGES</a:t>
            </a:r>
            <a:endParaRPr lang="en-US" sz="1200" dirty="0"/>
          </a:p>
        </p:txBody>
      </p:sp>
      <p:sp>
        <p:nvSpPr>
          <p:cNvPr id="6" name="Text 4"/>
          <p:cNvSpPr/>
          <p:nvPr/>
        </p:nvSpPr>
        <p:spPr>
          <a:xfrm>
            <a:off x="548640" y="1965960"/>
            <a:ext cx="10881360" cy="45720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The same fact repeats across rows, so one real-world change means several row updates.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6949440" cy="1828800"/>
        </p:xfrm>
        <a:graphic>
          <a:graphicData uri="http://schemas.openxmlformats.org/drawingml/2006/table">
            <a:tbl>
              <a:tblPr/>
              <a:tblGrid>
                <a:gridCol w="1737360"/>
                <a:gridCol w="1737360"/>
                <a:gridCol w="1737360"/>
                <a:gridCol w="1737360"/>
              </a:tblGrid>
              <a:tr h="45720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student</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course</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instructor</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phone</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r>
              <a:tr h="457200">
                <a:tc>
                  <a:txBody>
                    <a:bodyPr/>
                    <a:lstStyle/>
                    <a:p>
                      <a:pPr indent="0" marL="0">
                        <a:buNone/>
                      </a:pPr>
                      <a:r>
                        <a:rPr lang="en-US" sz="1350" dirty="0">
                          <a:solidFill>
                            <a:srgbClr val="17222A"/>
                          </a:solidFill>
                          <a:latin typeface="Calibri" pitchFamily="34" charset="0"/>
                          <a:ea typeface="Calibri" pitchFamily="34" charset="-122"/>
                          <a:cs typeface="Calibri" pitchFamily="34" charset="-120"/>
                        </a:rPr>
                        <a:t>Rahul</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50" dirty="0">
                          <a:solidFill>
                            <a:srgbClr val="17222A"/>
                          </a:solidFill>
                          <a:latin typeface="Calibri" pitchFamily="34" charset="0"/>
                          <a:ea typeface="Calibri" pitchFamily="34" charset="-122"/>
                          <a:cs typeface="Calibri" pitchFamily="34" charset="-120"/>
                        </a:rPr>
                        <a:t>Java</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50" dirty="0">
                          <a:solidFill>
                            <a:srgbClr val="1B7A63"/>
                          </a:solidFill>
                          <a:latin typeface="Calibri" pitchFamily="34" charset="0"/>
                          <a:ea typeface="Calibri" pitchFamily="34" charset="-122"/>
                          <a:cs typeface="Calibri" pitchFamily="34" charset="-120"/>
                        </a:rPr>
                        <a:t>Kumar</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DCEEE8"/>
                    </a:solidFill>
                  </a:tcPr>
                </a:tc>
                <a:tc>
                  <a:txBody>
                    <a:bodyPr/>
                    <a:lstStyle/>
                    <a:p>
                      <a:pPr indent="0" marL="0">
                        <a:buNone/>
                      </a:pPr>
                      <a:r>
                        <a:rPr lang="en-US" sz="1350" b="1" dirty="0">
                          <a:solidFill>
                            <a:srgbClr val="1B7A63"/>
                          </a:solidFill>
                          <a:latin typeface="Calibri" pitchFamily="34" charset="0"/>
                          <a:ea typeface="Calibri" pitchFamily="34" charset="-122"/>
                          <a:cs typeface="Calibri" pitchFamily="34" charset="-120"/>
                        </a:rPr>
                        <a:t>9999999999</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DCEEE8"/>
                    </a:solidFill>
                  </a:tcPr>
                </a:tc>
              </a:tr>
              <a:tr h="457200">
                <a:tc>
                  <a:txBody>
                    <a:bodyPr/>
                    <a:lstStyle/>
                    <a:p>
                      <a:pPr indent="0" marL="0">
                        <a:buNone/>
                      </a:pPr>
                      <a:r>
                        <a:rPr lang="en-US" sz="1350" dirty="0">
                          <a:solidFill>
                            <a:srgbClr val="17222A"/>
                          </a:solidFill>
                          <a:latin typeface="Calibri" pitchFamily="34" charset="0"/>
                          <a:ea typeface="Calibri" pitchFamily="34" charset="-122"/>
                          <a:cs typeface="Calibri" pitchFamily="34" charset="-120"/>
                        </a:rPr>
                        <a:t>Priya</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50" dirty="0">
                          <a:solidFill>
                            <a:srgbClr val="17222A"/>
                          </a:solidFill>
                          <a:latin typeface="Calibri" pitchFamily="34" charset="0"/>
                          <a:ea typeface="Calibri" pitchFamily="34" charset="-122"/>
                          <a:cs typeface="Calibri" pitchFamily="34" charset="-120"/>
                        </a:rPr>
                        <a:t>Java</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50" dirty="0">
                          <a:solidFill>
                            <a:srgbClr val="B7472A"/>
                          </a:solidFill>
                          <a:latin typeface="Calibri" pitchFamily="34" charset="0"/>
                          <a:ea typeface="Calibri" pitchFamily="34" charset="-122"/>
                          <a:cs typeface="Calibri" pitchFamily="34" charset="-120"/>
                        </a:rPr>
                        <a:t>Kumar</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c>
                  <a:txBody>
                    <a:bodyPr/>
                    <a:lstStyle/>
                    <a:p>
                      <a:pPr indent="0" marL="0">
                        <a:buNone/>
                      </a:pPr>
                      <a:r>
                        <a:rPr lang="en-US" sz="1350" b="1" dirty="0">
                          <a:solidFill>
                            <a:srgbClr val="1B7A63"/>
                          </a:solidFill>
                          <a:latin typeface="Calibri" pitchFamily="34" charset="0"/>
                          <a:ea typeface="Calibri" pitchFamily="34" charset="-122"/>
                          <a:cs typeface="Calibri" pitchFamily="34" charset="-120"/>
                        </a:rPr>
                        <a:t>9999999999</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DCEEE8"/>
                    </a:solidFill>
                  </a:tcPr>
                </a:tc>
              </a:tr>
              <a:tr h="457200">
                <a:tc>
                  <a:txBody>
                    <a:bodyPr/>
                    <a:lstStyle/>
                    <a:p>
                      <a:pPr indent="0" marL="0">
                        <a:buNone/>
                      </a:pPr>
                      <a:r>
                        <a:rPr lang="en-US" sz="1350" dirty="0">
                          <a:solidFill>
                            <a:srgbClr val="17222A"/>
                          </a:solidFill>
                          <a:latin typeface="Calibri" pitchFamily="34" charset="0"/>
                          <a:ea typeface="Calibri" pitchFamily="34" charset="-122"/>
                          <a:cs typeface="Calibri" pitchFamily="34" charset="-120"/>
                        </a:rPr>
                        <a:t>Kiran</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50" dirty="0">
                          <a:solidFill>
                            <a:srgbClr val="17222A"/>
                          </a:solidFill>
                          <a:latin typeface="Calibri" pitchFamily="34" charset="0"/>
                          <a:ea typeface="Calibri" pitchFamily="34" charset="-122"/>
                          <a:cs typeface="Calibri" pitchFamily="34" charset="-120"/>
                        </a:rPr>
                        <a:t>Java</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50" dirty="0">
                          <a:solidFill>
                            <a:srgbClr val="B7472A"/>
                          </a:solidFill>
                          <a:latin typeface="Calibri" pitchFamily="34" charset="0"/>
                          <a:ea typeface="Calibri" pitchFamily="34" charset="-122"/>
                          <a:cs typeface="Calibri" pitchFamily="34" charset="-120"/>
                        </a:rPr>
                        <a:t>Kumar</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c>
                  <a:txBody>
                    <a:bodyPr/>
                    <a:lstStyle/>
                    <a:p>
                      <a:pPr indent="0" marL="0">
                        <a:buNone/>
                      </a:pPr>
                      <a:r>
                        <a:rPr lang="en-US" sz="1350" b="1" dirty="0">
                          <a:solidFill>
                            <a:srgbClr val="B7472A"/>
                          </a:solidFill>
                          <a:latin typeface="Calibri" pitchFamily="34" charset="0"/>
                          <a:ea typeface="Calibri" pitchFamily="34" charset="-122"/>
                          <a:cs typeface="Calibri" pitchFamily="34" charset="-120"/>
                        </a:rPr>
                        <a:t>9876543210</a:t>
                      </a:r>
                      <a:endParaRPr lang="en-US" sz="13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r>
            </a:tbl>
          </a:graphicData>
        </a:graphic>
      </p:graphicFrame>
      <p:sp>
        <p:nvSpPr>
          <p:cNvPr id="8" name="Shape 5"/>
          <p:cNvSpPr/>
          <p:nvPr/>
        </p:nvSpPr>
        <p:spPr>
          <a:xfrm>
            <a:off x="7863840" y="2606040"/>
            <a:ext cx="3749040" cy="1828800"/>
          </a:xfrm>
          <a:prstGeom prst="roundRect">
            <a:avLst>
              <a:gd name="adj" fmla="val 4000"/>
            </a:avLst>
          </a:prstGeom>
          <a:solidFill>
            <a:srgbClr val="F5F0EC"/>
          </a:solidFill>
          <a:ln w="12700">
            <a:solidFill>
              <a:srgbClr val="B7472A"/>
            </a:solidFill>
            <a:prstDash val="solid"/>
          </a:ln>
        </p:spPr>
      </p:sp>
      <p:sp>
        <p:nvSpPr>
          <p:cNvPr id="9" name="Text 6"/>
          <p:cNvSpPr/>
          <p:nvPr/>
        </p:nvSpPr>
        <p:spPr>
          <a:xfrm>
            <a:off x="8092440" y="2743200"/>
            <a:ext cx="3291840" cy="777240"/>
          </a:xfrm>
          <a:prstGeom prst="rect">
            <a:avLst/>
          </a:prstGeom>
          <a:noFill/>
          <a:ln/>
        </p:spPr>
        <p:txBody>
          <a:bodyPr wrap="square" lIns="0" tIns="0" rIns="0" bIns="0" rtlCol="0" anchor="ctr"/>
          <a:lstStyle/>
          <a:p>
            <a:pPr indent="0" marL="0">
              <a:buNone/>
            </a:pPr>
            <a:r>
              <a:rPr lang="en-US" sz="1250" dirty="0">
                <a:solidFill>
                  <a:srgbClr val="17222A"/>
                </a:solidFill>
                <a:latin typeface="Calibri" pitchFamily="34" charset="0"/>
                <a:ea typeface="Calibri" pitchFamily="34" charset="-122"/>
                <a:cs typeface="Calibri" pitchFamily="34" charset="-120"/>
              </a:rPr>
              <a:t>Rows 1–2 updated to the new number, row 3 missed.</a:t>
            </a:r>
            <a:endParaRPr lang="en-US" sz="1250" dirty="0"/>
          </a:p>
        </p:txBody>
      </p:sp>
      <p:sp>
        <p:nvSpPr>
          <p:cNvPr id="10" name="Text 7"/>
          <p:cNvSpPr/>
          <p:nvPr/>
        </p:nvSpPr>
        <p:spPr>
          <a:xfrm>
            <a:off x="8092440" y="3520440"/>
            <a:ext cx="3291840" cy="777240"/>
          </a:xfrm>
          <a:prstGeom prst="rect">
            <a:avLst/>
          </a:prstGeom>
          <a:noFill/>
          <a:ln/>
        </p:spPr>
        <p:txBody>
          <a:bodyPr wrap="square" lIns="0" tIns="0" rIns="0" bIns="0" rtlCol="0" anchor="ctr"/>
          <a:lstStyle/>
          <a:p>
            <a:pPr indent="0" marL="0">
              <a:buNone/>
            </a:pPr>
            <a:r>
              <a:rPr lang="en-US" sz="1250" b="1" dirty="0">
                <a:solidFill>
                  <a:srgbClr val="B7472A"/>
                </a:solidFill>
                <a:latin typeface="Calibri" pitchFamily="34" charset="0"/>
                <a:ea typeface="Calibri" pitchFamily="34" charset="-122"/>
                <a:cs typeface="Calibri" pitchFamily="34" charset="-120"/>
              </a:rPr>
              <a:t>Now Kumar has two phone numbers on file — inconsistent data.</a:t>
            </a:r>
            <a:endParaRPr lang="en-US" sz="1250" dirty="0"/>
          </a:p>
        </p:txBody>
      </p:sp>
      <p:sp>
        <p:nvSpPr>
          <p:cNvPr id="11" name="Shape 8"/>
          <p:cNvSpPr/>
          <p:nvPr/>
        </p:nvSpPr>
        <p:spPr>
          <a:xfrm>
            <a:off x="548640" y="4892040"/>
            <a:ext cx="11064240" cy="1097280"/>
          </a:xfrm>
          <a:prstGeom prst="roundRect">
            <a:avLst>
              <a:gd name="adj" fmla="val 6667"/>
            </a:avLst>
          </a:prstGeom>
          <a:solidFill>
            <a:srgbClr val="21295C"/>
          </a:solidFill>
          <a:ln/>
        </p:spPr>
      </p:sp>
      <p:sp>
        <p:nvSpPr>
          <p:cNvPr id="12" name="Text 9"/>
          <p:cNvSpPr/>
          <p:nvPr/>
        </p:nvSpPr>
        <p:spPr>
          <a:xfrm>
            <a:off x="914400" y="4892040"/>
            <a:ext cx="1033272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Store the instructor's phone number once — in an Instructor table — and every course that uses that instructor stays correct automatically.</a:t>
            </a:r>
            <a:endParaRPr lang="en-US" sz="1500" dirty="0"/>
          </a:p>
        </p:txBody>
      </p:sp>
      <p:sp>
        <p:nvSpPr>
          <p:cNvPr id="13" name="Text 10"/>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ANOMALIES · 3 OF 3</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Delete Anomaly</a:t>
            </a:r>
            <a:endParaRPr lang="en-US" sz="3200" dirty="0"/>
          </a:p>
        </p:txBody>
      </p:sp>
      <p:sp>
        <p:nvSpPr>
          <p:cNvPr id="4" name="Shape 2"/>
          <p:cNvSpPr/>
          <p:nvPr/>
        </p:nvSpPr>
        <p:spPr>
          <a:xfrm>
            <a:off x="548640" y="1417320"/>
            <a:ext cx="2651760" cy="365760"/>
          </a:xfrm>
          <a:prstGeom prst="roundRect">
            <a:avLst>
              <a:gd name="adj" fmla="val 20000"/>
            </a:avLst>
          </a:prstGeom>
          <a:solidFill>
            <a:srgbClr val="FBE4DA"/>
          </a:solidFill>
          <a:ln/>
        </p:spPr>
      </p:sp>
      <p:sp>
        <p:nvSpPr>
          <p:cNvPr id="5" name="Text 3"/>
          <p:cNvSpPr/>
          <p:nvPr/>
        </p:nvSpPr>
        <p:spPr>
          <a:xfrm>
            <a:off x="548640" y="1417320"/>
            <a:ext cx="2651760" cy="365760"/>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UNINTENDED DATA LOSS</a:t>
            </a:r>
            <a:endParaRPr lang="en-US" sz="1200" dirty="0"/>
          </a:p>
        </p:txBody>
      </p:sp>
      <p:sp>
        <p:nvSpPr>
          <p:cNvPr id="6" name="Text 4"/>
          <p:cNvSpPr/>
          <p:nvPr/>
        </p:nvSpPr>
        <p:spPr>
          <a:xfrm>
            <a:off x="548640" y="1965960"/>
            <a:ext cx="10881360" cy="45720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Deleting one record can accidentally wipe out an unrelated fact that had nowhere else to live.</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6035040" cy="1371600"/>
        </p:xfrm>
        <a:graphic>
          <a:graphicData uri="http://schemas.openxmlformats.org/drawingml/2006/table">
            <a:tbl>
              <a:tblPr/>
              <a:tblGrid>
                <a:gridCol w="2011680"/>
                <a:gridCol w="2011680"/>
                <a:gridCol w="20116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course</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instructor</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r>
              <a:tr h="457200">
                <a:tc>
                  <a:txBody>
                    <a:bodyPr/>
                    <a:lstStyle/>
                    <a:p>
                      <a:pPr indent="0" marL="0">
                        <a:buNone/>
                      </a:pPr>
                      <a:r>
                        <a:rPr lang="en-US" sz="1400" dirty="0">
                          <a:solidFill>
                            <a:srgbClr val="17222A"/>
                          </a:solidFill>
                          <a:latin typeface="Calibri" pitchFamily="34" charset="0"/>
                          <a:ea typeface="Calibri" pitchFamily="34" charset="-122"/>
                          <a:cs typeface="Calibri" pitchFamily="34" charset="-120"/>
                        </a:rPr>
                        <a:t>Rahul</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c>
                  <a:txBody>
                    <a:bodyPr/>
                    <a:lstStyle/>
                    <a:p>
                      <a:pPr indent="0" marL="0">
                        <a:buNone/>
                      </a:pPr>
                      <a:r>
                        <a:rPr lang="en-US" sz="1400" dirty="0">
                          <a:solidFill>
                            <a:srgbClr val="17222A"/>
                          </a:solidFill>
                          <a:latin typeface="Calibri" pitchFamily="34" charset="0"/>
                          <a:ea typeface="Calibri" pitchFamily="34" charset="-122"/>
                          <a:cs typeface="Calibri" pitchFamily="34" charset="-120"/>
                        </a:rPr>
                        <a:t>Java</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c>
                  <a:txBody>
                    <a:bodyPr/>
                    <a:lstStyle/>
                    <a:p>
                      <a:pPr indent="0" marL="0">
                        <a:buNone/>
                      </a:pPr>
                      <a:r>
                        <a:rPr lang="en-US" sz="1400" b="1" dirty="0">
                          <a:solidFill>
                            <a:srgbClr val="17222A"/>
                          </a:solidFill>
                          <a:latin typeface="Calibri" pitchFamily="34" charset="0"/>
                          <a:ea typeface="Calibri" pitchFamily="34" charset="-122"/>
                          <a:cs typeface="Calibri" pitchFamily="34" charset="-120"/>
                        </a:rPr>
                        <a:t>Kumar</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FBE4DA"/>
                    </a:solidFill>
                  </a:tcPr>
                </a:tc>
              </a:tr>
              <a:tr h="457200">
                <a:tc>
                  <a:txBody>
                    <a:bodyPr/>
                    <a:lstStyle/>
                    <a:p>
                      <a:pPr indent="0" marL="0">
                        <a:buNone/>
                      </a:pPr>
                      <a:r>
                        <a:rPr lang="en-US" sz="1400" dirty="0">
                          <a:solidFill>
                            <a:srgbClr val="17222A"/>
                          </a:solidFill>
                          <a:latin typeface="Calibri" pitchFamily="34" charset="0"/>
                          <a:ea typeface="Calibri" pitchFamily="34" charset="-122"/>
                          <a:cs typeface="Calibri" pitchFamily="34" charset="-120"/>
                        </a:rPr>
                        <a:t>Priya</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400" dirty="0">
                          <a:solidFill>
                            <a:srgbClr val="17222A"/>
                          </a:solidFill>
                          <a:latin typeface="Calibri" pitchFamily="34" charset="0"/>
                          <a:ea typeface="Calibri" pitchFamily="34" charset="-122"/>
                          <a:cs typeface="Calibri" pitchFamily="34" charset="-120"/>
                        </a:rPr>
                        <a:t>Python</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400" dirty="0">
                          <a:solidFill>
                            <a:srgbClr val="17222A"/>
                          </a:solidFill>
                          <a:latin typeface="Calibri" pitchFamily="34" charset="0"/>
                          <a:ea typeface="Calibri" pitchFamily="34" charset="-122"/>
                          <a:cs typeface="Calibri" pitchFamily="34" charset="-120"/>
                        </a:rPr>
                        <a:t>Ravi</a:t>
                      </a:r>
                      <a:endParaRPr lang="en-US" sz="14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8" name="Text 5"/>
          <p:cNvSpPr/>
          <p:nvPr/>
        </p:nvSpPr>
        <p:spPr>
          <a:xfrm>
            <a:off x="548640" y="4160520"/>
            <a:ext cx="6035040" cy="365760"/>
          </a:xfrm>
          <a:prstGeom prst="rect">
            <a:avLst/>
          </a:prstGeom>
          <a:noFill/>
          <a:ln/>
        </p:spPr>
        <p:txBody>
          <a:bodyPr wrap="square" lIns="0" tIns="0" rIns="0" bIns="0" rtlCol="0" anchor="ctr"/>
          <a:lstStyle/>
          <a:p>
            <a:pPr indent="0" marL="0">
              <a:buNone/>
            </a:pPr>
            <a:r>
              <a:rPr lang="en-US" sz="1300" i="1" dirty="0">
                <a:solidFill>
                  <a:srgbClr val="B7472A"/>
                </a:solidFill>
                <a:latin typeface="Calibri" pitchFamily="34" charset="0"/>
                <a:ea typeface="Calibri" pitchFamily="34" charset="-122"/>
                <a:cs typeface="Calibri" pitchFamily="34" charset="-120"/>
              </a:rPr>
              <a:t>Rahul is the only student in Java.</a:t>
            </a:r>
            <a:endParaRPr lang="en-US" sz="1300" dirty="0"/>
          </a:p>
        </p:txBody>
      </p:sp>
      <p:sp>
        <p:nvSpPr>
          <p:cNvPr id="9" name="Shape 6"/>
          <p:cNvSpPr/>
          <p:nvPr/>
        </p:nvSpPr>
        <p:spPr>
          <a:xfrm>
            <a:off x="6858000" y="3200400"/>
            <a:ext cx="457200" cy="219456"/>
          </a:xfrm>
          <a:prstGeom prst="rightArrow">
            <a:avLst/>
          </a:prstGeom>
          <a:solidFill>
            <a:srgbClr val="B7472A"/>
          </a:solidFill>
          <a:ln/>
        </p:spPr>
      </p:sp>
      <p:sp>
        <p:nvSpPr>
          <p:cNvPr id="10" name="Shape 7"/>
          <p:cNvSpPr/>
          <p:nvPr/>
        </p:nvSpPr>
        <p:spPr>
          <a:xfrm>
            <a:off x="7452360" y="2651760"/>
            <a:ext cx="4160520" cy="1920240"/>
          </a:xfrm>
          <a:prstGeom prst="roundRect">
            <a:avLst>
              <a:gd name="adj" fmla="val 3810"/>
            </a:avLst>
          </a:prstGeom>
          <a:solidFill>
            <a:srgbClr val="F5F0EC"/>
          </a:solidFill>
          <a:ln w="12700">
            <a:solidFill>
              <a:srgbClr val="B7472A"/>
            </a:solidFill>
            <a:prstDash val="solid"/>
          </a:ln>
        </p:spPr>
      </p:sp>
      <p:sp>
        <p:nvSpPr>
          <p:cNvPr id="11" name="Text 8"/>
          <p:cNvSpPr/>
          <p:nvPr/>
        </p:nvSpPr>
        <p:spPr>
          <a:xfrm>
            <a:off x="7680960" y="2788920"/>
            <a:ext cx="3657600"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Delete Rahul's row</a:t>
            </a:r>
            <a:endParaRPr lang="en-US" sz="1300" dirty="0"/>
          </a:p>
        </p:txBody>
      </p:sp>
      <p:sp>
        <p:nvSpPr>
          <p:cNvPr id="12" name="Text 9"/>
          <p:cNvSpPr/>
          <p:nvPr/>
        </p:nvSpPr>
        <p:spPr>
          <a:xfrm>
            <a:off x="7680960" y="3154680"/>
            <a:ext cx="3657600" cy="365760"/>
          </a:xfrm>
          <a:prstGeom prst="rect">
            <a:avLst/>
          </a:prstGeom>
          <a:noFill/>
          <a:ln/>
        </p:spPr>
        <p:txBody>
          <a:bodyPr wrap="square" lIns="0" tIns="0" rIns="0" bIns="0" rtlCol="0" anchor="ctr"/>
          <a:lstStyle/>
          <a:p>
            <a:pPr indent="0" marL="0">
              <a:buNone/>
            </a:pPr>
            <a:r>
              <a:rPr lang="en-US" sz="1300" dirty="0">
                <a:solidFill>
                  <a:srgbClr val="17222A"/>
                </a:solidFill>
                <a:latin typeface="Calibri" pitchFamily="34" charset="0"/>
                <a:ea typeface="Calibri" pitchFamily="34" charset="-122"/>
                <a:cs typeface="Calibri" pitchFamily="34" charset="-120"/>
              </a:rPr>
              <a:t>We lose the only record showing:</a:t>
            </a:r>
            <a:endParaRPr lang="en-US" sz="1300" dirty="0"/>
          </a:p>
        </p:txBody>
      </p:sp>
      <p:sp>
        <p:nvSpPr>
          <p:cNvPr id="13" name="Text 10"/>
          <p:cNvSpPr/>
          <p:nvPr/>
        </p:nvSpPr>
        <p:spPr>
          <a:xfrm>
            <a:off x="7680960" y="3520440"/>
            <a:ext cx="3657600" cy="411480"/>
          </a:xfrm>
          <a:prstGeom prst="rect">
            <a:avLst/>
          </a:prstGeom>
          <a:noFill/>
          <a:ln/>
        </p:spPr>
        <p:txBody>
          <a:bodyPr wrap="square" lIns="0" tIns="0" rIns="0" bIns="0" rtlCol="0" anchor="ctr"/>
          <a:lstStyle/>
          <a:p>
            <a:pPr indent="0" marL="0">
              <a:buNone/>
            </a:pPr>
            <a:r>
              <a:rPr lang="en-US" sz="1400" b="1" dirty="0">
                <a:solidFill>
                  <a:srgbClr val="B7472A"/>
                </a:solidFill>
                <a:latin typeface="Calibri" pitchFamily="34" charset="0"/>
                <a:ea typeface="Calibri" pitchFamily="34" charset="-122"/>
                <a:cs typeface="Calibri" pitchFamily="34" charset="-120"/>
              </a:rPr>
              <a:t>"Java is taught by Kumar"</a:t>
            </a:r>
            <a:endParaRPr lang="en-US" sz="1400" dirty="0"/>
          </a:p>
        </p:txBody>
      </p:sp>
      <p:sp>
        <p:nvSpPr>
          <p:cNvPr id="14" name="Text 11"/>
          <p:cNvSpPr/>
          <p:nvPr/>
        </p:nvSpPr>
        <p:spPr>
          <a:xfrm>
            <a:off x="7680960" y="3977640"/>
            <a:ext cx="3657600" cy="502920"/>
          </a:xfrm>
          <a:prstGeom prst="rect">
            <a:avLst/>
          </a:prstGeom>
          <a:noFill/>
          <a:ln/>
        </p:spPr>
        <p:txBody>
          <a:bodyPr wrap="square" lIns="0" tIns="0" rIns="0" bIns="0" rtlCol="0" anchor="ctr"/>
          <a:lstStyle/>
          <a:p>
            <a:pPr indent="0" marL="0">
              <a:buNone/>
            </a:pPr>
            <a:r>
              <a:rPr lang="en-US" sz="1200" i="1" dirty="0">
                <a:solidFill>
                  <a:srgbClr val="51707C"/>
                </a:solidFill>
                <a:latin typeface="Calibri" pitchFamily="34" charset="0"/>
                <a:ea typeface="Calibri" pitchFamily="34" charset="-122"/>
                <a:cs typeface="Calibri" pitchFamily="34" charset="-120"/>
              </a:rPr>
              <a:t>That fact wasn't really about Rahul — it disappears anyway.</a:t>
            </a:r>
            <a:endParaRPr lang="en-US" sz="1200" dirty="0"/>
          </a:p>
        </p:txBody>
      </p:sp>
      <p:sp>
        <p:nvSpPr>
          <p:cNvPr id="15" name="Shape 12"/>
          <p:cNvSpPr/>
          <p:nvPr/>
        </p:nvSpPr>
        <p:spPr>
          <a:xfrm>
            <a:off x="548640" y="4892040"/>
            <a:ext cx="11064240" cy="1097280"/>
          </a:xfrm>
          <a:prstGeom prst="roundRect">
            <a:avLst>
              <a:gd name="adj" fmla="val 6667"/>
            </a:avLst>
          </a:prstGeom>
          <a:solidFill>
            <a:srgbClr val="065A82"/>
          </a:solidFill>
          <a:ln/>
        </p:spPr>
      </p:sp>
      <p:sp>
        <p:nvSpPr>
          <p:cNvPr id="16" name="Text 13"/>
          <p:cNvSpPr/>
          <p:nvPr/>
        </p:nvSpPr>
        <p:spPr>
          <a:xfrm>
            <a:off x="914400" y="4892040"/>
            <a:ext cx="10332720" cy="10972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Keep course-and-instructor facts in their own table — deleting a student never touches them.</a:t>
            </a:r>
            <a:endParaRPr lang="en-US" sz="1600" dirty="0"/>
          </a:p>
        </p:txBody>
      </p:sp>
      <p:sp>
        <p:nvSpPr>
          <p:cNvPr id="17" name="Text 14"/>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9FD2E8"/>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Normal Forms, One Step at a Time</a:t>
            </a:r>
            <a:endParaRPr lang="en-US" sz="3200" dirty="0"/>
          </a:p>
        </p:txBody>
      </p:sp>
      <p:sp>
        <p:nvSpPr>
          <p:cNvPr id="4" name="Text 2"/>
          <p:cNvSpPr/>
          <p:nvPr/>
        </p:nvSpPr>
        <p:spPr>
          <a:xfrm>
            <a:off x="548640" y="1508760"/>
            <a:ext cx="10515600" cy="548640"/>
          </a:xfrm>
          <a:prstGeom prst="rect">
            <a:avLst/>
          </a:prstGeom>
          <a:noFill/>
          <a:ln/>
        </p:spPr>
        <p:txBody>
          <a:bodyPr wrap="square" lIns="0" tIns="0" rIns="0" bIns="0" rtlCol="0" anchor="ctr"/>
          <a:lstStyle/>
          <a:p>
            <a:pPr indent="0" marL="0">
              <a:buNone/>
            </a:pPr>
            <a:r>
              <a:rPr lang="en-US" sz="1500" dirty="0">
                <a:solidFill>
                  <a:srgbClr val="D6E9F0"/>
                </a:solidFill>
                <a:latin typeface="Calibri" pitchFamily="34" charset="0"/>
                <a:ea typeface="Calibri" pitchFamily="34" charset="-122"/>
                <a:cs typeface="Calibri" pitchFamily="34" charset="-120"/>
              </a:rPr>
              <a:t>For this course, 1NF, 2NF and 3NF matter most day-to-day. We'll also cover Candidate Keys, BCNF and 4NF for completeness.</a:t>
            </a:r>
            <a:endParaRPr lang="en-US" sz="1500" dirty="0"/>
          </a:p>
        </p:txBody>
      </p:sp>
      <p:sp>
        <p:nvSpPr>
          <p:cNvPr id="5" name="Shape 3"/>
          <p:cNvSpPr/>
          <p:nvPr/>
        </p:nvSpPr>
        <p:spPr>
          <a:xfrm>
            <a:off x="781812" y="3017520"/>
            <a:ext cx="1920240" cy="1554480"/>
          </a:xfrm>
          <a:prstGeom prst="roundRect">
            <a:avLst>
              <a:gd name="adj" fmla="val 4706"/>
            </a:avLst>
          </a:prstGeom>
          <a:solidFill>
            <a:srgbClr val="1C7293"/>
          </a:solidFill>
          <a:ln w="12700">
            <a:solidFill>
              <a:srgbClr val="9FD2E8"/>
            </a:solidFill>
            <a:prstDash val="solid"/>
          </a:ln>
        </p:spPr>
      </p:sp>
      <p:sp>
        <p:nvSpPr>
          <p:cNvPr id="6" name="Text 4"/>
          <p:cNvSpPr/>
          <p:nvPr/>
        </p:nvSpPr>
        <p:spPr>
          <a:xfrm>
            <a:off x="781812" y="3154680"/>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1NF</a:t>
            </a:r>
            <a:endParaRPr lang="en-US" sz="2200" dirty="0"/>
          </a:p>
        </p:txBody>
      </p:sp>
      <p:sp>
        <p:nvSpPr>
          <p:cNvPr id="7" name="Text 5"/>
          <p:cNvSpPr/>
          <p:nvPr/>
        </p:nvSpPr>
        <p:spPr>
          <a:xfrm>
            <a:off x="891540" y="3639312"/>
            <a:ext cx="1700784" cy="868680"/>
          </a:xfrm>
          <a:prstGeom prst="rect">
            <a:avLst/>
          </a:prstGeom>
          <a:noFill/>
          <a:ln/>
        </p:spPr>
        <p:txBody>
          <a:bodyPr wrap="square" lIns="0" tIns="0" rIns="0" bIns="0" rtlCol="0" anchor="ctr"/>
          <a:lstStyle/>
          <a:p>
            <a:pPr algn="ctr" indent="0" marL="0">
              <a:buNone/>
            </a:pPr>
            <a:r>
              <a:rPr lang="en-US" sz="1050" dirty="0">
                <a:solidFill>
                  <a:srgbClr val="E4F1F6"/>
                </a:solidFill>
                <a:latin typeface="Calibri" pitchFamily="34" charset="0"/>
                <a:ea typeface="Calibri" pitchFamily="34" charset="-122"/>
                <a:cs typeface="Calibri" pitchFamily="34" charset="-120"/>
              </a:rPr>
              <a:t>Atomic values, no repeating groups</a:t>
            </a:r>
            <a:endParaRPr lang="en-US" sz="1050" dirty="0"/>
          </a:p>
        </p:txBody>
      </p:sp>
      <p:sp>
        <p:nvSpPr>
          <p:cNvPr id="8" name="Shape 6"/>
          <p:cNvSpPr/>
          <p:nvPr/>
        </p:nvSpPr>
        <p:spPr>
          <a:xfrm>
            <a:off x="2720340" y="3703320"/>
            <a:ext cx="210312" cy="219456"/>
          </a:xfrm>
          <a:prstGeom prst="rightArrow">
            <a:avLst/>
          </a:prstGeom>
          <a:solidFill>
            <a:srgbClr val="9FD2E8"/>
          </a:solidFill>
          <a:ln/>
        </p:spPr>
      </p:sp>
      <p:sp>
        <p:nvSpPr>
          <p:cNvPr id="9" name="Shape 7"/>
          <p:cNvSpPr/>
          <p:nvPr/>
        </p:nvSpPr>
        <p:spPr>
          <a:xfrm>
            <a:off x="2958084" y="3017520"/>
            <a:ext cx="1920240" cy="1554480"/>
          </a:xfrm>
          <a:prstGeom prst="roundRect">
            <a:avLst>
              <a:gd name="adj" fmla="val 4706"/>
            </a:avLst>
          </a:prstGeom>
          <a:solidFill>
            <a:srgbClr val="1C7293"/>
          </a:solidFill>
          <a:ln w="12700">
            <a:solidFill>
              <a:srgbClr val="9FD2E8"/>
            </a:solidFill>
            <a:prstDash val="solid"/>
          </a:ln>
        </p:spPr>
      </p:sp>
      <p:sp>
        <p:nvSpPr>
          <p:cNvPr id="10" name="Text 8"/>
          <p:cNvSpPr/>
          <p:nvPr/>
        </p:nvSpPr>
        <p:spPr>
          <a:xfrm>
            <a:off x="2958084" y="3154680"/>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2NF</a:t>
            </a:r>
            <a:endParaRPr lang="en-US" sz="2200" dirty="0"/>
          </a:p>
        </p:txBody>
      </p:sp>
      <p:sp>
        <p:nvSpPr>
          <p:cNvPr id="11" name="Text 9"/>
          <p:cNvSpPr/>
          <p:nvPr/>
        </p:nvSpPr>
        <p:spPr>
          <a:xfrm>
            <a:off x="3067812" y="3639312"/>
            <a:ext cx="1700784" cy="868680"/>
          </a:xfrm>
          <a:prstGeom prst="rect">
            <a:avLst/>
          </a:prstGeom>
          <a:noFill/>
          <a:ln/>
        </p:spPr>
        <p:txBody>
          <a:bodyPr wrap="square" lIns="0" tIns="0" rIns="0" bIns="0" rtlCol="0" anchor="ctr"/>
          <a:lstStyle/>
          <a:p>
            <a:pPr algn="ctr" indent="0" marL="0">
              <a:buNone/>
            </a:pPr>
            <a:r>
              <a:rPr lang="en-US" sz="1050" dirty="0">
                <a:solidFill>
                  <a:srgbClr val="E4F1F6"/>
                </a:solidFill>
                <a:latin typeface="Calibri" pitchFamily="34" charset="0"/>
                <a:ea typeface="Calibri" pitchFamily="34" charset="-122"/>
                <a:cs typeface="Calibri" pitchFamily="34" charset="-120"/>
              </a:rPr>
              <a:t>1NF + no partial dependency</a:t>
            </a:r>
            <a:endParaRPr lang="en-US" sz="1050" dirty="0"/>
          </a:p>
        </p:txBody>
      </p:sp>
      <p:sp>
        <p:nvSpPr>
          <p:cNvPr id="12" name="Shape 10"/>
          <p:cNvSpPr/>
          <p:nvPr/>
        </p:nvSpPr>
        <p:spPr>
          <a:xfrm>
            <a:off x="4896612" y="3703320"/>
            <a:ext cx="210312" cy="219456"/>
          </a:xfrm>
          <a:prstGeom prst="rightArrow">
            <a:avLst/>
          </a:prstGeom>
          <a:solidFill>
            <a:srgbClr val="9FD2E8"/>
          </a:solidFill>
          <a:ln/>
        </p:spPr>
      </p:sp>
      <p:sp>
        <p:nvSpPr>
          <p:cNvPr id="13" name="Shape 11"/>
          <p:cNvSpPr/>
          <p:nvPr/>
        </p:nvSpPr>
        <p:spPr>
          <a:xfrm>
            <a:off x="5134356" y="3017520"/>
            <a:ext cx="1920240" cy="1554480"/>
          </a:xfrm>
          <a:prstGeom prst="roundRect">
            <a:avLst>
              <a:gd name="adj" fmla="val 4706"/>
            </a:avLst>
          </a:prstGeom>
          <a:solidFill>
            <a:srgbClr val="1C7293"/>
          </a:solidFill>
          <a:ln w="12700">
            <a:solidFill>
              <a:srgbClr val="9FD2E8"/>
            </a:solidFill>
            <a:prstDash val="solid"/>
          </a:ln>
        </p:spPr>
      </p:sp>
      <p:sp>
        <p:nvSpPr>
          <p:cNvPr id="14" name="Text 12"/>
          <p:cNvSpPr/>
          <p:nvPr/>
        </p:nvSpPr>
        <p:spPr>
          <a:xfrm>
            <a:off x="5134356" y="3154680"/>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3NF</a:t>
            </a:r>
            <a:endParaRPr lang="en-US" sz="2200" dirty="0"/>
          </a:p>
        </p:txBody>
      </p:sp>
      <p:sp>
        <p:nvSpPr>
          <p:cNvPr id="15" name="Text 13"/>
          <p:cNvSpPr/>
          <p:nvPr/>
        </p:nvSpPr>
        <p:spPr>
          <a:xfrm>
            <a:off x="5244084" y="3639312"/>
            <a:ext cx="1700784" cy="868680"/>
          </a:xfrm>
          <a:prstGeom prst="rect">
            <a:avLst/>
          </a:prstGeom>
          <a:noFill/>
          <a:ln/>
        </p:spPr>
        <p:txBody>
          <a:bodyPr wrap="square" lIns="0" tIns="0" rIns="0" bIns="0" rtlCol="0" anchor="ctr"/>
          <a:lstStyle/>
          <a:p>
            <a:pPr algn="ctr" indent="0" marL="0">
              <a:buNone/>
            </a:pPr>
            <a:r>
              <a:rPr lang="en-US" sz="1050" dirty="0">
                <a:solidFill>
                  <a:srgbClr val="E4F1F6"/>
                </a:solidFill>
                <a:latin typeface="Calibri" pitchFamily="34" charset="0"/>
                <a:ea typeface="Calibri" pitchFamily="34" charset="-122"/>
                <a:cs typeface="Calibri" pitchFamily="34" charset="-120"/>
              </a:rPr>
              <a:t>2NF + no transitive dependency</a:t>
            </a:r>
            <a:endParaRPr lang="en-US" sz="1050" dirty="0"/>
          </a:p>
        </p:txBody>
      </p:sp>
      <p:sp>
        <p:nvSpPr>
          <p:cNvPr id="16" name="Shape 14"/>
          <p:cNvSpPr/>
          <p:nvPr/>
        </p:nvSpPr>
        <p:spPr>
          <a:xfrm>
            <a:off x="7072884" y="3703320"/>
            <a:ext cx="210312" cy="219456"/>
          </a:xfrm>
          <a:prstGeom prst="rightArrow">
            <a:avLst/>
          </a:prstGeom>
          <a:solidFill>
            <a:srgbClr val="9FD2E8"/>
          </a:solidFill>
          <a:ln/>
        </p:spPr>
      </p:sp>
      <p:sp>
        <p:nvSpPr>
          <p:cNvPr id="17" name="Shape 15"/>
          <p:cNvSpPr/>
          <p:nvPr/>
        </p:nvSpPr>
        <p:spPr>
          <a:xfrm>
            <a:off x="7310628" y="3017520"/>
            <a:ext cx="1920240" cy="1554480"/>
          </a:xfrm>
          <a:prstGeom prst="roundRect">
            <a:avLst>
              <a:gd name="adj" fmla="val 4706"/>
            </a:avLst>
          </a:prstGeom>
          <a:solidFill>
            <a:srgbClr val="3B4C86"/>
          </a:solidFill>
          <a:ln w="12700">
            <a:solidFill>
              <a:srgbClr val="9FD2E8"/>
            </a:solidFill>
            <a:prstDash val="solid"/>
          </a:ln>
        </p:spPr>
      </p:sp>
      <p:sp>
        <p:nvSpPr>
          <p:cNvPr id="18" name="Text 16"/>
          <p:cNvSpPr/>
          <p:nvPr/>
        </p:nvSpPr>
        <p:spPr>
          <a:xfrm>
            <a:off x="7310628" y="3154680"/>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BCNF</a:t>
            </a:r>
            <a:endParaRPr lang="en-US" sz="2200" dirty="0"/>
          </a:p>
        </p:txBody>
      </p:sp>
      <p:sp>
        <p:nvSpPr>
          <p:cNvPr id="19" name="Text 17"/>
          <p:cNvSpPr/>
          <p:nvPr/>
        </p:nvSpPr>
        <p:spPr>
          <a:xfrm>
            <a:off x="7420356" y="3639312"/>
            <a:ext cx="1700784" cy="868680"/>
          </a:xfrm>
          <a:prstGeom prst="rect">
            <a:avLst/>
          </a:prstGeom>
          <a:noFill/>
          <a:ln/>
        </p:spPr>
        <p:txBody>
          <a:bodyPr wrap="square" lIns="0" tIns="0" rIns="0" bIns="0" rtlCol="0" anchor="ctr"/>
          <a:lstStyle/>
          <a:p>
            <a:pPr algn="ctr" indent="0" marL="0">
              <a:buNone/>
            </a:pPr>
            <a:r>
              <a:rPr lang="en-US" sz="1050" dirty="0">
                <a:solidFill>
                  <a:srgbClr val="E4F1F6"/>
                </a:solidFill>
                <a:latin typeface="Calibri" pitchFamily="34" charset="0"/>
                <a:ea typeface="Calibri" pitchFamily="34" charset="-122"/>
                <a:cs typeface="Calibri" pitchFamily="34" charset="-120"/>
              </a:rPr>
              <a:t>Every determinant is a candidate key</a:t>
            </a:r>
            <a:endParaRPr lang="en-US" sz="1050" dirty="0"/>
          </a:p>
        </p:txBody>
      </p:sp>
      <p:sp>
        <p:nvSpPr>
          <p:cNvPr id="20" name="Shape 18"/>
          <p:cNvSpPr/>
          <p:nvPr/>
        </p:nvSpPr>
        <p:spPr>
          <a:xfrm>
            <a:off x="9249156" y="3703320"/>
            <a:ext cx="210312" cy="219456"/>
          </a:xfrm>
          <a:prstGeom prst="rightArrow">
            <a:avLst/>
          </a:prstGeom>
          <a:solidFill>
            <a:srgbClr val="9FD2E8"/>
          </a:solidFill>
          <a:ln/>
        </p:spPr>
      </p:sp>
      <p:sp>
        <p:nvSpPr>
          <p:cNvPr id="21" name="Shape 19"/>
          <p:cNvSpPr/>
          <p:nvPr/>
        </p:nvSpPr>
        <p:spPr>
          <a:xfrm>
            <a:off x="9486900" y="3017520"/>
            <a:ext cx="1920240" cy="1554480"/>
          </a:xfrm>
          <a:prstGeom prst="roundRect">
            <a:avLst>
              <a:gd name="adj" fmla="val 4706"/>
            </a:avLst>
          </a:prstGeom>
          <a:solidFill>
            <a:srgbClr val="3B4C86"/>
          </a:solidFill>
          <a:ln w="12700">
            <a:solidFill>
              <a:srgbClr val="9FD2E8"/>
            </a:solidFill>
            <a:prstDash val="solid"/>
          </a:ln>
        </p:spPr>
      </p:sp>
      <p:sp>
        <p:nvSpPr>
          <p:cNvPr id="22" name="Text 20"/>
          <p:cNvSpPr/>
          <p:nvPr/>
        </p:nvSpPr>
        <p:spPr>
          <a:xfrm>
            <a:off x="9486900" y="3154680"/>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4NF</a:t>
            </a:r>
            <a:endParaRPr lang="en-US" sz="2200" dirty="0"/>
          </a:p>
        </p:txBody>
      </p:sp>
      <p:sp>
        <p:nvSpPr>
          <p:cNvPr id="23" name="Text 21"/>
          <p:cNvSpPr/>
          <p:nvPr/>
        </p:nvSpPr>
        <p:spPr>
          <a:xfrm>
            <a:off x="9596628" y="3639312"/>
            <a:ext cx="1700784" cy="868680"/>
          </a:xfrm>
          <a:prstGeom prst="rect">
            <a:avLst/>
          </a:prstGeom>
          <a:noFill/>
          <a:ln/>
        </p:spPr>
        <p:txBody>
          <a:bodyPr wrap="square" lIns="0" tIns="0" rIns="0" bIns="0" rtlCol="0" anchor="ctr"/>
          <a:lstStyle/>
          <a:p>
            <a:pPr algn="ctr" indent="0" marL="0">
              <a:buNone/>
            </a:pPr>
            <a:r>
              <a:rPr lang="en-US" sz="1050" dirty="0">
                <a:solidFill>
                  <a:srgbClr val="E4F1F6"/>
                </a:solidFill>
                <a:latin typeface="Calibri" pitchFamily="34" charset="0"/>
                <a:ea typeface="Calibri" pitchFamily="34" charset="-122"/>
                <a:cs typeface="Calibri" pitchFamily="34" charset="-120"/>
              </a:rPr>
              <a:t>No independent multivalued facts</a:t>
            </a:r>
            <a:endParaRPr lang="en-US" sz="1050" dirty="0"/>
          </a:p>
        </p:txBody>
      </p:sp>
      <p:sp>
        <p:nvSpPr>
          <p:cNvPr id="24" name="Text 22"/>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NORMAL FORMS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First Normal Form — 1NF</a:t>
            </a:r>
            <a:endParaRPr lang="en-US" sz="3200" dirty="0"/>
          </a:p>
        </p:txBody>
      </p:sp>
      <p:sp>
        <p:nvSpPr>
          <p:cNvPr id="4" name="Text 2"/>
          <p:cNvSpPr/>
          <p:nvPr/>
        </p:nvSpPr>
        <p:spPr>
          <a:xfrm>
            <a:off x="548640" y="1463040"/>
            <a:ext cx="10881360" cy="45720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Each column holds one atomic value. No repeating groups. Every row is uniquely identifiable.</a:t>
            </a:r>
            <a:endParaRPr lang="en-US" sz="1500" dirty="0"/>
          </a:p>
        </p:txBody>
      </p:sp>
      <p:sp>
        <p:nvSpPr>
          <p:cNvPr id="5" name="Shape 3"/>
          <p:cNvSpPr/>
          <p:nvPr/>
        </p:nvSpPr>
        <p:spPr>
          <a:xfrm>
            <a:off x="548640" y="2057400"/>
            <a:ext cx="1828800" cy="347472"/>
          </a:xfrm>
          <a:prstGeom prst="roundRect">
            <a:avLst>
              <a:gd name="adj" fmla="val 21053"/>
            </a:avLst>
          </a:prstGeom>
          <a:solidFill>
            <a:srgbClr val="FBE4DA"/>
          </a:solidFill>
          <a:ln/>
        </p:spPr>
      </p:sp>
      <p:sp>
        <p:nvSpPr>
          <p:cNvPr id="6" name="Text 4"/>
          <p:cNvSpPr/>
          <p:nvPr/>
        </p:nvSpPr>
        <p:spPr>
          <a:xfrm>
            <a:off x="548640" y="2057400"/>
            <a:ext cx="1828800" cy="347472"/>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 NOT 1NF</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5212080" cy="1371600"/>
        </p:xfrm>
        <a:graphic>
          <a:graphicData uri="http://schemas.openxmlformats.org/drawingml/2006/table">
            <a:tbl>
              <a:tblPr/>
              <a:tblGrid>
                <a:gridCol w="1737360"/>
                <a:gridCol w="1737360"/>
                <a:gridCol w="17373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student_id</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courses</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r>
              <a:tr h="457200">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Rahul</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B7472A"/>
                          </a:solidFill>
                          <a:latin typeface="Calibri" pitchFamily="34" charset="0"/>
                          <a:ea typeface="Calibri" pitchFamily="34" charset="-122"/>
                          <a:cs typeface="Calibri" pitchFamily="34" charset="-120"/>
                        </a:rPr>
                        <a:t>Java, Python</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457200">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Priya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B7472A"/>
                          </a:solidFill>
                          <a:latin typeface="Calibri" pitchFamily="34" charset="0"/>
                          <a:ea typeface="Calibri" pitchFamily="34" charset="-122"/>
                          <a:cs typeface="Calibri" pitchFamily="34" charset="-120"/>
                        </a:rPr>
                        <a:t>Java, SQL</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8" name="Text 5"/>
          <p:cNvSpPr/>
          <p:nvPr/>
        </p:nvSpPr>
        <p:spPr>
          <a:xfrm>
            <a:off x="548640" y="3977640"/>
            <a:ext cx="5212080" cy="457200"/>
          </a:xfrm>
          <a:prstGeom prst="rect">
            <a:avLst/>
          </a:prstGeom>
          <a:noFill/>
          <a:ln/>
        </p:spPr>
        <p:txBody>
          <a:bodyPr wrap="square" lIns="0" tIns="0" rIns="0" bIns="0" rtlCol="0" anchor="ctr"/>
          <a:lstStyle/>
          <a:p>
            <a:pPr indent="0" marL="0">
              <a:buNone/>
            </a:pPr>
            <a:r>
              <a:rPr lang="en-US" sz="1250" i="1" dirty="0">
                <a:solidFill>
                  <a:srgbClr val="B7472A"/>
                </a:solidFill>
                <a:latin typeface="Calibri" pitchFamily="34" charset="0"/>
                <a:ea typeface="Calibri" pitchFamily="34" charset="-122"/>
                <a:cs typeface="Calibri" pitchFamily="34" charset="-120"/>
              </a:rPr>
              <a:t>The courses cell holds more than one value — not atomic.</a:t>
            </a:r>
            <a:endParaRPr lang="en-US" sz="1250" dirty="0"/>
          </a:p>
        </p:txBody>
      </p:sp>
      <p:sp>
        <p:nvSpPr>
          <p:cNvPr id="9" name="Shape 6"/>
          <p:cNvSpPr/>
          <p:nvPr/>
        </p:nvSpPr>
        <p:spPr>
          <a:xfrm>
            <a:off x="6400800" y="2057400"/>
            <a:ext cx="1645920" cy="347472"/>
          </a:xfrm>
          <a:prstGeom prst="roundRect">
            <a:avLst>
              <a:gd name="adj" fmla="val 21053"/>
            </a:avLst>
          </a:prstGeom>
          <a:solidFill>
            <a:srgbClr val="DCEEE8"/>
          </a:solidFill>
          <a:ln/>
        </p:spPr>
      </p:sp>
      <p:sp>
        <p:nvSpPr>
          <p:cNvPr id="10" name="Text 7"/>
          <p:cNvSpPr/>
          <p:nvPr/>
        </p:nvSpPr>
        <p:spPr>
          <a:xfrm>
            <a:off x="6400800" y="2057400"/>
            <a:ext cx="1645920" cy="347472"/>
          </a:xfrm>
          <a:prstGeom prst="rect">
            <a:avLst/>
          </a:prstGeom>
          <a:noFill/>
          <a:ln/>
        </p:spPr>
        <p:txBody>
          <a:bodyPr wrap="square" lIns="0" tIns="0" rIns="0" bIns="0" rtlCol="0" anchor="ctr"/>
          <a:lstStyle/>
          <a:p>
            <a:pPr algn="ctr" indent="0" marL="0">
              <a:buNone/>
            </a:pPr>
            <a:r>
              <a:rPr lang="en-US" sz="1200" b="1" dirty="0">
                <a:solidFill>
                  <a:srgbClr val="1B7A63"/>
                </a:solidFill>
                <a:latin typeface="Calibri" pitchFamily="34" charset="0"/>
                <a:ea typeface="Calibri" pitchFamily="34" charset="-122"/>
                <a:cs typeface="Calibri" pitchFamily="34" charset="-120"/>
              </a:rPr>
              <a:t>✓ 1NF</a:t>
            </a:r>
            <a:endParaRPr lang="en-US" sz="12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400800" y="2514600"/>
          <a:ext cx="5212080" cy="2011680"/>
        </p:xfrm>
        <a:graphic>
          <a:graphicData uri="http://schemas.openxmlformats.org/drawingml/2006/table">
            <a:tbl>
              <a:tblPr/>
              <a:tblGrid>
                <a:gridCol w="1737360"/>
                <a:gridCol w="1737360"/>
                <a:gridCol w="173736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student_id</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course</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r>
              <a:tr h="402336">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Rahul</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1B7A63"/>
                          </a:solidFill>
                          <a:latin typeface="Calibri" pitchFamily="34" charset="0"/>
                          <a:ea typeface="Calibri" pitchFamily="34" charset="-122"/>
                          <a:cs typeface="Calibri" pitchFamily="34" charset="-120"/>
                        </a:rPr>
                        <a:t>Java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402336">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Rahul</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1B7A63"/>
                          </a:solidFill>
                          <a:latin typeface="Calibri" pitchFamily="34" charset="0"/>
                          <a:ea typeface="Calibri" pitchFamily="34" charset="-122"/>
                          <a:cs typeface="Calibri" pitchFamily="34" charset="-120"/>
                        </a:rPr>
                        <a:t>Python</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402336">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Priya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1B7A63"/>
                          </a:solidFill>
                          <a:latin typeface="Calibri" pitchFamily="34" charset="0"/>
                          <a:ea typeface="Calibri" pitchFamily="34" charset="-122"/>
                          <a:cs typeface="Calibri" pitchFamily="34" charset="-120"/>
                        </a:rPr>
                        <a:t>Java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402336">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dirty="0">
                          <a:solidFill>
                            <a:srgbClr val="17222A"/>
                          </a:solidFill>
                          <a:latin typeface="Calibri" pitchFamily="34" charset="0"/>
                          <a:ea typeface="Calibri" pitchFamily="34" charset="-122"/>
                          <a:cs typeface="Calibri" pitchFamily="34" charset="-120"/>
                        </a:rPr>
                        <a:t>Priya</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300" b="1" dirty="0">
                          <a:solidFill>
                            <a:srgbClr val="1B7A63"/>
                          </a:solidFill>
                          <a:latin typeface="Calibri" pitchFamily="34" charset="0"/>
                          <a:ea typeface="Calibri" pitchFamily="34" charset="-122"/>
                          <a:cs typeface="Calibri" pitchFamily="34" charset="-120"/>
                        </a:rPr>
                        <a:t>SQL</a:t>
                      </a:r>
                      <a:endParaRPr lang="en-US" sz="130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12" name="Text 8"/>
          <p:cNvSpPr/>
          <p:nvPr/>
        </p:nvSpPr>
        <p:spPr>
          <a:xfrm>
            <a:off x="6400800" y="4617720"/>
            <a:ext cx="5212080" cy="365760"/>
          </a:xfrm>
          <a:prstGeom prst="rect">
            <a:avLst/>
          </a:prstGeom>
          <a:noFill/>
          <a:ln/>
        </p:spPr>
        <p:txBody>
          <a:bodyPr wrap="square" lIns="0" tIns="0" rIns="0" bIns="0" rtlCol="0" anchor="ctr"/>
          <a:lstStyle/>
          <a:p>
            <a:pPr indent="0" marL="0">
              <a:buNone/>
            </a:pPr>
            <a:r>
              <a:rPr lang="en-US" sz="1250" i="1" dirty="0">
                <a:solidFill>
                  <a:srgbClr val="1B7A63"/>
                </a:solidFill>
                <a:latin typeface="Calibri" pitchFamily="34" charset="0"/>
                <a:ea typeface="Calibri" pitchFamily="34" charset="-122"/>
                <a:cs typeface="Calibri" pitchFamily="34" charset="-120"/>
              </a:rPr>
              <a:t>One value per cell — each row is now atomic.</a:t>
            </a:r>
            <a:endParaRPr lang="en-US" sz="1250" dirty="0"/>
          </a:p>
        </p:txBody>
      </p:sp>
      <p:sp>
        <p:nvSpPr>
          <p:cNvPr id="13" name="Shape 9"/>
          <p:cNvSpPr/>
          <p:nvPr/>
        </p:nvSpPr>
        <p:spPr>
          <a:xfrm>
            <a:off x="548640" y="5212080"/>
            <a:ext cx="11064240" cy="868680"/>
          </a:xfrm>
          <a:prstGeom prst="roundRect">
            <a:avLst>
              <a:gd name="adj" fmla="val 8421"/>
            </a:avLst>
          </a:prstGeom>
          <a:solidFill>
            <a:srgbClr val="21295C"/>
          </a:solidFill>
          <a:ln/>
        </p:spPr>
      </p:sp>
      <p:sp>
        <p:nvSpPr>
          <p:cNvPr id="14" name="Text 10"/>
          <p:cNvSpPr/>
          <p:nvPr/>
        </p:nvSpPr>
        <p:spPr>
          <a:xfrm>
            <a:off x="914400" y="5212080"/>
            <a:ext cx="10332720" cy="86868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In practice, repeated multi-value columns (like multiple phone numbers) often become their own related table.</a:t>
            </a:r>
            <a:endParaRPr lang="en-US" sz="1350" dirty="0"/>
          </a:p>
        </p:txBody>
      </p:sp>
      <p:sp>
        <p:nvSpPr>
          <p:cNvPr id="15" name="Text 11"/>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NORMAL FORMS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Second Normal Form — 2NF, Part 1</a:t>
            </a:r>
            <a:endParaRPr lang="en-US" sz="3200" dirty="0"/>
          </a:p>
        </p:txBody>
      </p:sp>
      <p:sp>
        <p:nvSpPr>
          <p:cNvPr id="4" name="Text 2"/>
          <p:cNvSpPr/>
          <p:nvPr/>
        </p:nvSpPr>
        <p:spPr>
          <a:xfrm>
            <a:off x="548640" y="1463040"/>
            <a:ext cx="10881360" cy="5486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2NF builds on 1NF and rules out partial dependency. First, a composite key — a key made from more than one column.</a:t>
            </a:r>
            <a:endParaRPr lang="en-US" sz="1500" dirty="0"/>
          </a:p>
        </p:txBody>
      </p:sp>
      <p:sp>
        <p:nvSpPr>
          <p:cNvPr id="5" name="Shape 3"/>
          <p:cNvSpPr/>
          <p:nvPr/>
        </p:nvSpPr>
        <p:spPr>
          <a:xfrm>
            <a:off x="548640" y="2286000"/>
            <a:ext cx="5212080" cy="1828800"/>
          </a:xfrm>
          <a:prstGeom prst="roundRect">
            <a:avLst>
              <a:gd name="adj" fmla="val 4000"/>
            </a:avLst>
          </a:prstGeom>
          <a:solidFill>
            <a:srgbClr val="EAF3F6"/>
          </a:solidFill>
          <a:ln w="12700">
            <a:solidFill>
              <a:srgbClr val="1C7293"/>
            </a:solidFill>
            <a:prstDash val="solid"/>
          </a:ln>
        </p:spPr>
      </p:sp>
      <p:sp>
        <p:nvSpPr>
          <p:cNvPr id="6" name="Shape 4"/>
          <p:cNvSpPr/>
          <p:nvPr/>
        </p:nvSpPr>
        <p:spPr>
          <a:xfrm>
            <a:off x="868680" y="2560320"/>
            <a:ext cx="502920" cy="502920"/>
          </a:xfrm>
          <a:prstGeom prst="ellipse">
            <a:avLst/>
          </a:prstGeom>
          <a:solidFill>
            <a:srgbClr val="1C7293"/>
          </a:solidFill>
          <a:ln/>
        </p:spPr>
      </p:sp>
      <p:sp>
        <p:nvSpPr>
          <p:cNvPr id="7" name="Text 5"/>
          <p:cNvSpPr/>
          <p:nvPr/>
        </p:nvSpPr>
        <p:spPr>
          <a:xfrm>
            <a:off x="868680" y="25603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ID</a:t>
            </a:r>
            <a:endParaRPr lang="en-US" sz="1500" dirty="0"/>
          </a:p>
        </p:txBody>
      </p:sp>
      <p:sp>
        <p:nvSpPr>
          <p:cNvPr id="8" name="Text 6"/>
          <p:cNvSpPr/>
          <p:nvPr/>
        </p:nvSpPr>
        <p:spPr>
          <a:xfrm>
            <a:off x="1554480" y="2606040"/>
            <a:ext cx="1828800" cy="41148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student_id</a:t>
            </a:r>
            <a:endParaRPr lang="en-US" sz="1400" dirty="0"/>
          </a:p>
        </p:txBody>
      </p:sp>
      <p:sp>
        <p:nvSpPr>
          <p:cNvPr id="9" name="Text 7"/>
          <p:cNvSpPr/>
          <p:nvPr/>
        </p:nvSpPr>
        <p:spPr>
          <a:xfrm>
            <a:off x="3383280" y="2606040"/>
            <a:ext cx="365760" cy="411480"/>
          </a:xfrm>
          <a:prstGeom prst="rect">
            <a:avLst/>
          </a:prstGeom>
          <a:noFill/>
          <a:ln/>
        </p:spPr>
        <p:txBody>
          <a:bodyPr wrap="square" lIns="0" tIns="0" rIns="0" bIns="0" rtlCol="0" anchor="ctr"/>
          <a:lstStyle/>
          <a:p>
            <a:pPr indent="0" marL="0">
              <a:buNone/>
            </a:pPr>
            <a:r>
              <a:rPr lang="en-US" sz="1800" b="1" dirty="0">
                <a:solidFill>
                  <a:srgbClr val="51707C"/>
                </a:solidFill>
                <a:latin typeface="Cambria" pitchFamily="34" charset="0"/>
                <a:ea typeface="Cambria" pitchFamily="34" charset="-122"/>
                <a:cs typeface="Cambria" pitchFamily="34" charset="-120"/>
              </a:rPr>
              <a:t>+</a:t>
            </a:r>
            <a:endParaRPr lang="en-US" sz="1800" dirty="0"/>
          </a:p>
        </p:txBody>
      </p:sp>
      <p:sp>
        <p:nvSpPr>
          <p:cNvPr id="10" name="Shape 8"/>
          <p:cNvSpPr/>
          <p:nvPr/>
        </p:nvSpPr>
        <p:spPr>
          <a:xfrm>
            <a:off x="868680" y="3200400"/>
            <a:ext cx="502920" cy="502920"/>
          </a:xfrm>
          <a:prstGeom prst="ellipse">
            <a:avLst/>
          </a:prstGeom>
          <a:solidFill>
            <a:srgbClr val="1C7293"/>
          </a:solidFill>
          <a:ln/>
        </p:spPr>
      </p:sp>
      <p:sp>
        <p:nvSpPr>
          <p:cNvPr id="11" name="Text 9"/>
          <p:cNvSpPr/>
          <p:nvPr/>
        </p:nvSpPr>
        <p:spPr>
          <a:xfrm>
            <a:off x="868680" y="3200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ID</a:t>
            </a:r>
            <a:endParaRPr lang="en-US" sz="1500" dirty="0"/>
          </a:p>
        </p:txBody>
      </p:sp>
      <p:sp>
        <p:nvSpPr>
          <p:cNvPr id="12" name="Text 10"/>
          <p:cNvSpPr/>
          <p:nvPr/>
        </p:nvSpPr>
        <p:spPr>
          <a:xfrm>
            <a:off x="1554480" y="3246120"/>
            <a:ext cx="1828800" cy="41148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course_id</a:t>
            </a:r>
            <a:endParaRPr lang="en-US" sz="1400" dirty="0"/>
          </a:p>
        </p:txBody>
      </p:sp>
      <p:sp>
        <p:nvSpPr>
          <p:cNvPr id="13" name="Shape 11"/>
          <p:cNvSpPr/>
          <p:nvPr/>
        </p:nvSpPr>
        <p:spPr>
          <a:xfrm>
            <a:off x="868680" y="3840480"/>
            <a:ext cx="4480560" cy="0"/>
          </a:xfrm>
          <a:prstGeom prst="line">
            <a:avLst/>
          </a:prstGeom>
          <a:noFill/>
          <a:ln w="19050">
            <a:solidFill>
              <a:srgbClr val="1C7293"/>
            </a:solidFill>
            <a:prstDash val="dash"/>
          </a:ln>
        </p:spPr>
      </p:sp>
      <p:sp>
        <p:nvSpPr>
          <p:cNvPr id="14" name="Text 12"/>
          <p:cNvSpPr/>
          <p:nvPr/>
        </p:nvSpPr>
        <p:spPr>
          <a:xfrm>
            <a:off x="868680" y="3931920"/>
            <a:ext cx="4480560" cy="457200"/>
          </a:xfrm>
          <a:prstGeom prst="rect">
            <a:avLst/>
          </a:prstGeom>
          <a:noFill/>
          <a:ln/>
        </p:spPr>
        <p:txBody>
          <a:bodyPr wrap="square" lIns="0" tIns="0" rIns="0" bIns="0" rtlCol="0" anchor="ctr"/>
          <a:lstStyle/>
          <a:p>
            <a:pPr indent="0" marL="0">
              <a:buNone/>
            </a:pPr>
            <a:r>
              <a:rPr lang="en-US" sz="1300" i="1" dirty="0">
                <a:solidFill>
                  <a:srgbClr val="17222A"/>
                </a:solidFill>
                <a:latin typeface="Calibri" pitchFamily="34" charset="0"/>
                <a:ea typeface="Calibri" pitchFamily="34" charset="-122"/>
                <a:cs typeface="Calibri" pitchFamily="34" charset="-120"/>
              </a:rPr>
              <a:t>Together, they uniquely identify one enrollment record.</a:t>
            </a:r>
            <a:endParaRPr lang="en-US" sz="1300" dirty="0"/>
          </a:p>
        </p:txBody>
      </p:sp>
      <p:sp>
        <p:nvSpPr>
          <p:cNvPr id="15" name="Shape 13"/>
          <p:cNvSpPr/>
          <p:nvPr/>
        </p:nvSpPr>
        <p:spPr>
          <a:xfrm>
            <a:off x="6309360" y="2286000"/>
            <a:ext cx="5303520" cy="3108960"/>
          </a:xfrm>
          <a:prstGeom prst="roundRect">
            <a:avLst>
              <a:gd name="adj" fmla="val 2353"/>
            </a:avLst>
          </a:prstGeom>
          <a:solidFill>
            <a:srgbClr val="FFFFFF"/>
          </a:solidFill>
          <a:ln w="15875">
            <a:solidFill>
              <a:srgbClr val="D5E3E8"/>
            </a:solidFill>
            <a:prstDash val="solid"/>
          </a:ln>
        </p:spPr>
      </p:sp>
      <p:sp>
        <p:nvSpPr>
          <p:cNvPr id="16" name="Text 14"/>
          <p:cNvSpPr/>
          <p:nvPr/>
        </p:nvSpPr>
        <p:spPr>
          <a:xfrm>
            <a:off x="6537960" y="2423160"/>
            <a:ext cx="4846320"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PRIMARY KEY (student_id, course_id)</a:t>
            </a:r>
            <a:endParaRPr lang="en-US" sz="1300" dirty="0"/>
          </a:p>
        </p:txBody>
      </p:sp>
      <p:sp>
        <p:nvSpPr>
          <p:cNvPr id="17" name="Text 15"/>
          <p:cNvSpPr/>
          <p:nvPr/>
        </p:nvSpPr>
        <p:spPr>
          <a:xfrm>
            <a:off x="6537960" y="2880360"/>
            <a:ext cx="4846320" cy="914400"/>
          </a:xfrm>
          <a:prstGeom prst="rect">
            <a:avLst/>
          </a:prstGeom>
          <a:noFill/>
          <a:ln/>
        </p:spPr>
        <p:txBody>
          <a:bodyPr wrap="square" lIns="0" tIns="0" rIns="0" bIns="0" rtlCol="0" anchor="ctr"/>
          <a:lstStyle/>
          <a:p>
            <a:pPr indent="0" marL="0">
              <a:buNone/>
            </a:pPr>
            <a:r>
              <a:rPr lang="en-US" sz="1300" dirty="0">
                <a:solidFill>
                  <a:srgbClr val="17222A"/>
                </a:solidFill>
                <a:latin typeface="Calibri" pitchFamily="34" charset="0"/>
                <a:ea typeface="Calibri" pitchFamily="34" charset="-122"/>
                <a:cs typeface="Calibri" pitchFamily="34" charset="-120"/>
              </a:rPr>
              <a:t>Neither column is unique on its own — many students can enroll, and each course has many students. Only the pair is unique.</a:t>
            </a:r>
            <a:endParaRPr lang="en-US" sz="1300" dirty="0"/>
          </a:p>
        </p:txBody>
      </p:sp>
      <p:sp>
        <p:nvSpPr>
          <p:cNvPr id="18" name="Text 16"/>
          <p:cNvSpPr/>
          <p:nvPr/>
        </p:nvSpPr>
        <p:spPr>
          <a:xfrm>
            <a:off x="6537960" y="3931920"/>
            <a:ext cx="4846320" cy="1188720"/>
          </a:xfrm>
          <a:prstGeom prst="rect">
            <a:avLst/>
          </a:prstGeom>
          <a:noFill/>
          <a:ln/>
        </p:spPr>
        <p:txBody>
          <a:bodyPr wrap="square" lIns="0" tIns="0" rIns="0" bIns="0" rtlCol="0" anchor="ctr"/>
          <a:lstStyle/>
          <a:p>
            <a:pPr indent="0" marL="0">
              <a:buNone/>
            </a:pPr>
            <a:r>
              <a:rPr lang="en-US" sz="1300" i="1" dirty="0">
                <a:solidFill>
                  <a:srgbClr val="51707C"/>
                </a:solidFill>
                <a:latin typeface="Calibri" pitchFamily="34" charset="0"/>
                <a:ea typeface="Calibri" pitchFamily="34" charset="-122"/>
                <a:cs typeface="Calibri" pitchFamily="34" charset="-120"/>
              </a:rPr>
              <a:t>This composite-key idea is what 2NF's rule about "partial" dependency is built on — next slide.</a:t>
            </a:r>
            <a:endParaRPr lang="en-US" sz="1300" dirty="0"/>
          </a:p>
        </p:txBody>
      </p:sp>
      <p:sp>
        <p:nvSpPr>
          <p:cNvPr id="19" name="Text 17"/>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NORMAL FORMS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Second Normal Form — 2NF, Part 2</a:t>
            </a:r>
            <a:endParaRPr lang="en-US" sz="3200" dirty="0"/>
          </a:p>
        </p:txBody>
      </p:sp>
      <p:sp>
        <p:nvSpPr>
          <p:cNvPr id="4" name="Text 2"/>
          <p:cNvSpPr/>
          <p:nvPr/>
        </p:nvSpPr>
        <p:spPr>
          <a:xfrm>
            <a:off x="548640" y="1417320"/>
            <a:ext cx="10881360" cy="41148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A partial dependency: a non-key column depends on only part of the composite key.</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1463040"/>
        </p:xfrm>
        <a:graphic>
          <a:graphicData uri="http://schemas.openxmlformats.org/drawingml/2006/table">
            <a:tbl>
              <a:tblPr/>
              <a:tblGrid>
                <a:gridCol w="2212848"/>
                <a:gridCol w="2212848"/>
                <a:gridCol w="2212848"/>
                <a:gridCol w="2212848"/>
                <a:gridCol w="2212848"/>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student_id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course_id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student_name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course_name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marks</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1B7A63"/>
                    </a:solidFill>
                  </a:tcPr>
                </a:tc>
              </a:tr>
              <a:tr h="36576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Rahul</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Java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85</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6576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102</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Rahul</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90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6576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Priya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Java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6" name="Text 3"/>
          <p:cNvSpPr/>
          <p:nvPr/>
        </p:nvSpPr>
        <p:spPr>
          <a:xfrm>
            <a:off x="548640" y="3520440"/>
            <a:ext cx="3566160" cy="548640"/>
          </a:xfrm>
          <a:prstGeom prst="rect">
            <a:avLst/>
          </a:prstGeom>
          <a:noFill/>
          <a:ln/>
        </p:spPr>
        <p:txBody>
          <a:bodyPr wrap="square" lIns="0" tIns="0" rIns="0" bIns="0" rtlCol="0" anchor="ctr"/>
          <a:lstStyle/>
          <a:p>
            <a:pPr indent="0" marL="0">
              <a:buNone/>
            </a:pPr>
            <a:r>
              <a:rPr lang="en-US" sz="1250" dirty="0">
                <a:solidFill>
                  <a:srgbClr val="B7472A"/>
                </a:solidFill>
                <a:latin typeface="Calibri" pitchFamily="34" charset="0"/>
                <a:ea typeface="Calibri" pitchFamily="34" charset="-122"/>
                <a:cs typeface="Calibri" pitchFamily="34" charset="-120"/>
              </a:rPr>
              <a:t>student_name → depends only on student_id</a:t>
            </a:r>
            <a:endParaRPr lang="en-US" sz="1250" dirty="0"/>
          </a:p>
        </p:txBody>
      </p:sp>
      <p:sp>
        <p:nvSpPr>
          <p:cNvPr id="7" name="Text 4"/>
          <p:cNvSpPr/>
          <p:nvPr/>
        </p:nvSpPr>
        <p:spPr>
          <a:xfrm>
            <a:off x="4160520" y="3520440"/>
            <a:ext cx="3566160" cy="548640"/>
          </a:xfrm>
          <a:prstGeom prst="rect">
            <a:avLst/>
          </a:prstGeom>
          <a:noFill/>
          <a:ln/>
        </p:spPr>
        <p:txBody>
          <a:bodyPr wrap="square" lIns="0" tIns="0" rIns="0" bIns="0" rtlCol="0" anchor="ctr"/>
          <a:lstStyle/>
          <a:p>
            <a:pPr indent="0" marL="0">
              <a:buNone/>
            </a:pPr>
            <a:r>
              <a:rPr lang="en-US" sz="1250" dirty="0">
                <a:solidFill>
                  <a:srgbClr val="B7472A"/>
                </a:solidFill>
                <a:latin typeface="Calibri" pitchFamily="34" charset="0"/>
                <a:ea typeface="Calibri" pitchFamily="34" charset="-122"/>
                <a:cs typeface="Calibri" pitchFamily="34" charset="-120"/>
              </a:rPr>
              <a:t>course_name → depends only on course_id</a:t>
            </a:r>
            <a:endParaRPr lang="en-US" sz="1250" dirty="0"/>
          </a:p>
        </p:txBody>
      </p:sp>
      <p:sp>
        <p:nvSpPr>
          <p:cNvPr id="8" name="Text 5"/>
          <p:cNvSpPr/>
          <p:nvPr/>
        </p:nvSpPr>
        <p:spPr>
          <a:xfrm>
            <a:off x="8138160" y="3520440"/>
            <a:ext cx="3566160" cy="548640"/>
          </a:xfrm>
          <a:prstGeom prst="rect">
            <a:avLst/>
          </a:prstGeom>
          <a:noFill/>
          <a:ln/>
        </p:spPr>
        <p:txBody>
          <a:bodyPr wrap="square" lIns="0" tIns="0" rIns="0" bIns="0" rtlCol="0" anchor="ctr"/>
          <a:lstStyle/>
          <a:p>
            <a:pPr indent="0" marL="0">
              <a:buNone/>
            </a:pPr>
            <a:r>
              <a:rPr lang="en-US" sz="1250" dirty="0">
                <a:solidFill>
                  <a:srgbClr val="1B7A63"/>
                </a:solidFill>
                <a:latin typeface="Calibri" pitchFamily="34" charset="0"/>
                <a:ea typeface="Calibri" pitchFamily="34" charset="-122"/>
                <a:cs typeface="Calibri" pitchFamily="34" charset="-120"/>
              </a:rPr>
              <a:t>marks → depends on the full key</a:t>
            </a:r>
            <a:endParaRPr lang="en-US" sz="1250" dirty="0"/>
          </a:p>
        </p:txBody>
      </p:sp>
      <p:sp>
        <p:nvSpPr>
          <p:cNvPr id="9" name="Shape 6"/>
          <p:cNvSpPr/>
          <p:nvPr/>
        </p:nvSpPr>
        <p:spPr>
          <a:xfrm>
            <a:off x="5852160" y="4114800"/>
            <a:ext cx="256032" cy="320040"/>
          </a:xfrm>
          <a:prstGeom prst="downArrow">
            <a:avLst/>
          </a:prstGeom>
          <a:solidFill>
            <a:srgbClr val="51707C"/>
          </a:solidFill>
          <a:ln/>
        </p:spPr>
      </p:sp>
      <p:sp>
        <p:nvSpPr>
          <p:cNvPr id="10" name="Shape 7"/>
          <p:cNvSpPr/>
          <p:nvPr/>
        </p:nvSpPr>
        <p:spPr>
          <a:xfrm>
            <a:off x="548640" y="4572000"/>
            <a:ext cx="3520440" cy="1051560"/>
          </a:xfrm>
          <a:prstGeom prst="roundRect">
            <a:avLst>
              <a:gd name="adj" fmla="val 6087"/>
            </a:avLst>
          </a:prstGeom>
          <a:solidFill>
            <a:srgbClr val="065A82"/>
          </a:solidFill>
          <a:ln/>
        </p:spPr>
      </p:sp>
      <p:sp>
        <p:nvSpPr>
          <p:cNvPr id="11" name="Text 8"/>
          <p:cNvSpPr/>
          <p:nvPr/>
        </p:nvSpPr>
        <p:spPr>
          <a:xfrm>
            <a:off x="685800" y="4681728"/>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p>
        </p:txBody>
      </p:sp>
      <p:sp>
        <p:nvSpPr>
          <p:cNvPr id="12" name="Text 9"/>
          <p:cNvSpPr/>
          <p:nvPr/>
        </p:nvSpPr>
        <p:spPr>
          <a:xfrm>
            <a:off x="685800" y="5074920"/>
            <a:ext cx="3246120" cy="502920"/>
          </a:xfrm>
          <a:prstGeom prst="rect">
            <a:avLst/>
          </a:prstGeom>
          <a:noFill/>
          <a:ln/>
        </p:spPr>
        <p:txBody>
          <a:bodyPr wrap="square" lIns="0" tIns="0" rIns="0" bIns="0" rtlCol="0" anchor="ctr"/>
          <a:lstStyle/>
          <a:p>
            <a:pPr indent="0" marL="0">
              <a:buNone/>
            </a:pPr>
            <a:r>
              <a:rPr lang="en-US" sz="1150" dirty="0">
                <a:solidFill>
                  <a:srgbClr val="E4F1F6"/>
                </a:solidFill>
                <a:latin typeface="Calibri" pitchFamily="34" charset="0"/>
                <a:ea typeface="Calibri" pitchFamily="34" charset="-122"/>
                <a:cs typeface="Calibri" pitchFamily="34" charset="-120"/>
              </a:rPr>
              <a:t>student_id, name</a:t>
            </a:r>
            <a:endParaRPr lang="en-US" sz="1150" dirty="0"/>
          </a:p>
        </p:txBody>
      </p:sp>
      <p:sp>
        <p:nvSpPr>
          <p:cNvPr id="13" name="Shape 10"/>
          <p:cNvSpPr/>
          <p:nvPr/>
        </p:nvSpPr>
        <p:spPr>
          <a:xfrm>
            <a:off x="4343400" y="4572000"/>
            <a:ext cx="3520440" cy="1051560"/>
          </a:xfrm>
          <a:prstGeom prst="roundRect">
            <a:avLst>
              <a:gd name="adj" fmla="val 6087"/>
            </a:avLst>
          </a:prstGeom>
          <a:solidFill>
            <a:srgbClr val="1C7293"/>
          </a:solidFill>
          <a:ln/>
        </p:spPr>
      </p:sp>
      <p:sp>
        <p:nvSpPr>
          <p:cNvPr id="14" name="Text 11"/>
          <p:cNvSpPr/>
          <p:nvPr/>
        </p:nvSpPr>
        <p:spPr>
          <a:xfrm>
            <a:off x="4480560" y="4681728"/>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Course</a:t>
            </a:r>
            <a:endParaRPr lang="en-US" sz="1400" dirty="0"/>
          </a:p>
        </p:txBody>
      </p:sp>
      <p:sp>
        <p:nvSpPr>
          <p:cNvPr id="15" name="Text 12"/>
          <p:cNvSpPr/>
          <p:nvPr/>
        </p:nvSpPr>
        <p:spPr>
          <a:xfrm>
            <a:off x="4480560" y="5074920"/>
            <a:ext cx="3246120" cy="502920"/>
          </a:xfrm>
          <a:prstGeom prst="rect">
            <a:avLst/>
          </a:prstGeom>
          <a:noFill/>
          <a:ln/>
        </p:spPr>
        <p:txBody>
          <a:bodyPr wrap="square" lIns="0" tIns="0" rIns="0" bIns="0" rtlCol="0" anchor="ctr"/>
          <a:lstStyle/>
          <a:p>
            <a:pPr indent="0" marL="0">
              <a:buNone/>
            </a:pPr>
            <a:r>
              <a:rPr lang="en-US" sz="1150" dirty="0">
                <a:solidFill>
                  <a:srgbClr val="E4F1F6"/>
                </a:solidFill>
                <a:latin typeface="Calibri" pitchFamily="34" charset="0"/>
                <a:ea typeface="Calibri" pitchFamily="34" charset="-122"/>
                <a:cs typeface="Calibri" pitchFamily="34" charset="-120"/>
              </a:rPr>
              <a:t>course_id, name</a:t>
            </a:r>
            <a:endParaRPr lang="en-US" sz="1150" dirty="0"/>
          </a:p>
        </p:txBody>
      </p:sp>
      <p:sp>
        <p:nvSpPr>
          <p:cNvPr id="16" name="Shape 13"/>
          <p:cNvSpPr/>
          <p:nvPr/>
        </p:nvSpPr>
        <p:spPr>
          <a:xfrm>
            <a:off x="8138160" y="4572000"/>
            <a:ext cx="3520440" cy="1051560"/>
          </a:xfrm>
          <a:prstGeom prst="roundRect">
            <a:avLst>
              <a:gd name="adj" fmla="val 6087"/>
            </a:avLst>
          </a:prstGeom>
          <a:solidFill>
            <a:srgbClr val="21295C"/>
          </a:solidFill>
          <a:ln/>
        </p:spPr>
      </p:sp>
      <p:sp>
        <p:nvSpPr>
          <p:cNvPr id="17" name="Text 14"/>
          <p:cNvSpPr/>
          <p:nvPr/>
        </p:nvSpPr>
        <p:spPr>
          <a:xfrm>
            <a:off x="8275320" y="4681728"/>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Enrollment</a:t>
            </a:r>
            <a:endParaRPr lang="en-US" sz="1400" dirty="0"/>
          </a:p>
        </p:txBody>
      </p:sp>
      <p:sp>
        <p:nvSpPr>
          <p:cNvPr id="18" name="Text 15"/>
          <p:cNvSpPr/>
          <p:nvPr/>
        </p:nvSpPr>
        <p:spPr>
          <a:xfrm>
            <a:off x="8275320" y="5074920"/>
            <a:ext cx="3246120" cy="502920"/>
          </a:xfrm>
          <a:prstGeom prst="rect">
            <a:avLst/>
          </a:prstGeom>
          <a:noFill/>
          <a:ln/>
        </p:spPr>
        <p:txBody>
          <a:bodyPr wrap="square" lIns="0" tIns="0" rIns="0" bIns="0" rtlCol="0" anchor="ctr"/>
          <a:lstStyle/>
          <a:p>
            <a:pPr indent="0" marL="0">
              <a:buNone/>
            </a:pPr>
            <a:r>
              <a:rPr lang="en-US" sz="1150" dirty="0">
                <a:solidFill>
                  <a:srgbClr val="E4F1F6"/>
                </a:solidFill>
                <a:latin typeface="Calibri" pitchFamily="34" charset="0"/>
                <a:ea typeface="Calibri" pitchFamily="34" charset="-122"/>
                <a:cs typeface="Calibri" pitchFamily="34" charset="-120"/>
              </a:rPr>
              <a:t>student_id + course_id, marks</a:t>
            </a:r>
            <a:endParaRPr lang="en-US" sz="1150" dirty="0"/>
          </a:p>
        </p:txBody>
      </p:sp>
      <p:sp>
        <p:nvSpPr>
          <p:cNvPr id="19" name="Text 16"/>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NORMAL FORMS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Third Normal Form — 3NF</a:t>
            </a:r>
            <a:endParaRPr lang="en-US" sz="3200" dirty="0"/>
          </a:p>
        </p:txBody>
      </p:sp>
      <p:sp>
        <p:nvSpPr>
          <p:cNvPr id="4" name="Text 2"/>
          <p:cNvSpPr/>
          <p:nvPr/>
        </p:nvSpPr>
        <p:spPr>
          <a:xfrm>
            <a:off x="548640" y="1417320"/>
            <a:ext cx="10881360" cy="5486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3NF builds on 2NF and rules out transitive dependency — a column depending on another non-key column, not directly on the key.</a:t>
            </a:r>
            <a:endParaRPr lang="en-US" sz="1500" dirty="0"/>
          </a:p>
        </p:txBody>
      </p:sp>
      <p:sp>
        <p:nvSpPr>
          <p:cNvPr id="5" name="Shape 3"/>
          <p:cNvSpPr/>
          <p:nvPr/>
        </p:nvSpPr>
        <p:spPr>
          <a:xfrm>
            <a:off x="548640" y="2148840"/>
            <a:ext cx="1005840" cy="1005840"/>
          </a:xfrm>
          <a:prstGeom prst="ellipse">
            <a:avLst/>
          </a:prstGeom>
          <a:solidFill>
            <a:srgbClr val="065A82"/>
          </a:solidFill>
          <a:ln/>
        </p:spPr>
      </p:sp>
      <p:sp>
        <p:nvSpPr>
          <p:cNvPr id="6" name="Text 4"/>
          <p:cNvSpPr/>
          <p:nvPr/>
        </p:nvSpPr>
        <p:spPr>
          <a:xfrm>
            <a:off x="548640" y="21488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emp_id</a:t>
            </a:r>
            <a:endParaRPr lang="en-US" sz="1300" dirty="0"/>
          </a:p>
        </p:txBody>
      </p:sp>
      <p:sp>
        <p:nvSpPr>
          <p:cNvPr id="7" name="Shape 5"/>
          <p:cNvSpPr/>
          <p:nvPr/>
        </p:nvSpPr>
        <p:spPr>
          <a:xfrm>
            <a:off x="1691640" y="2542032"/>
            <a:ext cx="502920" cy="219456"/>
          </a:xfrm>
          <a:prstGeom prst="rightArrow">
            <a:avLst/>
          </a:prstGeom>
          <a:solidFill>
            <a:srgbClr val="51707C"/>
          </a:solidFill>
          <a:ln/>
        </p:spPr>
      </p:sp>
      <p:sp>
        <p:nvSpPr>
          <p:cNvPr id="8" name="Shape 6"/>
          <p:cNvSpPr/>
          <p:nvPr/>
        </p:nvSpPr>
        <p:spPr>
          <a:xfrm>
            <a:off x="2331720" y="2148840"/>
            <a:ext cx="1005840" cy="1005840"/>
          </a:xfrm>
          <a:prstGeom prst="ellipse">
            <a:avLst/>
          </a:prstGeom>
          <a:solidFill>
            <a:srgbClr val="1C7293"/>
          </a:solidFill>
          <a:ln/>
        </p:spPr>
      </p:sp>
      <p:sp>
        <p:nvSpPr>
          <p:cNvPr id="9" name="Text 7"/>
          <p:cNvSpPr/>
          <p:nvPr/>
        </p:nvSpPr>
        <p:spPr>
          <a:xfrm>
            <a:off x="2331720" y="21488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dept_id</a:t>
            </a:r>
            <a:endParaRPr lang="en-US" sz="1300" dirty="0"/>
          </a:p>
        </p:txBody>
      </p:sp>
      <p:sp>
        <p:nvSpPr>
          <p:cNvPr id="10" name="Shape 8"/>
          <p:cNvSpPr/>
          <p:nvPr/>
        </p:nvSpPr>
        <p:spPr>
          <a:xfrm>
            <a:off x="3474720" y="2542032"/>
            <a:ext cx="502920" cy="219456"/>
          </a:xfrm>
          <a:prstGeom prst="rightArrow">
            <a:avLst/>
          </a:prstGeom>
          <a:solidFill>
            <a:srgbClr val="B7472A"/>
          </a:solidFill>
          <a:ln/>
        </p:spPr>
      </p:sp>
      <p:sp>
        <p:nvSpPr>
          <p:cNvPr id="11" name="Shape 9"/>
          <p:cNvSpPr/>
          <p:nvPr/>
        </p:nvSpPr>
        <p:spPr>
          <a:xfrm>
            <a:off x="4114800" y="2148840"/>
            <a:ext cx="1188720" cy="1188720"/>
          </a:xfrm>
          <a:prstGeom prst="ellipse">
            <a:avLst/>
          </a:prstGeom>
          <a:solidFill>
            <a:srgbClr val="B7472A"/>
          </a:solidFill>
          <a:ln/>
        </p:spPr>
      </p:sp>
      <p:sp>
        <p:nvSpPr>
          <p:cNvPr id="12" name="Text 10"/>
          <p:cNvSpPr/>
          <p:nvPr/>
        </p:nvSpPr>
        <p:spPr>
          <a:xfrm>
            <a:off x="4114800" y="2148840"/>
            <a:ext cx="118872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dept_name</a:t>
            </a:r>
            <a:endParaRPr lang="en-US" sz="1200" dirty="0"/>
          </a:p>
        </p:txBody>
      </p:sp>
      <p:sp>
        <p:nvSpPr>
          <p:cNvPr id="13" name="Text 11"/>
          <p:cNvSpPr/>
          <p:nvPr/>
        </p:nvSpPr>
        <p:spPr>
          <a:xfrm>
            <a:off x="5577840" y="2377440"/>
            <a:ext cx="6035040" cy="822960"/>
          </a:xfrm>
          <a:prstGeom prst="rect">
            <a:avLst/>
          </a:prstGeom>
          <a:noFill/>
          <a:ln/>
        </p:spPr>
        <p:txBody>
          <a:bodyPr wrap="square" lIns="0" tIns="0" rIns="0" bIns="0" rtlCol="0" anchor="ctr"/>
          <a:lstStyle/>
          <a:p>
            <a:pPr indent="0" marL="0">
              <a:buNone/>
            </a:pPr>
            <a:r>
              <a:rPr lang="en-US" sz="1350" dirty="0">
                <a:solidFill>
                  <a:srgbClr val="17222A"/>
                </a:solidFill>
                <a:latin typeface="Calibri" pitchFamily="34" charset="0"/>
                <a:ea typeface="Calibri" pitchFamily="34" charset="-122"/>
                <a:cs typeface="Calibri" pitchFamily="34" charset="-120"/>
              </a:rPr>
              <a:t>emp_id → dept_id → dept_name  ·  dept_name only reaches emp_id indirectly. That's transitive.</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383280"/>
          <a:ext cx="5760720" cy="1554480"/>
        </p:xfrm>
        <a:graphic>
          <a:graphicData uri="http://schemas.openxmlformats.org/drawingml/2006/table">
            <a:tbl>
              <a:tblPr/>
              <a:tblGrid>
                <a:gridCol w="1440180"/>
                <a:gridCol w="1440180"/>
                <a:gridCol w="1440180"/>
                <a:gridCol w="1440180"/>
              </a:tblGrid>
              <a:tr h="3886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emp_id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emp_name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dept_id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1C729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dept_name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r>
              <a:tr h="38862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Rahul</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IT</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862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102</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Priya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862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Anjali</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IT</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15" name="Text 12"/>
          <p:cNvSpPr/>
          <p:nvPr/>
        </p:nvSpPr>
        <p:spPr>
          <a:xfrm>
            <a:off x="548640" y="5029200"/>
            <a:ext cx="5760720" cy="457200"/>
          </a:xfrm>
          <a:prstGeom prst="rect">
            <a:avLst/>
          </a:prstGeom>
          <a:noFill/>
          <a:ln/>
        </p:spPr>
        <p:txBody>
          <a:bodyPr wrap="square" lIns="0" tIns="0" rIns="0" bIns="0" rtlCol="0" anchor="ctr"/>
          <a:lstStyle/>
          <a:p>
            <a:pPr indent="0" marL="0">
              <a:buNone/>
            </a:pPr>
            <a:r>
              <a:rPr lang="en-US" sz="1250" i="1" dirty="0">
                <a:solidFill>
                  <a:srgbClr val="B7472A"/>
                </a:solidFill>
                <a:latin typeface="Calibri" pitchFamily="34" charset="0"/>
                <a:ea typeface="Calibri" pitchFamily="34" charset="-122"/>
                <a:cs typeface="Calibri" pitchFamily="34" charset="-120"/>
              </a:rPr>
              <a:t>"IT" is repeated — it should live with the department, not the employee.</a:t>
            </a:r>
            <a:endParaRPr lang="en-US" sz="1250" dirty="0"/>
          </a:p>
        </p:txBody>
      </p:sp>
      <p:sp>
        <p:nvSpPr>
          <p:cNvPr id="16" name="Shape 13"/>
          <p:cNvSpPr/>
          <p:nvPr/>
        </p:nvSpPr>
        <p:spPr>
          <a:xfrm>
            <a:off x="6446520" y="4069080"/>
            <a:ext cx="457200" cy="219456"/>
          </a:xfrm>
          <a:prstGeom prst="rightArrow">
            <a:avLst/>
          </a:prstGeom>
          <a:solidFill>
            <a:srgbClr val="1B7A63"/>
          </a:solidFill>
          <a:ln/>
        </p:spPr>
      </p:sp>
      <p:sp>
        <p:nvSpPr>
          <p:cNvPr id="17" name="Shape 14"/>
          <p:cNvSpPr/>
          <p:nvPr/>
        </p:nvSpPr>
        <p:spPr>
          <a:xfrm>
            <a:off x="6995160" y="3429000"/>
            <a:ext cx="2194560" cy="1371600"/>
          </a:xfrm>
          <a:prstGeom prst="roundRect">
            <a:avLst>
              <a:gd name="adj" fmla="val 4667"/>
            </a:avLst>
          </a:prstGeom>
          <a:solidFill>
            <a:srgbClr val="065A82"/>
          </a:solidFill>
          <a:ln/>
        </p:spPr>
      </p:sp>
      <p:sp>
        <p:nvSpPr>
          <p:cNvPr id="18" name="Text 15"/>
          <p:cNvSpPr/>
          <p:nvPr/>
        </p:nvSpPr>
        <p:spPr>
          <a:xfrm>
            <a:off x="6995160" y="3566160"/>
            <a:ext cx="21945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Employee</a:t>
            </a:r>
            <a:endParaRPr lang="en-US" sz="1300" dirty="0"/>
          </a:p>
        </p:txBody>
      </p:sp>
      <p:sp>
        <p:nvSpPr>
          <p:cNvPr id="19" name="Text 16"/>
          <p:cNvSpPr/>
          <p:nvPr/>
        </p:nvSpPr>
        <p:spPr>
          <a:xfrm>
            <a:off x="7132320" y="3977640"/>
            <a:ext cx="1920240" cy="731520"/>
          </a:xfrm>
          <a:prstGeom prst="rect">
            <a:avLst/>
          </a:prstGeom>
          <a:noFill/>
          <a:ln/>
        </p:spPr>
        <p:txBody>
          <a:bodyPr wrap="square" lIns="0" tIns="0" rIns="0" bIns="0" rtlCol="0" anchor="ctr"/>
          <a:lstStyle/>
          <a:p>
            <a:pPr algn="ctr" indent="0" marL="0">
              <a:buNone/>
            </a:pPr>
            <a:r>
              <a:rPr lang="en-US" sz="1100" dirty="0">
                <a:solidFill>
                  <a:srgbClr val="E4F1F6"/>
                </a:solidFill>
                <a:latin typeface="Calibri" pitchFamily="34" charset="0"/>
                <a:ea typeface="Calibri" pitchFamily="34" charset="-122"/>
                <a:cs typeface="Calibri" pitchFamily="34" charset="-120"/>
              </a:rPr>
              <a:t>emp_id, name,</a:t>
            </a:r>
            <a:endParaRPr lang="en-US" sz="1100" dirty="0"/>
          </a:p>
          <a:p>
            <a:pPr algn="ctr" indent="0" marL="0">
              <a:buNone/>
            </a:pPr>
            <a:r>
              <a:rPr lang="en-US" sz="1100" dirty="0">
                <a:solidFill>
                  <a:srgbClr val="E4F1F6"/>
                </a:solidFill>
                <a:latin typeface="Calibri" pitchFamily="34" charset="0"/>
                <a:ea typeface="Calibri" pitchFamily="34" charset="-122"/>
                <a:cs typeface="Calibri" pitchFamily="34" charset="-120"/>
              </a:rPr>
              <a:t>dept_id (FK)</a:t>
            </a:r>
            <a:endParaRPr lang="en-US" sz="1100" dirty="0"/>
          </a:p>
        </p:txBody>
      </p:sp>
      <p:sp>
        <p:nvSpPr>
          <p:cNvPr id="20" name="Shape 17"/>
          <p:cNvSpPr/>
          <p:nvPr/>
        </p:nvSpPr>
        <p:spPr>
          <a:xfrm>
            <a:off x="9372600" y="3429000"/>
            <a:ext cx="2194560" cy="1371600"/>
          </a:xfrm>
          <a:prstGeom prst="roundRect">
            <a:avLst>
              <a:gd name="adj" fmla="val 4667"/>
            </a:avLst>
          </a:prstGeom>
          <a:solidFill>
            <a:srgbClr val="1C7293"/>
          </a:solidFill>
          <a:ln/>
        </p:spPr>
      </p:sp>
      <p:sp>
        <p:nvSpPr>
          <p:cNvPr id="21" name="Text 18"/>
          <p:cNvSpPr/>
          <p:nvPr/>
        </p:nvSpPr>
        <p:spPr>
          <a:xfrm>
            <a:off x="9372600" y="3566160"/>
            <a:ext cx="21945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Department</a:t>
            </a:r>
            <a:endParaRPr lang="en-US" sz="1300" dirty="0"/>
          </a:p>
        </p:txBody>
      </p:sp>
      <p:sp>
        <p:nvSpPr>
          <p:cNvPr id="22" name="Text 19"/>
          <p:cNvSpPr/>
          <p:nvPr/>
        </p:nvSpPr>
        <p:spPr>
          <a:xfrm>
            <a:off x="9509760" y="3977640"/>
            <a:ext cx="1920240" cy="731520"/>
          </a:xfrm>
          <a:prstGeom prst="rect">
            <a:avLst/>
          </a:prstGeom>
          <a:noFill/>
          <a:ln/>
        </p:spPr>
        <p:txBody>
          <a:bodyPr wrap="square" lIns="0" tIns="0" rIns="0" bIns="0" rtlCol="0" anchor="ctr"/>
          <a:lstStyle/>
          <a:p>
            <a:pPr algn="ctr" indent="0" marL="0">
              <a:buNone/>
            </a:pPr>
            <a:r>
              <a:rPr lang="en-US" sz="1100" dirty="0">
                <a:solidFill>
                  <a:srgbClr val="E4F1F6"/>
                </a:solidFill>
                <a:latin typeface="Calibri" pitchFamily="34" charset="0"/>
                <a:ea typeface="Calibri" pitchFamily="34" charset="-122"/>
                <a:cs typeface="Calibri" pitchFamily="34" charset="-120"/>
              </a:rPr>
              <a:t>dept_id,</a:t>
            </a:r>
            <a:endParaRPr lang="en-US" sz="1100" dirty="0"/>
          </a:p>
          <a:p>
            <a:pPr algn="ctr" indent="0" marL="0">
              <a:buNone/>
            </a:pPr>
            <a:r>
              <a:rPr lang="en-US" sz="1100" dirty="0">
                <a:solidFill>
                  <a:srgbClr val="E4F1F6"/>
                </a:solidFill>
                <a:latin typeface="Calibri" pitchFamily="34" charset="0"/>
                <a:ea typeface="Calibri" pitchFamily="34" charset="-122"/>
                <a:cs typeface="Calibri" pitchFamily="34" charset="-120"/>
              </a:rPr>
              <a:t>dept_name</a:t>
            </a:r>
            <a:endParaRPr lang="en-US" sz="1100" dirty="0"/>
          </a:p>
        </p:txBody>
      </p:sp>
      <p:sp>
        <p:nvSpPr>
          <p:cNvPr id="23" name="Shape 20"/>
          <p:cNvSpPr/>
          <p:nvPr/>
        </p:nvSpPr>
        <p:spPr>
          <a:xfrm>
            <a:off x="548640" y="5166360"/>
            <a:ext cx="11064240" cy="914400"/>
          </a:xfrm>
          <a:prstGeom prst="roundRect">
            <a:avLst>
              <a:gd name="adj" fmla="val 8000"/>
            </a:avLst>
          </a:prstGeom>
          <a:solidFill>
            <a:srgbClr val="21295C"/>
          </a:solidFill>
          <a:ln/>
        </p:spPr>
      </p:sp>
      <p:sp>
        <p:nvSpPr>
          <p:cNvPr id="24" name="Text 21"/>
          <p:cNvSpPr/>
          <p:nvPr/>
        </p:nvSpPr>
        <p:spPr>
          <a:xfrm>
            <a:off x="914400" y="5166360"/>
            <a:ext cx="1033272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Now department info is stored once, and Employee links to it through a foreign key.</a:t>
            </a:r>
            <a:endParaRPr lang="en-US" sz="1450" dirty="0"/>
          </a:p>
        </p:txBody>
      </p:sp>
      <p:sp>
        <p:nvSpPr>
          <p:cNvPr id="25" name="Text 22"/>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CHECKPOINT</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1NF vs 2NF vs 3NF</a:t>
            </a:r>
            <a:endParaRPr lang="en-US" sz="3200" dirty="0"/>
          </a:p>
        </p:txBody>
      </p:sp>
      <p:sp>
        <p:nvSpPr>
          <p:cNvPr id="4" name="Shape 2"/>
          <p:cNvSpPr/>
          <p:nvPr/>
        </p:nvSpPr>
        <p:spPr>
          <a:xfrm>
            <a:off x="548640" y="1691640"/>
            <a:ext cx="11064240" cy="1234440"/>
          </a:xfrm>
          <a:prstGeom prst="roundRect">
            <a:avLst>
              <a:gd name="adj" fmla="val 5926"/>
            </a:avLst>
          </a:prstGeom>
          <a:solidFill>
            <a:srgbClr val="EAF3F6"/>
          </a:solidFill>
          <a:ln w="12700">
            <a:solidFill>
              <a:srgbClr val="D5E3E8"/>
            </a:solidFill>
            <a:prstDash val="solid"/>
          </a:ln>
        </p:spPr>
      </p:sp>
      <p:sp>
        <p:nvSpPr>
          <p:cNvPr id="5" name="Shape 3"/>
          <p:cNvSpPr/>
          <p:nvPr/>
        </p:nvSpPr>
        <p:spPr>
          <a:xfrm>
            <a:off x="777240" y="1947672"/>
            <a:ext cx="731520" cy="731520"/>
          </a:xfrm>
          <a:prstGeom prst="ellipse">
            <a:avLst/>
          </a:prstGeom>
          <a:solidFill>
            <a:srgbClr val="065A82"/>
          </a:solidFill>
          <a:ln/>
        </p:spPr>
      </p:sp>
      <p:sp>
        <p:nvSpPr>
          <p:cNvPr id="6" name="Text 4"/>
          <p:cNvSpPr/>
          <p:nvPr/>
        </p:nvSpPr>
        <p:spPr>
          <a:xfrm>
            <a:off x="777240" y="1947672"/>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1NF</a:t>
            </a:r>
            <a:endParaRPr lang="en-US" sz="1600" dirty="0"/>
          </a:p>
        </p:txBody>
      </p:sp>
      <p:sp>
        <p:nvSpPr>
          <p:cNvPr id="7" name="Text 5"/>
          <p:cNvSpPr/>
          <p:nvPr/>
        </p:nvSpPr>
        <p:spPr>
          <a:xfrm>
            <a:off x="1737360" y="1856232"/>
            <a:ext cx="3291840" cy="8229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Atomic values</a:t>
            </a:r>
            <a:endParaRPr lang="en-US" sz="1500" dirty="0"/>
          </a:p>
        </p:txBody>
      </p:sp>
      <p:sp>
        <p:nvSpPr>
          <p:cNvPr id="8" name="Text 6"/>
          <p:cNvSpPr/>
          <p:nvPr/>
        </p:nvSpPr>
        <p:spPr>
          <a:xfrm>
            <a:off x="5120640" y="1856232"/>
            <a:ext cx="6309360" cy="822960"/>
          </a:xfrm>
          <a:prstGeom prst="rect">
            <a:avLst/>
          </a:prstGeom>
          <a:noFill/>
          <a:ln/>
        </p:spPr>
        <p:txBody>
          <a:bodyPr wrap="square" lIns="0" tIns="0" rIns="0" bIns="0" rtlCol="0" anchor="ctr"/>
          <a:lstStyle/>
          <a:p>
            <a:pPr indent="0" marL="0">
              <a:buNone/>
            </a:pPr>
            <a:r>
              <a:rPr lang="en-US" sz="1350" dirty="0">
                <a:solidFill>
                  <a:srgbClr val="17222A"/>
                </a:solidFill>
                <a:latin typeface="Calibri" pitchFamily="34" charset="0"/>
                <a:ea typeface="Calibri" pitchFamily="34" charset="-122"/>
                <a:cs typeface="Calibri" pitchFamily="34" charset="-120"/>
              </a:rPr>
              <a:t>No column holds more than one value; no repeating groups.</a:t>
            </a:r>
            <a:endParaRPr lang="en-US" sz="1350" dirty="0"/>
          </a:p>
        </p:txBody>
      </p:sp>
      <p:sp>
        <p:nvSpPr>
          <p:cNvPr id="9" name="Shape 7"/>
          <p:cNvSpPr/>
          <p:nvPr/>
        </p:nvSpPr>
        <p:spPr>
          <a:xfrm>
            <a:off x="548640" y="3108960"/>
            <a:ext cx="11064240" cy="1234440"/>
          </a:xfrm>
          <a:prstGeom prst="roundRect">
            <a:avLst>
              <a:gd name="adj" fmla="val 5926"/>
            </a:avLst>
          </a:prstGeom>
          <a:solidFill>
            <a:srgbClr val="EAF3F6"/>
          </a:solidFill>
          <a:ln w="12700">
            <a:solidFill>
              <a:srgbClr val="D5E3E8"/>
            </a:solidFill>
            <a:prstDash val="solid"/>
          </a:ln>
        </p:spPr>
      </p:sp>
      <p:sp>
        <p:nvSpPr>
          <p:cNvPr id="10" name="Shape 8"/>
          <p:cNvSpPr/>
          <p:nvPr/>
        </p:nvSpPr>
        <p:spPr>
          <a:xfrm>
            <a:off x="777240" y="3364992"/>
            <a:ext cx="731520" cy="731520"/>
          </a:xfrm>
          <a:prstGeom prst="ellipse">
            <a:avLst/>
          </a:prstGeom>
          <a:solidFill>
            <a:srgbClr val="1C7293"/>
          </a:solidFill>
          <a:ln/>
        </p:spPr>
      </p:sp>
      <p:sp>
        <p:nvSpPr>
          <p:cNvPr id="11" name="Text 9"/>
          <p:cNvSpPr/>
          <p:nvPr/>
        </p:nvSpPr>
        <p:spPr>
          <a:xfrm>
            <a:off x="777240" y="3364992"/>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2NF</a:t>
            </a:r>
            <a:endParaRPr lang="en-US" sz="1600" dirty="0"/>
          </a:p>
        </p:txBody>
      </p:sp>
      <p:sp>
        <p:nvSpPr>
          <p:cNvPr id="12" name="Text 10"/>
          <p:cNvSpPr/>
          <p:nvPr/>
        </p:nvSpPr>
        <p:spPr>
          <a:xfrm>
            <a:off x="1737360" y="3273552"/>
            <a:ext cx="3291840" cy="8229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No partial dependency</a:t>
            </a:r>
            <a:endParaRPr lang="en-US" sz="1500" dirty="0"/>
          </a:p>
        </p:txBody>
      </p:sp>
      <p:sp>
        <p:nvSpPr>
          <p:cNvPr id="13" name="Text 11"/>
          <p:cNvSpPr/>
          <p:nvPr/>
        </p:nvSpPr>
        <p:spPr>
          <a:xfrm>
            <a:off x="5120640" y="3273552"/>
            <a:ext cx="6309360" cy="822960"/>
          </a:xfrm>
          <a:prstGeom prst="rect">
            <a:avLst/>
          </a:prstGeom>
          <a:noFill/>
          <a:ln/>
        </p:spPr>
        <p:txBody>
          <a:bodyPr wrap="square" lIns="0" tIns="0" rIns="0" bIns="0" rtlCol="0" anchor="ctr"/>
          <a:lstStyle/>
          <a:p>
            <a:pPr indent="0" marL="0">
              <a:buNone/>
            </a:pPr>
            <a:r>
              <a:rPr lang="en-US" sz="1350" dirty="0">
                <a:solidFill>
                  <a:srgbClr val="17222A"/>
                </a:solidFill>
                <a:latin typeface="Calibri" pitchFamily="34" charset="0"/>
                <a:ea typeface="Calibri" pitchFamily="34" charset="-122"/>
                <a:cs typeface="Calibri" pitchFamily="34" charset="-120"/>
              </a:rPr>
              <a:t>1NF, and every non-key column depends on the whole composite key.</a:t>
            </a:r>
            <a:endParaRPr lang="en-US" sz="1350" dirty="0"/>
          </a:p>
        </p:txBody>
      </p:sp>
      <p:sp>
        <p:nvSpPr>
          <p:cNvPr id="14" name="Shape 12"/>
          <p:cNvSpPr/>
          <p:nvPr/>
        </p:nvSpPr>
        <p:spPr>
          <a:xfrm>
            <a:off x="548640" y="4526280"/>
            <a:ext cx="11064240" cy="1234440"/>
          </a:xfrm>
          <a:prstGeom prst="roundRect">
            <a:avLst>
              <a:gd name="adj" fmla="val 5926"/>
            </a:avLst>
          </a:prstGeom>
          <a:solidFill>
            <a:srgbClr val="EAF3F6"/>
          </a:solidFill>
          <a:ln w="12700">
            <a:solidFill>
              <a:srgbClr val="D5E3E8"/>
            </a:solidFill>
            <a:prstDash val="solid"/>
          </a:ln>
        </p:spPr>
      </p:sp>
      <p:sp>
        <p:nvSpPr>
          <p:cNvPr id="15" name="Shape 13"/>
          <p:cNvSpPr/>
          <p:nvPr/>
        </p:nvSpPr>
        <p:spPr>
          <a:xfrm>
            <a:off x="777240" y="4782312"/>
            <a:ext cx="731520" cy="731520"/>
          </a:xfrm>
          <a:prstGeom prst="ellipse">
            <a:avLst/>
          </a:prstGeom>
          <a:solidFill>
            <a:srgbClr val="21295C"/>
          </a:solidFill>
          <a:ln/>
        </p:spPr>
      </p:sp>
      <p:sp>
        <p:nvSpPr>
          <p:cNvPr id="16" name="Text 14"/>
          <p:cNvSpPr/>
          <p:nvPr/>
        </p:nvSpPr>
        <p:spPr>
          <a:xfrm>
            <a:off x="777240" y="4782312"/>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3NF</a:t>
            </a:r>
            <a:endParaRPr lang="en-US" sz="1600" dirty="0"/>
          </a:p>
        </p:txBody>
      </p:sp>
      <p:sp>
        <p:nvSpPr>
          <p:cNvPr id="17" name="Text 15"/>
          <p:cNvSpPr/>
          <p:nvPr/>
        </p:nvSpPr>
        <p:spPr>
          <a:xfrm>
            <a:off x="1737360" y="4690872"/>
            <a:ext cx="3291840" cy="8229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No transitive dependency</a:t>
            </a:r>
            <a:endParaRPr lang="en-US" sz="1500" dirty="0"/>
          </a:p>
        </p:txBody>
      </p:sp>
      <p:sp>
        <p:nvSpPr>
          <p:cNvPr id="18" name="Text 16"/>
          <p:cNvSpPr/>
          <p:nvPr/>
        </p:nvSpPr>
        <p:spPr>
          <a:xfrm>
            <a:off x="5120640" y="4690872"/>
            <a:ext cx="6309360" cy="822960"/>
          </a:xfrm>
          <a:prstGeom prst="rect">
            <a:avLst/>
          </a:prstGeom>
          <a:noFill/>
          <a:ln/>
        </p:spPr>
        <p:txBody>
          <a:bodyPr wrap="square" lIns="0" tIns="0" rIns="0" bIns="0" rtlCol="0" anchor="ctr"/>
          <a:lstStyle/>
          <a:p>
            <a:pPr indent="0" marL="0">
              <a:buNone/>
            </a:pPr>
            <a:r>
              <a:rPr lang="en-US" sz="1350" dirty="0">
                <a:solidFill>
                  <a:srgbClr val="17222A"/>
                </a:solidFill>
                <a:latin typeface="Calibri" pitchFamily="34" charset="0"/>
                <a:ea typeface="Calibri" pitchFamily="34" charset="-122"/>
                <a:cs typeface="Calibri" pitchFamily="34" charset="-120"/>
              </a:rPr>
              <a:t>2NF, and non-key columns depend only on the key — not on each other.</a:t>
            </a:r>
            <a:endParaRPr lang="en-US" sz="1350" dirty="0"/>
          </a:p>
        </p:txBody>
      </p:sp>
      <p:sp>
        <p:nvSpPr>
          <p:cNvPr id="19" name="Text 17"/>
          <p:cNvSpPr/>
          <p:nvPr/>
        </p:nvSpPr>
        <p:spPr>
          <a:xfrm>
            <a:off x="548640" y="6172200"/>
            <a:ext cx="11064240" cy="365760"/>
          </a:xfrm>
          <a:prstGeom prst="rect">
            <a:avLst/>
          </a:prstGeom>
          <a:noFill/>
          <a:ln/>
        </p:spPr>
        <p:txBody>
          <a:bodyPr wrap="square" lIns="0" tIns="0" rIns="0" bIns="0" rtlCol="0" anchor="ctr"/>
          <a:lstStyle/>
          <a:p>
            <a:pPr algn="ctr" indent="0" marL="0">
              <a:buNone/>
            </a:pPr>
            <a:r>
              <a:rPr lang="en-US" sz="1300" i="1" dirty="0">
                <a:solidFill>
                  <a:srgbClr val="51707C"/>
                </a:solidFill>
                <a:latin typeface="Calibri" pitchFamily="34" charset="0"/>
                <a:ea typeface="Calibri" pitchFamily="34" charset="-122"/>
                <a:cs typeface="Calibri" pitchFamily="34" charset="-120"/>
              </a:rPr>
              <a:t>Memory trick:  1NF → Atomic   ·   2NF → No Partial Dependency   ·   3NF → No Transitive Dependency</a:t>
            </a:r>
            <a:endParaRPr lang="en-US" sz="1300" dirty="0"/>
          </a:p>
        </p:txBody>
      </p:sp>
      <p:sp>
        <p:nvSpPr>
          <p:cNvPr id="20" name="Text 18"/>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APPLIED EXAMPLE</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Putting It All Together</a:t>
            </a:r>
            <a:endParaRPr lang="en-US" sz="3200" dirty="0"/>
          </a:p>
        </p:txBody>
      </p:sp>
      <p:sp>
        <p:nvSpPr>
          <p:cNvPr id="4" name="Text 2"/>
          <p:cNvSpPr/>
          <p:nvPr/>
        </p:nvSpPr>
        <p:spPr>
          <a:xfrm>
            <a:off x="548640" y="1417320"/>
            <a:ext cx="10881360" cy="41148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A badly designed StudentCourse table, normalized into four related tables.</a:t>
            </a:r>
            <a:endParaRPr lang="en-US" sz="1500" dirty="0"/>
          </a:p>
        </p:txBody>
      </p:sp>
      <p:sp>
        <p:nvSpPr>
          <p:cNvPr id="5" name="Shape 3"/>
          <p:cNvSpPr/>
          <p:nvPr/>
        </p:nvSpPr>
        <p:spPr>
          <a:xfrm>
            <a:off x="548640" y="1965960"/>
            <a:ext cx="11064240" cy="777240"/>
          </a:xfrm>
          <a:prstGeom prst="roundRect">
            <a:avLst>
              <a:gd name="adj" fmla="val 8235"/>
            </a:avLst>
          </a:prstGeom>
          <a:solidFill>
            <a:srgbClr val="F5F0EC"/>
          </a:solidFill>
          <a:ln w="12700">
            <a:solidFill>
              <a:srgbClr val="B7472A"/>
            </a:solidFill>
            <a:prstDash val="solid"/>
          </a:ln>
        </p:spPr>
      </p:sp>
      <p:sp>
        <p:nvSpPr>
          <p:cNvPr id="6" name="Text 4"/>
          <p:cNvSpPr/>
          <p:nvPr/>
        </p:nvSpPr>
        <p:spPr>
          <a:xfrm>
            <a:off x="822960" y="1965960"/>
            <a:ext cx="10515600" cy="777240"/>
          </a:xfrm>
          <a:prstGeom prst="rect">
            <a:avLst/>
          </a:prstGeom>
          <a:noFill/>
          <a:ln/>
        </p:spPr>
        <p:txBody>
          <a:bodyPr wrap="square" lIns="0" tIns="0" rIns="0" bIns="0" rtlCol="0" anchor="ctr"/>
          <a:lstStyle/>
          <a:p>
            <a:pPr indent="0" marL="0">
              <a:buNone/>
            </a:pPr>
            <a:r>
              <a:rPr lang="en-US" sz="1300" dirty="0">
                <a:solidFill>
                  <a:srgbClr val="B7472A"/>
                </a:solidFill>
                <a:latin typeface="Calibri" pitchFamily="34" charset="0"/>
                <a:ea typeface="Calibri" pitchFamily="34" charset="-122"/>
                <a:cs typeface="Calibri" pitchFamily="34" charset="-120"/>
              </a:rPr>
              <a:t>StudentCourse:  student_id · student_name · course_id · course_name · instructor_id · instructor_name</a:t>
            </a:r>
            <a:endParaRPr lang="en-US" sz="1300" dirty="0"/>
          </a:p>
        </p:txBody>
      </p:sp>
      <p:sp>
        <p:nvSpPr>
          <p:cNvPr id="7" name="Shape 5"/>
          <p:cNvSpPr/>
          <p:nvPr/>
        </p:nvSpPr>
        <p:spPr>
          <a:xfrm>
            <a:off x="5971032" y="2834640"/>
            <a:ext cx="256032" cy="320040"/>
          </a:xfrm>
          <a:prstGeom prst="downArrow">
            <a:avLst/>
          </a:prstGeom>
          <a:solidFill>
            <a:srgbClr val="51707C"/>
          </a:solidFill>
          <a:ln/>
        </p:spPr>
      </p:sp>
      <p:sp>
        <p:nvSpPr>
          <p:cNvPr id="8" name="Shape 6"/>
          <p:cNvSpPr/>
          <p:nvPr/>
        </p:nvSpPr>
        <p:spPr>
          <a:xfrm>
            <a:off x="548640" y="3246120"/>
            <a:ext cx="2697480" cy="1463040"/>
          </a:xfrm>
          <a:prstGeom prst="roundRect">
            <a:avLst>
              <a:gd name="adj" fmla="val 4375"/>
            </a:avLst>
          </a:prstGeom>
          <a:solidFill>
            <a:srgbClr val="065A82"/>
          </a:solidFill>
          <a:ln/>
        </p:spPr>
      </p:sp>
      <p:sp>
        <p:nvSpPr>
          <p:cNvPr id="9" name="Text 7"/>
          <p:cNvSpPr/>
          <p:nvPr/>
        </p:nvSpPr>
        <p:spPr>
          <a:xfrm>
            <a:off x="685800" y="338328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p>
        </p:txBody>
      </p:sp>
      <p:sp>
        <p:nvSpPr>
          <p:cNvPr id="10" name="Text 8"/>
          <p:cNvSpPr/>
          <p:nvPr/>
        </p:nvSpPr>
        <p:spPr>
          <a:xfrm>
            <a:off x="685800" y="3794760"/>
            <a:ext cx="2423160" cy="822960"/>
          </a:xfrm>
          <a:prstGeom prst="rect">
            <a:avLst/>
          </a:prstGeom>
          <a:noFill/>
          <a:ln/>
        </p:spPr>
        <p:txBody>
          <a:bodyPr wrap="square" lIns="0" tIns="0" rIns="0" bIns="0" rtlCol="0" anchor="ctr"/>
          <a:lstStyle/>
          <a:p>
            <a:pPr indent="0" marL="0">
              <a:buNone/>
            </a:pPr>
            <a:r>
              <a:rPr lang="en-US" sz="1150" dirty="0">
                <a:solidFill>
                  <a:srgbClr val="F0F0F0"/>
                </a:solidFill>
                <a:latin typeface="Calibri" pitchFamily="34" charset="0"/>
                <a:ea typeface="Calibri" pitchFamily="34" charset="-122"/>
                <a:cs typeface="Calibri" pitchFamily="34" charset="-120"/>
              </a:rPr>
              <a:t>student_id, student_name</a:t>
            </a:r>
            <a:endParaRPr lang="en-US" sz="1150" dirty="0"/>
          </a:p>
        </p:txBody>
      </p:sp>
      <p:sp>
        <p:nvSpPr>
          <p:cNvPr id="11" name="Shape 9"/>
          <p:cNvSpPr/>
          <p:nvPr/>
        </p:nvSpPr>
        <p:spPr>
          <a:xfrm>
            <a:off x="3337560" y="3246120"/>
            <a:ext cx="2697480" cy="1463040"/>
          </a:xfrm>
          <a:prstGeom prst="roundRect">
            <a:avLst>
              <a:gd name="adj" fmla="val 4375"/>
            </a:avLst>
          </a:prstGeom>
          <a:solidFill>
            <a:srgbClr val="1C7293"/>
          </a:solidFill>
          <a:ln/>
        </p:spPr>
      </p:sp>
      <p:sp>
        <p:nvSpPr>
          <p:cNvPr id="12" name="Text 10"/>
          <p:cNvSpPr/>
          <p:nvPr/>
        </p:nvSpPr>
        <p:spPr>
          <a:xfrm>
            <a:off x="3474720" y="338328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Instructor</a:t>
            </a:r>
            <a:endParaRPr lang="en-US" sz="1400" dirty="0"/>
          </a:p>
        </p:txBody>
      </p:sp>
      <p:sp>
        <p:nvSpPr>
          <p:cNvPr id="13" name="Text 11"/>
          <p:cNvSpPr/>
          <p:nvPr/>
        </p:nvSpPr>
        <p:spPr>
          <a:xfrm>
            <a:off x="3474720" y="3794760"/>
            <a:ext cx="2423160" cy="822960"/>
          </a:xfrm>
          <a:prstGeom prst="rect">
            <a:avLst/>
          </a:prstGeom>
          <a:noFill/>
          <a:ln/>
        </p:spPr>
        <p:txBody>
          <a:bodyPr wrap="square" lIns="0" tIns="0" rIns="0" bIns="0" rtlCol="0" anchor="ctr"/>
          <a:lstStyle/>
          <a:p>
            <a:pPr indent="0" marL="0">
              <a:buNone/>
            </a:pPr>
            <a:r>
              <a:rPr lang="en-US" sz="1150" dirty="0">
                <a:solidFill>
                  <a:srgbClr val="F0F0F0"/>
                </a:solidFill>
                <a:latin typeface="Calibri" pitchFamily="34" charset="0"/>
                <a:ea typeface="Calibri" pitchFamily="34" charset="-122"/>
                <a:cs typeface="Calibri" pitchFamily="34" charset="-120"/>
              </a:rPr>
              <a:t>instructor_id, instructor_name</a:t>
            </a:r>
            <a:endParaRPr lang="en-US" sz="1150" dirty="0"/>
          </a:p>
        </p:txBody>
      </p:sp>
      <p:sp>
        <p:nvSpPr>
          <p:cNvPr id="14" name="Shape 12"/>
          <p:cNvSpPr/>
          <p:nvPr/>
        </p:nvSpPr>
        <p:spPr>
          <a:xfrm>
            <a:off x="6126480" y="3246120"/>
            <a:ext cx="2697480" cy="1463040"/>
          </a:xfrm>
          <a:prstGeom prst="roundRect">
            <a:avLst>
              <a:gd name="adj" fmla="val 4375"/>
            </a:avLst>
          </a:prstGeom>
          <a:solidFill>
            <a:srgbClr val="21295C"/>
          </a:solidFill>
          <a:ln/>
        </p:spPr>
      </p:sp>
      <p:sp>
        <p:nvSpPr>
          <p:cNvPr id="15" name="Text 13"/>
          <p:cNvSpPr/>
          <p:nvPr/>
        </p:nvSpPr>
        <p:spPr>
          <a:xfrm>
            <a:off x="6263640" y="338328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Course</a:t>
            </a:r>
            <a:endParaRPr lang="en-US" sz="1400" dirty="0"/>
          </a:p>
        </p:txBody>
      </p:sp>
      <p:sp>
        <p:nvSpPr>
          <p:cNvPr id="16" name="Text 14"/>
          <p:cNvSpPr/>
          <p:nvPr/>
        </p:nvSpPr>
        <p:spPr>
          <a:xfrm>
            <a:off x="6263640" y="3794760"/>
            <a:ext cx="2423160" cy="822960"/>
          </a:xfrm>
          <a:prstGeom prst="rect">
            <a:avLst/>
          </a:prstGeom>
          <a:noFill/>
          <a:ln/>
        </p:spPr>
        <p:txBody>
          <a:bodyPr wrap="square" lIns="0" tIns="0" rIns="0" bIns="0" rtlCol="0" anchor="ctr"/>
          <a:lstStyle/>
          <a:p>
            <a:pPr indent="0" marL="0">
              <a:buNone/>
            </a:pPr>
            <a:r>
              <a:rPr lang="en-US" sz="1150" dirty="0">
                <a:solidFill>
                  <a:srgbClr val="F0F0F0"/>
                </a:solidFill>
                <a:latin typeface="Calibri" pitchFamily="34" charset="0"/>
                <a:ea typeface="Calibri" pitchFamily="34" charset="-122"/>
                <a:cs typeface="Calibri" pitchFamily="34" charset="-120"/>
              </a:rPr>
              <a:t>course_id, course_name,</a:t>
            </a:r>
            <a:endParaRPr lang="en-US" sz="1150" dirty="0"/>
          </a:p>
          <a:p>
            <a:pPr indent="0" marL="0">
              <a:buNone/>
            </a:pPr>
            <a:r>
              <a:rPr lang="en-US" sz="1150" dirty="0">
                <a:solidFill>
                  <a:srgbClr val="F0F0F0"/>
                </a:solidFill>
                <a:latin typeface="Calibri" pitchFamily="34" charset="0"/>
                <a:ea typeface="Calibri" pitchFamily="34" charset="-122"/>
                <a:cs typeface="Calibri" pitchFamily="34" charset="-120"/>
              </a:rPr>
              <a:t>instructor_id (FK)</a:t>
            </a:r>
            <a:endParaRPr lang="en-US" sz="1150" dirty="0"/>
          </a:p>
        </p:txBody>
      </p:sp>
      <p:sp>
        <p:nvSpPr>
          <p:cNvPr id="17" name="Shape 15"/>
          <p:cNvSpPr/>
          <p:nvPr/>
        </p:nvSpPr>
        <p:spPr>
          <a:xfrm>
            <a:off x="8915400" y="3246120"/>
            <a:ext cx="2697480" cy="1463040"/>
          </a:xfrm>
          <a:prstGeom prst="roundRect">
            <a:avLst>
              <a:gd name="adj" fmla="val 4375"/>
            </a:avLst>
          </a:prstGeom>
          <a:solidFill>
            <a:srgbClr val="B7472A"/>
          </a:solidFill>
          <a:ln/>
        </p:spPr>
      </p:sp>
      <p:sp>
        <p:nvSpPr>
          <p:cNvPr id="18" name="Text 16"/>
          <p:cNvSpPr/>
          <p:nvPr/>
        </p:nvSpPr>
        <p:spPr>
          <a:xfrm>
            <a:off x="9052560" y="338328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Enrollment</a:t>
            </a:r>
            <a:endParaRPr lang="en-US" sz="1400" dirty="0"/>
          </a:p>
        </p:txBody>
      </p:sp>
      <p:sp>
        <p:nvSpPr>
          <p:cNvPr id="19" name="Text 17"/>
          <p:cNvSpPr/>
          <p:nvPr/>
        </p:nvSpPr>
        <p:spPr>
          <a:xfrm>
            <a:off x="9052560" y="3794760"/>
            <a:ext cx="2423160" cy="822960"/>
          </a:xfrm>
          <a:prstGeom prst="rect">
            <a:avLst/>
          </a:prstGeom>
          <a:noFill/>
          <a:ln/>
        </p:spPr>
        <p:txBody>
          <a:bodyPr wrap="square" lIns="0" tIns="0" rIns="0" bIns="0" rtlCol="0" anchor="ctr"/>
          <a:lstStyle/>
          <a:p>
            <a:pPr indent="0" marL="0">
              <a:buNone/>
            </a:pPr>
            <a:r>
              <a:rPr lang="en-US" sz="1150" dirty="0">
                <a:solidFill>
                  <a:srgbClr val="F0F0F0"/>
                </a:solidFill>
                <a:latin typeface="Calibri" pitchFamily="34" charset="0"/>
                <a:ea typeface="Calibri" pitchFamily="34" charset="-122"/>
                <a:cs typeface="Calibri" pitchFamily="34" charset="-120"/>
              </a:rPr>
              <a:t>student_id (FK),</a:t>
            </a:r>
            <a:endParaRPr lang="en-US" sz="1150" dirty="0"/>
          </a:p>
          <a:p>
            <a:pPr indent="0" marL="0">
              <a:buNone/>
            </a:pPr>
            <a:r>
              <a:rPr lang="en-US" sz="1150" dirty="0">
                <a:solidFill>
                  <a:srgbClr val="F0F0F0"/>
                </a:solidFill>
                <a:latin typeface="Calibri" pitchFamily="34" charset="0"/>
                <a:ea typeface="Calibri" pitchFamily="34" charset="-122"/>
                <a:cs typeface="Calibri" pitchFamily="34" charset="-120"/>
              </a:rPr>
              <a:t>course_id (FK)</a:t>
            </a:r>
            <a:endParaRPr lang="en-US" sz="1150" dirty="0"/>
          </a:p>
        </p:txBody>
      </p:sp>
      <p:sp>
        <p:nvSpPr>
          <p:cNvPr id="20" name="Shape 18"/>
          <p:cNvSpPr/>
          <p:nvPr/>
        </p:nvSpPr>
        <p:spPr>
          <a:xfrm>
            <a:off x="7470648" y="4709160"/>
            <a:ext cx="0" cy="502920"/>
          </a:xfrm>
          <a:prstGeom prst="line">
            <a:avLst/>
          </a:prstGeom>
          <a:noFill/>
          <a:ln w="19050">
            <a:solidFill>
              <a:srgbClr val="51707C"/>
            </a:solidFill>
            <a:prstDash val="solid"/>
          </a:ln>
        </p:spPr>
      </p:sp>
      <p:sp>
        <p:nvSpPr>
          <p:cNvPr id="21" name="Shape 19"/>
          <p:cNvSpPr/>
          <p:nvPr/>
        </p:nvSpPr>
        <p:spPr>
          <a:xfrm>
            <a:off x="7470648" y="5212080"/>
            <a:ext cx="2770632" cy="0"/>
          </a:xfrm>
          <a:prstGeom prst="line">
            <a:avLst/>
          </a:prstGeom>
          <a:noFill/>
          <a:ln w="19050">
            <a:solidFill>
              <a:srgbClr val="51707C"/>
            </a:solidFill>
            <a:prstDash val="solid"/>
          </a:ln>
        </p:spPr>
      </p:sp>
      <p:sp>
        <p:nvSpPr>
          <p:cNvPr id="22" name="Shape 20"/>
          <p:cNvSpPr/>
          <p:nvPr/>
        </p:nvSpPr>
        <p:spPr>
          <a:xfrm>
            <a:off x="1892808" y="4709160"/>
            <a:ext cx="0" cy="502920"/>
          </a:xfrm>
          <a:prstGeom prst="line">
            <a:avLst/>
          </a:prstGeom>
          <a:noFill/>
          <a:ln w="19050">
            <a:solidFill>
              <a:srgbClr val="51707C"/>
            </a:solidFill>
            <a:prstDash val="solid"/>
          </a:ln>
        </p:spPr>
      </p:sp>
      <p:sp>
        <p:nvSpPr>
          <p:cNvPr id="23" name="Shape 21"/>
          <p:cNvSpPr/>
          <p:nvPr/>
        </p:nvSpPr>
        <p:spPr>
          <a:xfrm>
            <a:off x="1892808" y="5212080"/>
            <a:ext cx="8348472" cy="0"/>
          </a:xfrm>
          <a:prstGeom prst="line">
            <a:avLst/>
          </a:prstGeom>
          <a:noFill/>
          <a:ln w="19050">
            <a:solidFill>
              <a:srgbClr val="51707C"/>
            </a:solidFill>
            <a:prstDash val="solid"/>
          </a:ln>
        </p:spPr>
      </p:sp>
      <p:sp>
        <p:nvSpPr>
          <p:cNvPr id="24" name="Text 22"/>
          <p:cNvSpPr/>
          <p:nvPr/>
        </p:nvSpPr>
        <p:spPr>
          <a:xfrm>
            <a:off x="548640" y="5532120"/>
            <a:ext cx="11064240" cy="640080"/>
          </a:xfrm>
          <a:prstGeom prst="rect">
            <a:avLst/>
          </a:prstGeom>
          <a:noFill/>
          <a:ln/>
        </p:spPr>
        <p:txBody>
          <a:bodyPr wrap="square" lIns="0" tIns="0" rIns="0" bIns="0" rtlCol="0" anchor="ctr"/>
          <a:lstStyle/>
          <a:p>
            <a:pPr algn="ctr" indent="0" marL="0">
              <a:buNone/>
            </a:pPr>
            <a:r>
              <a:rPr lang="en-US" sz="1350" i="1" dirty="0">
                <a:solidFill>
                  <a:srgbClr val="51707C"/>
                </a:solidFill>
                <a:latin typeface="Calibri" pitchFamily="34" charset="0"/>
                <a:ea typeface="Calibri" pitchFamily="34" charset="-122"/>
                <a:cs typeface="Calibri" pitchFamily="34" charset="-120"/>
              </a:rPr>
              <a:t>Course links to Instructor. Enrollment links Student and Course through foreign keys — no repeated names anywhere.</a:t>
            </a:r>
            <a:endParaRPr lang="en-US" sz="1350" dirty="0"/>
          </a:p>
        </p:txBody>
      </p:sp>
      <p:sp>
        <p:nvSpPr>
          <p:cNvPr id="25" name="Text 23"/>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Normalization vs. Denormalization</a:t>
            </a:r>
            <a:endParaRPr lang="en-US" sz="3200" dirty="0"/>
          </a:p>
        </p:txBody>
      </p:sp>
      <p:sp>
        <p:nvSpPr>
          <p:cNvPr id="4" name="Shape 2"/>
          <p:cNvSpPr/>
          <p:nvPr/>
        </p:nvSpPr>
        <p:spPr>
          <a:xfrm>
            <a:off x="548640" y="1554480"/>
            <a:ext cx="5394960" cy="2286000"/>
          </a:xfrm>
          <a:prstGeom prst="roundRect">
            <a:avLst>
              <a:gd name="adj" fmla="val 3200"/>
            </a:avLst>
          </a:prstGeom>
          <a:solidFill>
            <a:srgbClr val="EAF3F6"/>
          </a:solidFill>
          <a:ln w="15875">
            <a:solidFill>
              <a:srgbClr val="065A82"/>
            </a:solidFill>
            <a:prstDash val="solid"/>
          </a:ln>
        </p:spPr>
      </p:sp>
      <p:sp>
        <p:nvSpPr>
          <p:cNvPr id="5" name="Text 3"/>
          <p:cNvSpPr/>
          <p:nvPr/>
        </p:nvSpPr>
        <p:spPr>
          <a:xfrm>
            <a:off x="822960" y="1737360"/>
            <a:ext cx="484632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NORMALIZATION</a:t>
            </a:r>
            <a:endParaRPr lang="en-US" sz="1300" dirty="0"/>
          </a:p>
        </p:txBody>
      </p:sp>
      <p:sp>
        <p:nvSpPr>
          <p:cNvPr id="6" name="Text 4"/>
          <p:cNvSpPr/>
          <p:nvPr/>
        </p:nvSpPr>
        <p:spPr>
          <a:xfrm>
            <a:off x="822960" y="2148840"/>
            <a:ext cx="4846320" cy="457200"/>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One large table  →  many related tables</a:t>
            </a:r>
            <a:endParaRPr lang="en-US" sz="1400" dirty="0"/>
          </a:p>
        </p:txBody>
      </p:sp>
      <p:sp>
        <p:nvSpPr>
          <p:cNvPr id="7" name="Text 5"/>
          <p:cNvSpPr/>
          <p:nvPr/>
        </p:nvSpPr>
        <p:spPr>
          <a:xfrm>
            <a:off x="822960" y="2697480"/>
            <a:ext cx="4846320" cy="1005840"/>
          </a:xfrm>
          <a:prstGeom prst="rect">
            <a:avLst/>
          </a:prstGeom>
          <a:noFill/>
          <a:ln/>
        </p:spPr>
        <p:txBody>
          <a:bodyPr wrap="square" lIns="0" tIns="0" rIns="0" bIns="0" rtlCol="0" anchor="ctr"/>
          <a:lstStyle/>
          <a:p>
            <a:pPr indent="0" marL="0">
              <a:buNone/>
            </a:pPr>
            <a:r>
              <a:rPr lang="en-US" sz="1300" dirty="0">
                <a:solidFill>
                  <a:srgbClr val="51707C"/>
                </a:solidFill>
                <a:latin typeface="Calibri" pitchFamily="34" charset="0"/>
                <a:ea typeface="Calibri" pitchFamily="34" charset="-122"/>
                <a:cs typeface="Calibri" pitchFamily="34" charset="-120"/>
              </a:rPr>
              <a:t>Goal: reduce redundancy and improve data integrity. Favored by OLTP transactional systems.</a:t>
            </a:r>
            <a:endParaRPr lang="en-US" sz="1300" dirty="0"/>
          </a:p>
        </p:txBody>
      </p:sp>
      <p:sp>
        <p:nvSpPr>
          <p:cNvPr id="8" name="Shape 6"/>
          <p:cNvSpPr/>
          <p:nvPr/>
        </p:nvSpPr>
        <p:spPr>
          <a:xfrm>
            <a:off x="6217920" y="1554480"/>
            <a:ext cx="5394960" cy="2286000"/>
          </a:xfrm>
          <a:prstGeom prst="roundRect">
            <a:avLst>
              <a:gd name="adj" fmla="val 3200"/>
            </a:avLst>
          </a:prstGeom>
          <a:solidFill>
            <a:srgbClr val="F5F0EC"/>
          </a:solidFill>
          <a:ln w="15875">
            <a:solidFill>
              <a:srgbClr val="B7472A"/>
            </a:solidFill>
            <a:prstDash val="solid"/>
          </a:ln>
        </p:spPr>
      </p:sp>
      <p:sp>
        <p:nvSpPr>
          <p:cNvPr id="9" name="Text 7"/>
          <p:cNvSpPr/>
          <p:nvPr/>
        </p:nvSpPr>
        <p:spPr>
          <a:xfrm>
            <a:off x="6492240" y="1737360"/>
            <a:ext cx="4846320" cy="365760"/>
          </a:xfrm>
          <a:prstGeom prst="rect">
            <a:avLst/>
          </a:prstGeom>
          <a:noFill/>
          <a:ln/>
        </p:spPr>
        <p:txBody>
          <a:bodyPr wrap="square" lIns="0" tIns="0" rIns="0" bIns="0" rtlCol="0" anchor="ctr"/>
          <a:lstStyle/>
          <a:p>
            <a:pPr indent="0" marL="0">
              <a:buNone/>
            </a:pPr>
            <a:r>
              <a:rPr lang="en-US" sz="1300" b="1" dirty="0">
                <a:solidFill>
                  <a:srgbClr val="B7472A"/>
                </a:solidFill>
                <a:latin typeface="Calibri" pitchFamily="34" charset="0"/>
                <a:ea typeface="Calibri" pitchFamily="34" charset="-122"/>
                <a:cs typeface="Calibri" pitchFamily="34" charset="-120"/>
              </a:rPr>
              <a:t>DENORMALIZATION</a:t>
            </a:r>
            <a:endParaRPr lang="en-US" sz="1300" dirty="0"/>
          </a:p>
        </p:txBody>
      </p:sp>
      <p:sp>
        <p:nvSpPr>
          <p:cNvPr id="10" name="Text 8"/>
          <p:cNvSpPr/>
          <p:nvPr/>
        </p:nvSpPr>
        <p:spPr>
          <a:xfrm>
            <a:off x="6492240" y="2148840"/>
            <a:ext cx="4846320" cy="457200"/>
          </a:xfrm>
          <a:prstGeom prst="rect">
            <a:avLst/>
          </a:prstGeom>
          <a:noFill/>
          <a:ln/>
        </p:spPr>
        <p:txBody>
          <a:bodyPr wrap="square" lIns="0" tIns="0" rIns="0" bIns="0" rtlCol="0" anchor="ctr"/>
          <a:lstStyle/>
          <a:p>
            <a:pPr indent="0" marL="0">
              <a:buNone/>
            </a:pPr>
            <a:r>
              <a:rPr lang="en-US" sz="1400" dirty="0">
                <a:solidFill>
                  <a:srgbClr val="17222A"/>
                </a:solidFill>
                <a:latin typeface="Calibri" pitchFamily="34" charset="0"/>
                <a:ea typeface="Calibri" pitchFamily="34" charset="-122"/>
                <a:cs typeface="Calibri" pitchFamily="34" charset="-120"/>
              </a:rPr>
              <a:t>Multiple tables  →  some data combined</a:t>
            </a:r>
            <a:endParaRPr lang="en-US" sz="1400" dirty="0"/>
          </a:p>
        </p:txBody>
      </p:sp>
      <p:sp>
        <p:nvSpPr>
          <p:cNvPr id="11" name="Text 9"/>
          <p:cNvSpPr/>
          <p:nvPr/>
        </p:nvSpPr>
        <p:spPr>
          <a:xfrm>
            <a:off x="6492240" y="2697480"/>
            <a:ext cx="4846320" cy="1005840"/>
          </a:xfrm>
          <a:prstGeom prst="rect">
            <a:avLst/>
          </a:prstGeom>
          <a:noFill/>
          <a:ln/>
        </p:spPr>
        <p:txBody>
          <a:bodyPr wrap="square" lIns="0" tIns="0" rIns="0" bIns="0" rtlCol="0" anchor="ctr"/>
          <a:lstStyle/>
          <a:p>
            <a:pPr indent="0" marL="0">
              <a:buNone/>
            </a:pPr>
            <a:r>
              <a:rPr lang="en-US" sz="1300" dirty="0">
                <a:solidFill>
                  <a:srgbClr val="51707C"/>
                </a:solidFill>
                <a:latin typeface="Calibri" pitchFamily="34" charset="0"/>
                <a:ea typeface="Calibri" pitchFamily="34" charset="-122"/>
                <a:cs typeface="Calibri" pitchFamily="34" charset="-120"/>
              </a:rPr>
              <a:t>Goal: faster reads and simpler analytical queries, at the cost of some redundancy. Favored by data warehouses.</a:t>
            </a:r>
            <a:endParaRPr lang="en-US" sz="1300" dirty="0"/>
          </a:p>
        </p:txBody>
      </p:sp>
      <p:sp>
        <p:nvSpPr>
          <p:cNvPr id="12" name="Text 10"/>
          <p:cNvSpPr/>
          <p:nvPr/>
        </p:nvSpPr>
        <p:spPr>
          <a:xfrm>
            <a:off x="548640" y="4114800"/>
            <a:ext cx="548640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Why data engineers care</a:t>
            </a:r>
            <a:endParaRPr lang="en-US" sz="1600" dirty="0"/>
          </a:p>
        </p:txBody>
      </p:sp>
      <p:sp>
        <p:nvSpPr>
          <p:cNvPr id="13" name="Text 11"/>
          <p:cNvSpPr/>
          <p:nvPr/>
        </p:nvSpPr>
        <p:spPr>
          <a:xfrm>
            <a:off x="548640" y="4572000"/>
            <a:ext cx="5486400" cy="1737360"/>
          </a:xfrm>
          <a:prstGeom prst="rect">
            <a:avLst/>
          </a:prstGeom>
          <a:noFill/>
          <a:ln/>
        </p:spPr>
        <p:txBody>
          <a:bodyPr wrap="square" lIns="0" tIns="0" rIns="0" bIns="0" rtlCol="0" anchor="ctr"/>
          <a:lstStyle/>
          <a:p>
            <a:pPr indent="0" marL="0">
              <a:buNone/>
            </a:pPr>
            <a:r>
              <a:rPr lang="en-US" sz="1350" dirty="0">
                <a:solidFill>
                  <a:srgbClr val="17222A"/>
                </a:solidFill>
                <a:latin typeface="Calibri" pitchFamily="34" charset="0"/>
                <a:ea typeface="Calibri" pitchFamily="34" charset="-122"/>
                <a:cs typeface="Calibri" pitchFamily="34" charset="-120"/>
              </a:rPr>
              <a:t>Before building an ETL pipeline from an OLTP source, you need to know which table holds what, which columns are keys, and why data repeats. Understanding normalization makes that reading much easier.</a:t>
            </a:r>
            <a:endParaRPr lang="en-US" sz="1350" dirty="0"/>
          </a:p>
        </p:txBody>
      </p:sp>
      <p:sp>
        <p:nvSpPr>
          <p:cNvPr id="14" name="Shape 12"/>
          <p:cNvSpPr/>
          <p:nvPr/>
        </p:nvSpPr>
        <p:spPr>
          <a:xfrm>
            <a:off x="6766560" y="4114800"/>
            <a:ext cx="2148840" cy="1737360"/>
          </a:xfrm>
          <a:prstGeom prst="roundRect">
            <a:avLst>
              <a:gd name="adj" fmla="val 3684"/>
            </a:avLst>
          </a:prstGeom>
          <a:solidFill>
            <a:srgbClr val="065A82"/>
          </a:solidFill>
          <a:ln/>
        </p:spPr>
      </p:sp>
      <p:sp>
        <p:nvSpPr>
          <p:cNvPr id="15" name="Text 13"/>
          <p:cNvSpPr/>
          <p:nvPr/>
        </p:nvSpPr>
        <p:spPr>
          <a:xfrm>
            <a:off x="6858000" y="4114800"/>
            <a:ext cx="1965960" cy="1737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OLTP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(normalized)</a:t>
            </a:r>
            <a:endParaRPr lang="en-US" sz="1250" dirty="0"/>
          </a:p>
        </p:txBody>
      </p:sp>
      <p:sp>
        <p:nvSpPr>
          <p:cNvPr id="16" name="Shape 14"/>
          <p:cNvSpPr/>
          <p:nvPr/>
        </p:nvSpPr>
        <p:spPr>
          <a:xfrm>
            <a:off x="9006840" y="4892040"/>
            <a:ext cx="502920" cy="219456"/>
          </a:xfrm>
          <a:prstGeom prst="rightArrow">
            <a:avLst/>
          </a:prstGeom>
          <a:solidFill>
            <a:srgbClr val="51707C"/>
          </a:solidFill>
          <a:ln/>
        </p:spPr>
      </p:sp>
      <p:sp>
        <p:nvSpPr>
          <p:cNvPr id="17" name="Shape 15"/>
          <p:cNvSpPr/>
          <p:nvPr/>
        </p:nvSpPr>
        <p:spPr>
          <a:xfrm>
            <a:off x="9601200" y="4114800"/>
            <a:ext cx="2194560" cy="1737360"/>
          </a:xfrm>
          <a:prstGeom prst="roundRect">
            <a:avLst>
              <a:gd name="adj" fmla="val 3684"/>
            </a:avLst>
          </a:prstGeom>
          <a:solidFill>
            <a:srgbClr val="B7472A"/>
          </a:solidFill>
          <a:ln/>
        </p:spPr>
      </p:sp>
      <p:sp>
        <p:nvSpPr>
          <p:cNvPr id="18" name="Text 16"/>
          <p:cNvSpPr/>
          <p:nvPr/>
        </p:nvSpPr>
        <p:spPr>
          <a:xfrm>
            <a:off x="9692640" y="4114800"/>
            <a:ext cx="2011680" cy="1737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 Warehouse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(denormalized)</a:t>
            </a:r>
            <a:endParaRPr lang="en-US" sz="1250" dirty="0"/>
          </a:p>
        </p:txBody>
      </p:sp>
      <p:sp>
        <p:nvSpPr>
          <p:cNvPr id="19" name="Text 17"/>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KEYS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Candidate Key</a:t>
            </a:r>
            <a:endParaRPr lang="en-US" sz="3200" dirty="0"/>
          </a:p>
        </p:txBody>
      </p:sp>
      <p:sp>
        <p:nvSpPr>
          <p:cNvPr id="4" name="Text 2"/>
          <p:cNvSpPr/>
          <p:nvPr/>
        </p:nvSpPr>
        <p:spPr>
          <a:xfrm>
            <a:off x="548640" y="1417320"/>
            <a:ext cx="10881360" cy="5486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A column (or set of columns) that can uniquely identify each row — and is minimal, with no unnecessary columns.</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675120" cy="1554480"/>
        </p:xfrm>
        <a:graphic>
          <a:graphicData uri="http://schemas.openxmlformats.org/drawingml/2006/table">
            <a:tbl>
              <a:tblPr/>
              <a:tblGrid>
                <a:gridCol w="1668780"/>
                <a:gridCol w="1668780"/>
                <a:gridCol w="1668780"/>
                <a:gridCol w="1668780"/>
              </a:tblGrid>
              <a:tr h="3886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emp_id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email</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emp_name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1C729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phone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1C7293"/>
                    </a:solidFill>
                  </a:tcPr>
                </a:tc>
              </a:tr>
              <a:tr h="38862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rahul@gmail.com</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Rahul</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9876543210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862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102</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priya@gmail.com</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Priya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9123456780</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8620">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anjali@gmail.com</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Anjali</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9988776655</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6" name="Text 3"/>
          <p:cNvSpPr/>
          <p:nvPr/>
        </p:nvSpPr>
        <p:spPr>
          <a:xfrm>
            <a:off x="548640" y="3794760"/>
            <a:ext cx="6675120" cy="45720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Both emp_id and email are guaranteed unique here — both are candidate keys.</a:t>
            </a:r>
            <a:endParaRPr lang="en-US" sz="1250" dirty="0"/>
          </a:p>
        </p:txBody>
      </p:sp>
      <p:sp>
        <p:nvSpPr>
          <p:cNvPr id="7" name="Shape 4"/>
          <p:cNvSpPr/>
          <p:nvPr/>
        </p:nvSpPr>
        <p:spPr>
          <a:xfrm>
            <a:off x="7498080" y="2103120"/>
            <a:ext cx="4114800" cy="2743200"/>
          </a:xfrm>
          <a:prstGeom prst="roundRect">
            <a:avLst>
              <a:gd name="adj" fmla="val 2667"/>
            </a:avLst>
          </a:prstGeom>
          <a:solidFill>
            <a:srgbClr val="EAF3F6"/>
          </a:solidFill>
          <a:ln w="15875">
            <a:solidFill>
              <a:srgbClr val="065A82"/>
            </a:solidFill>
            <a:prstDash val="solid"/>
          </a:ln>
        </p:spPr>
      </p:sp>
      <p:sp>
        <p:nvSpPr>
          <p:cNvPr id="8" name="Text 5"/>
          <p:cNvSpPr/>
          <p:nvPr/>
        </p:nvSpPr>
        <p:spPr>
          <a:xfrm>
            <a:off x="7726680" y="2240280"/>
            <a:ext cx="3657600" cy="320040"/>
          </a:xfrm>
          <a:prstGeom prst="rect">
            <a:avLst/>
          </a:prstGeom>
          <a:noFill/>
          <a:ln/>
        </p:spPr>
        <p:txBody>
          <a:bodyPr wrap="square" lIns="0" tIns="0" rIns="0" bIns="0" rtlCol="0" anchor="ctr"/>
          <a:lstStyle/>
          <a:p>
            <a:pPr indent="0" marL="0">
              <a:buNone/>
            </a:pPr>
            <a:r>
              <a:rPr lang="en-US" sz="1200" b="1" dirty="0">
                <a:solidFill>
                  <a:srgbClr val="51707C"/>
                </a:solidFill>
                <a:latin typeface="Calibri" pitchFamily="34" charset="0"/>
                <a:ea typeface="Calibri" pitchFamily="34" charset="-122"/>
                <a:cs typeface="Calibri" pitchFamily="34" charset="-120"/>
              </a:rPr>
              <a:t>Candidate Keys</a:t>
            </a:r>
            <a:endParaRPr lang="en-US" sz="1200" dirty="0"/>
          </a:p>
        </p:txBody>
      </p:sp>
      <p:sp>
        <p:nvSpPr>
          <p:cNvPr id="9" name="Shape 6"/>
          <p:cNvSpPr/>
          <p:nvPr/>
        </p:nvSpPr>
        <p:spPr>
          <a:xfrm>
            <a:off x="7726680" y="2606040"/>
            <a:ext cx="3291840" cy="502920"/>
          </a:xfrm>
          <a:prstGeom prst="roundRect">
            <a:avLst>
              <a:gd name="adj" fmla="val 10909"/>
            </a:avLst>
          </a:prstGeom>
          <a:solidFill>
            <a:srgbClr val="065A82"/>
          </a:solidFill>
          <a:ln/>
        </p:spPr>
      </p:sp>
      <p:sp>
        <p:nvSpPr>
          <p:cNvPr id="10" name="Text 7"/>
          <p:cNvSpPr/>
          <p:nvPr/>
        </p:nvSpPr>
        <p:spPr>
          <a:xfrm>
            <a:off x="7726680" y="2606040"/>
            <a:ext cx="3291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emp_id</a:t>
            </a:r>
            <a:endParaRPr lang="en-US" sz="1400" dirty="0"/>
          </a:p>
        </p:txBody>
      </p:sp>
      <p:sp>
        <p:nvSpPr>
          <p:cNvPr id="11" name="Shape 8"/>
          <p:cNvSpPr/>
          <p:nvPr/>
        </p:nvSpPr>
        <p:spPr>
          <a:xfrm>
            <a:off x="7726680" y="3246120"/>
            <a:ext cx="3291840" cy="502920"/>
          </a:xfrm>
          <a:prstGeom prst="roundRect">
            <a:avLst>
              <a:gd name="adj" fmla="val 10909"/>
            </a:avLst>
          </a:prstGeom>
          <a:solidFill>
            <a:srgbClr val="1C7293"/>
          </a:solidFill>
          <a:ln/>
        </p:spPr>
      </p:sp>
      <p:sp>
        <p:nvSpPr>
          <p:cNvPr id="12" name="Text 9"/>
          <p:cNvSpPr/>
          <p:nvPr/>
        </p:nvSpPr>
        <p:spPr>
          <a:xfrm>
            <a:off x="7726680" y="3246120"/>
            <a:ext cx="3291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email</a:t>
            </a:r>
            <a:endParaRPr lang="en-US" sz="1400" dirty="0"/>
          </a:p>
        </p:txBody>
      </p:sp>
      <p:sp>
        <p:nvSpPr>
          <p:cNvPr id="13" name="Shape 10"/>
          <p:cNvSpPr/>
          <p:nvPr/>
        </p:nvSpPr>
        <p:spPr>
          <a:xfrm>
            <a:off x="9235440" y="3840480"/>
            <a:ext cx="256032" cy="274320"/>
          </a:xfrm>
          <a:prstGeom prst="downArrow">
            <a:avLst/>
          </a:prstGeom>
          <a:solidFill>
            <a:srgbClr val="51707C"/>
          </a:solidFill>
          <a:ln/>
        </p:spPr>
      </p:sp>
      <p:sp>
        <p:nvSpPr>
          <p:cNvPr id="14" name="Text 11"/>
          <p:cNvSpPr/>
          <p:nvPr/>
        </p:nvSpPr>
        <p:spPr>
          <a:xfrm>
            <a:off x="7726680" y="4142232"/>
            <a:ext cx="3291840" cy="274320"/>
          </a:xfrm>
          <a:prstGeom prst="rect">
            <a:avLst/>
          </a:prstGeom>
          <a:noFill/>
          <a:ln/>
        </p:spPr>
        <p:txBody>
          <a:bodyPr wrap="square" lIns="0" tIns="0" rIns="0" bIns="0" rtlCol="0" anchor="ctr"/>
          <a:lstStyle/>
          <a:p>
            <a:pPr algn="ctr" indent="0" marL="0">
              <a:buNone/>
            </a:pPr>
            <a:r>
              <a:rPr lang="en-US" sz="1100" i="1" dirty="0">
                <a:solidFill>
                  <a:srgbClr val="51707C"/>
                </a:solidFill>
                <a:latin typeface="Calibri" pitchFamily="34" charset="0"/>
                <a:ea typeface="Calibri" pitchFamily="34" charset="-122"/>
                <a:cs typeface="Calibri" pitchFamily="34" charset="-120"/>
              </a:rPr>
              <a:t>we choose one to become the...</a:t>
            </a:r>
            <a:endParaRPr lang="en-US" sz="1100" dirty="0"/>
          </a:p>
        </p:txBody>
      </p:sp>
      <p:sp>
        <p:nvSpPr>
          <p:cNvPr id="15" name="Shape 12"/>
          <p:cNvSpPr/>
          <p:nvPr/>
        </p:nvSpPr>
        <p:spPr>
          <a:xfrm>
            <a:off x="7726680" y="4434840"/>
            <a:ext cx="3291840" cy="365760"/>
          </a:xfrm>
          <a:prstGeom prst="roundRect">
            <a:avLst>
              <a:gd name="adj" fmla="val 15000"/>
            </a:avLst>
          </a:prstGeom>
          <a:solidFill>
            <a:srgbClr val="21295C"/>
          </a:solidFill>
          <a:ln/>
        </p:spPr>
      </p:sp>
      <p:sp>
        <p:nvSpPr>
          <p:cNvPr id="16" name="Text 13"/>
          <p:cNvSpPr/>
          <p:nvPr/>
        </p:nvSpPr>
        <p:spPr>
          <a:xfrm>
            <a:off x="7726680" y="4434840"/>
            <a:ext cx="3291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Primary Key</a:t>
            </a:r>
            <a:endParaRPr lang="en-US" sz="1300" dirty="0"/>
          </a:p>
        </p:txBody>
      </p:sp>
      <p:sp>
        <p:nvSpPr>
          <p:cNvPr id="17" name="Shape 14"/>
          <p:cNvSpPr/>
          <p:nvPr/>
        </p:nvSpPr>
        <p:spPr>
          <a:xfrm>
            <a:off x="548640" y="5074920"/>
            <a:ext cx="11064240" cy="868680"/>
          </a:xfrm>
          <a:prstGeom prst="roundRect">
            <a:avLst>
              <a:gd name="adj" fmla="val 8421"/>
            </a:avLst>
          </a:prstGeom>
          <a:solidFill>
            <a:srgbClr val="21295C"/>
          </a:solidFill>
          <a:ln/>
        </p:spPr>
      </p:sp>
      <p:sp>
        <p:nvSpPr>
          <p:cNvPr id="18" name="Text 15"/>
          <p:cNvSpPr/>
          <p:nvPr/>
        </p:nvSpPr>
        <p:spPr>
          <a:xfrm>
            <a:off x="914400" y="5074920"/>
            <a:ext cx="10332720" cy="8686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One-line definition: a candidate key is a minimal column or combination of columns that uniquely identifies every row.</a:t>
            </a:r>
            <a:endParaRPr lang="en-US" sz="1400" dirty="0"/>
          </a:p>
        </p:txBody>
      </p:sp>
      <p:sp>
        <p:nvSpPr>
          <p:cNvPr id="19" name="Text 16"/>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KEYS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Candidate Key vs. Super Key</a:t>
            </a:r>
            <a:endParaRPr lang="en-US" sz="3200" dirty="0"/>
          </a:p>
        </p:txBody>
      </p:sp>
      <p:sp>
        <p:nvSpPr>
          <p:cNvPr id="4" name="Text 2"/>
          <p:cNvSpPr/>
          <p:nvPr/>
        </p:nvSpPr>
        <p:spPr>
          <a:xfrm>
            <a:off x="548640" y="1417320"/>
            <a:ext cx="10881360" cy="5486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A super key is any combination that uniquely identifies a row. A candidate key is a minimal super key — nothing extra.</a:t>
            </a:r>
            <a:endParaRPr lang="en-US" sz="1500" dirty="0"/>
          </a:p>
        </p:txBody>
      </p:sp>
      <p:sp>
        <p:nvSpPr>
          <p:cNvPr id="5" name="Shape 3"/>
          <p:cNvSpPr/>
          <p:nvPr/>
        </p:nvSpPr>
        <p:spPr>
          <a:xfrm>
            <a:off x="548640" y="2103120"/>
            <a:ext cx="2377440" cy="365760"/>
          </a:xfrm>
          <a:prstGeom prst="roundRect">
            <a:avLst>
              <a:gd name="adj" fmla="val 20000"/>
            </a:avLst>
          </a:prstGeom>
          <a:solidFill>
            <a:srgbClr val="DCEEE8"/>
          </a:solidFill>
          <a:ln/>
        </p:spPr>
      </p:sp>
      <p:sp>
        <p:nvSpPr>
          <p:cNvPr id="6" name="Text 4"/>
          <p:cNvSpPr/>
          <p:nvPr/>
        </p:nvSpPr>
        <p:spPr>
          <a:xfrm>
            <a:off x="548640" y="2103120"/>
            <a:ext cx="2377440" cy="365760"/>
          </a:xfrm>
          <a:prstGeom prst="rect">
            <a:avLst/>
          </a:prstGeom>
          <a:noFill/>
          <a:ln/>
        </p:spPr>
        <p:txBody>
          <a:bodyPr wrap="square" lIns="0" tIns="0" rIns="0" bIns="0" rtlCol="0" anchor="ctr"/>
          <a:lstStyle/>
          <a:p>
            <a:pPr algn="ctr" indent="0" marL="0">
              <a:buNone/>
            </a:pPr>
            <a:r>
              <a:rPr lang="en-US" sz="1200" b="1" dirty="0">
                <a:solidFill>
                  <a:srgbClr val="1B7A63"/>
                </a:solidFill>
                <a:latin typeface="Calibri" pitchFamily="34" charset="0"/>
                <a:ea typeface="Calibri" pitchFamily="34" charset="-122"/>
                <a:cs typeface="Calibri" pitchFamily="34" charset="-120"/>
              </a:rPr>
              <a:t>CANDIDATE KEY</a:t>
            </a:r>
            <a:endParaRPr lang="en-US" sz="1200" dirty="0"/>
          </a:p>
        </p:txBody>
      </p:sp>
      <p:sp>
        <p:nvSpPr>
          <p:cNvPr id="7" name="Shape 5"/>
          <p:cNvSpPr/>
          <p:nvPr/>
        </p:nvSpPr>
        <p:spPr>
          <a:xfrm>
            <a:off x="548640" y="2606040"/>
            <a:ext cx="5212080" cy="548640"/>
          </a:xfrm>
          <a:prstGeom prst="roundRect">
            <a:avLst>
              <a:gd name="adj" fmla="val 10000"/>
            </a:avLst>
          </a:prstGeom>
          <a:solidFill>
            <a:srgbClr val="1B7A63"/>
          </a:solidFill>
          <a:ln/>
        </p:spPr>
      </p:sp>
      <p:sp>
        <p:nvSpPr>
          <p:cNvPr id="8" name="Text 6"/>
          <p:cNvSpPr/>
          <p:nvPr/>
        </p:nvSpPr>
        <p:spPr>
          <a:xfrm>
            <a:off x="548640" y="2606040"/>
            <a:ext cx="52120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emp_id</a:t>
            </a:r>
            <a:endParaRPr lang="en-US" sz="1400" dirty="0"/>
          </a:p>
        </p:txBody>
      </p:sp>
      <p:sp>
        <p:nvSpPr>
          <p:cNvPr id="9" name="Text 7"/>
          <p:cNvSpPr/>
          <p:nvPr/>
        </p:nvSpPr>
        <p:spPr>
          <a:xfrm>
            <a:off x="548640" y="3246120"/>
            <a:ext cx="5212080" cy="365760"/>
          </a:xfrm>
          <a:prstGeom prst="rect">
            <a:avLst/>
          </a:prstGeom>
          <a:noFill/>
          <a:ln/>
        </p:spPr>
        <p:txBody>
          <a:bodyPr wrap="square" lIns="0" tIns="0" rIns="0" bIns="0" rtlCol="0" anchor="ctr"/>
          <a:lstStyle/>
          <a:p>
            <a:pPr indent="0" marL="0">
              <a:buNone/>
            </a:pPr>
            <a:r>
              <a:rPr lang="en-US" sz="1250" i="1" dirty="0">
                <a:solidFill>
                  <a:srgbClr val="1B7A63"/>
                </a:solidFill>
                <a:latin typeface="Calibri" pitchFamily="34" charset="0"/>
                <a:ea typeface="Calibri" pitchFamily="34" charset="-122"/>
                <a:cs typeface="Calibri" pitchFamily="34" charset="-120"/>
              </a:rPr>
              <a:t>Minimal — nothing can be removed and still stay unique.</a:t>
            </a:r>
            <a:endParaRPr lang="en-US" sz="1250" dirty="0"/>
          </a:p>
        </p:txBody>
      </p:sp>
      <p:sp>
        <p:nvSpPr>
          <p:cNvPr id="10" name="Shape 8"/>
          <p:cNvSpPr/>
          <p:nvPr/>
        </p:nvSpPr>
        <p:spPr>
          <a:xfrm>
            <a:off x="6309360" y="2103120"/>
            <a:ext cx="1920240" cy="365760"/>
          </a:xfrm>
          <a:prstGeom prst="roundRect">
            <a:avLst>
              <a:gd name="adj" fmla="val 20000"/>
            </a:avLst>
          </a:prstGeom>
          <a:solidFill>
            <a:srgbClr val="FBE4DA"/>
          </a:solidFill>
          <a:ln/>
        </p:spPr>
      </p:sp>
      <p:sp>
        <p:nvSpPr>
          <p:cNvPr id="11" name="Text 9"/>
          <p:cNvSpPr/>
          <p:nvPr/>
        </p:nvSpPr>
        <p:spPr>
          <a:xfrm>
            <a:off x="6309360" y="2103120"/>
            <a:ext cx="1920240" cy="365760"/>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SUPER KEYS</a:t>
            </a:r>
            <a:endParaRPr lang="en-US" sz="1200" dirty="0"/>
          </a:p>
        </p:txBody>
      </p:sp>
      <p:sp>
        <p:nvSpPr>
          <p:cNvPr id="12" name="Shape 10"/>
          <p:cNvSpPr/>
          <p:nvPr/>
        </p:nvSpPr>
        <p:spPr>
          <a:xfrm>
            <a:off x="6309360" y="2606040"/>
            <a:ext cx="5303520" cy="457200"/>
          </a:xfrm>
          <a:prstGeom prst="roundRect">
            <a:avLst>
              <a:gd name="adj" fmla="val 12000"/>
            </a:avLst>
          </a:prstGeom>
          <a:solidFill>
            <a:srgbClr val="FBE4DA"/>
          </a:solidFill>
          <a:ln/>
        </p:spPr>
      </p:sp>
      <p:sp>
        <p:nvSpPr>
          <p:cNvPr id="13" name="Text 11"/>
          <p:cNvSpPr/>
          <p:nvPr/>
        </p:nvSpPr>
        <p:spPr>
          <a:xfrm>
            <a:off x="6309360" y="2606040"/>
            <a:ext cx="5303520" cy="457200"/>
          </a:xfrm>
          <a:prstGeom prst="rect">
            <a:avLst/>
          </a:prstGeom>
          <a:noFill/>
          <a:ln/>
        </p:spPr>
        <p:txBody>
          <a:bodyPr wrap="square" lIns="0" tIns="0" rIns="0" bIns="0" rtlCol="0" anchor="ctr"/>
          <a:lstStyle/>
          <a:p>
            <a:pPr algn="ctr" indent="0" marL="0">
              <a:buNone/>
            </a:pPr>
            <a:r>
              <a:rPr lang="en-US" sz="1300" dirty="0">
                <a:solidFill>
                  <a:srgbClr val="B7472A"/>
                </a:solidFill>
                <a:latin typeface="Calibri" pitchFamily="34" charset="0"/>
                <a:ea typeface="Calibri" pitchFamily="34" charset="-122"/>
                <a:cs typeface="Calibri" pitchFamily="34" charset="-120"/>
              </a:rPr>
              <a:t>emp_id + emp_name</a:t>
            </a:r>
            <a:endParaRPr lang="en-US" sz="1300" dirty="0"/>
          </a:p>
        </p:txBody>
      </p:sp>
      <p:sp>
        <p:nvSpPr>
          <p:cNvPr id="14" name="Shape 12"/>
          <p:cNvSpPr/>
          <p:nvPr/>
        </p:nvSpPr>
        <p:spPr>
          <a:xfrm>
            <a:off x="6309360" y="3154680"/>
            <a:ext cx="5303520" cy="457200"/>
          </a:xfrm>
          <a:prstGeom prst="roundRect">
            <a:avLst>
              <a:gd name="adj" fmla="val 12000"/>
            </a:avLst>
          </a:prstGeom>
          <a:solidFill>
            <a:srgbClr val="FBE4DA"/>
          </a:solidFill>
          <a:ln/>
        </p:spPr>
      </p:sp>
      <p:sp>
        <p:nvSpPr>
          <p:cNvPr id="15" name="Text 13"/>
          <p:cNvSpPr/>
          <p:nvPr/>
        </p:nvSpPr>
        <p:spPr>
          <a:xfrm>
            <a:off x="6309360" y="3154680"/>
            <a:ext cx="5303520" cy="457200"/>
          </a:xfrm>
          <a:prstGeom prst="rect">
            <a:avLst/>
          </a:prstGeom>
          <a:noFill/>
          <a:ln/>
        </p:spPr>
        <p:txBody>
          <a:bodyPr wrap="square" lIns="0" tIns="0" rIns="0" bIns="0" rtlCol="0" anchor="ctr"/>
          <a:lstStyle/>
          <a:p>
            <a:pPr algn="ctr" indent="0" marL="0">
              <a:buNone/>
            </a:pPr>
            <a:r>
              <a:rPr lang="en-US" sz="1300" dirty="0">
                <a:solidFill>
                  <a:srgbClr val="B7472A"/>
                </a:solidFill>
                <a:latin typeface="Calibri" pitchFamily="34" charset="0"/>
                <a:ea typeface="Calibri" pitchFamily="34" charset="-122"/>
                <a:cs typeface="Calibri" pitchFamily="34" charset="-120"/>
              </a:rPr>
              <a:t>emp_id + salary</a:t>
            </a:r>
            <a:endParaRPr lang="en-US" sz="1300" dirty="0"/>
          </a:p>
        </p:txBody>
      </p:sp>
      <p:sp>
        <p:nvSpPr>
          <p:cNvPr id="16" name="Shape 14"/>
          <p:cNvSpPr/>
          <p:nvPr/>
        </p:nvSpPr>
        <p:spPr>
          <a:xfrm>
            <a:off x="6309360" y="3703320"/>
            <a:ext cx="5303520" cy="457200"/>
          </a:xfrm>
          <a:prstGeom prst="roundRect">
            <a:avLst>
              <a:gd name="adj" fmla="val 12000"/>
            </a:avLst>
          </a:prstGeom>
          <a:solidFill>
            <a:srgbClr val="FBE4DA"/>
          </a:solidFill>
          <a:ln/>
        </p:spPr>
      </p:sp>
      <p:sp>
        <p:nvSpPr>
          <p:cNvPr id="17" name="Text 15"/>
          <p:cNvSpPr/>
          <p:nvPr/>
        </p:nvSpPr>
        <p:spPr>
          <a:xfrm>
            <a:off x="6309360" y="3703320"/>
            <a:ext cx="5303520" cy="457200"/>
          </a:xfrm>
          <a:prstGeom prst="rect">
            <a:avLst/>
          </a:prstGeom>
          <a:noFill/>
          <a:ln/>
        </p:spPr>
        <p:txBody>
          <a:bodyPr wrap="square" lIns="0" tIns="0" rIns="0" bIns="0" rtlCol="0" anchor="ctr"/>
          <a:lstStyle/>
          <a:p>
            <a:pPr algn="ctr" indent="0" marL="0">
              <a:buNone/>
            </a:pPr>
            <a:r>
              <a:rPr lang="en-US" sz="1300" dirty="0">
                <a:solidFill>
                  <a:srgbClr val="B7472A"/>
                </a:solidFill>
                <a:latin typeface="Calibri" pitchFamily="34" charset="0"/>
                <a:ea typeface="Calibri" pitchFamily="34" charset="-122"/>
                <a:cs typeface="Calibri" pitchFamily="34" charset="-120"/>
              </a:rPr>
              <a:t>emp_id + email</a:t>
            </a:r>
            <a:endParaRPr lang="en-US" sz="1300" dirty="0"/>
          </a:p>
        </p:txBody>
      </p:sp>
      <p:sp>
        <p:nvSpPr>
          <p:cNvPr id="18" name="Text 16"/>
          <p:cNvSpPr/>
          <p:nvPr/>
        </p:nvSpPr>
        <p:spPr>
          <a:xfrm>
            <a:off x="6309360" y="4297680"/>
            <a:ext cx="5303520" cy="365760"/>
          </a:xfrm>
          <a:prstGeom prst="rect">
            <a:avLst/>
          </a:prstGeom>
          <a:noFill/>
          <a:ln/>
        </p:spPr>
        <p:txBody>
          <a:bodyPr wrap="square" lIns="0" tIns="0" rIns="0" bIns="0" rtlCol="0" anchor="ctr"/>
          <a:lstStyle/>
          <a:p>
            <a:pPr indent="0" marL="0">
              <a:buNone/>
            </a:pPr>
            <a:r>
              <a:rPr lang="en-US" sz="1250" i="1" dirty="0">
                <a:solidFill>
                  <a:srgbClr val="B7472A"/>
                </a:solidFill>
                <a:latin typeface="Calibri" pitchFamily="34" charset="0"/>
                <a:ea typeface="Calibri" pitchFamily="34" charset="-122"/>
                <a:cs typeface="Calibri" pitchFamily="34" charset="-120"/>
              </a:rPr>
              <a:t>Unique, but carry unnecessary columns — not minimal.</a:t>
            </a:r>
            <a:endParaRPr lang="en-US" sz="1250" dirty="0"/>
          </a:p>
        </p:txBody>
      </p:sp>
      <p:sp>
        <p:nvSpPr>
          <p:cNvPr id="19" name="Shape 17"/>
          <p:cNvSpPr/>
          <p:nvPr/>
        </p:nvSpPr>
        <p:spPr>
          <a:xfrm>
            <a:off x="548640" y="4617720"/>
            <a:ext cx="11064240" cy="0"/>
          </a:xfrm>
          <a:prstGeom prst="line">
            <a:avLst/>
          </a:prstGeom>
          <a:noFill/>
          <a:ln w="12700">
            <a:solidFill>
              <a:srgbClr val="D5E3E8"/>
            </a:solidFill>
            <a:prstDash val="solid"/>
          </a:ln>
        </p:spPr>
      </p:sp>
      <p:sp>
        <p:nvSpPr>
          <p:cNvPr id="20" name="Text 18"/>
          <p:cNvSpPr/>
          <p:nvPr/>
        </p:nvSpPr>
        <p:spPr>
          <a:xfrm>
            <a:off x="548640" y="4800600"/>
            <a:ext cx="7315200" cy="914400"/>
          </a:xfrm>
          <a:prstGeom prst="rect">
            <a:avLst/>
          </a:prstGeom>
          <a:noFill/>
          <a:ln/>
        </p:spPr>
        <p:txBody>
          <a:bodyPr wrap="square" lIns="0" tIns="0" rIns="0" bIns="0" rtlCol="0" anchor="ctr"/>
          <a:lstStyle/>
          <a:p>
            <a:pPr indent="0" marL="0">
              <a:buNone/>
            </a:pPr>
            <a:r>
              <a:rPr lang="en-US" sz="1350" dirty="0">
                <a:solidFill>
                  <a:srgbClr val="17222A"/>
                </a:solidFill>
                <a:latin typeface="Calibri" pitchFamily="34" charset="0"/>
                <a:ea typeface="Calibri" pitchFamily="34" charset="-122"/>
                <a:cs typeface="Calibri" pitchFamily="34" charset="-120"/>
              </a:rPr>
              <a:t>A candidate key can also be composite: (student_id, course_id) uniquely identifies an Enrollment row even though neither column does alone.</a:t>
            </a:r>
            <a:endParaRPr lang="en-US" sz="1350" dirty="0"/>
          </a:p>
        </p:txBody>
      </p:sp>
      <p:sp>
        <p:nvSpPr>
          <p:cNvPr id="21" name="Text 19"/>
          <p:cNvSpPr/>
          <p:nvPr/>
        </p:nvSpPr>
        <p:spPr>
          <a:xfrm>
            <a:off x="8138160" y="4800600"/>
            <a:ext cx="3474720" cy="320040"/>
          </a:xfrm>
          <a:prstGeom prst="rect">
            <a:avLst/>
          </a:prstGeom>
          <a:noFill/>
          <a:ln/>
        </p:spPr>
        <p:txBody>
          <a:bodyPr wrap="square" lIns="0" tIns="0" rIns="0" bIns="0" rtlCol="0" anchor="ctr"/>
          <a:lstStyle/>
          <a:p>
            <a:pPr indent="0" marL="0">
              <a:buNone/>
            </a:pPr>
            <a:r>
              <a:rPr lang="en-US" sz="1200" b="1" dirty="0">
                <a:solidFill>
                  <a:srgbClr val="51707C"/>
                </a:solidFill>
                <a:latin typeface="Calibri" pitchFamily="34" charset="0"/>
                <a:ea typeface="Calibri" pitchFamily="34" charset="-122"/>
                <a:cs typeface="Calibri" pitchFamily="34" charset="-120"/>
              </a:rPr>
              <a:t>Easy formula:</a:t>
            </a:r>
            <a:endParaRPr lang="en-US" sz="1200" dirty="0"/>
          </a:p>
        </p:txBody>
      </p:sp>
      <p:sp>
        <p:nvSpPr>
          <p:cNvPr id="22" name="Shape 20"/>
          <p:cNvSpPr/>
          <p:nvPr/>
        </p:nvSpPr>
        <p:spPr>
          <a:xfrm>
            <a:off x="8138160" y="5166360"/>
            <a:ext cx="3474720" cy="548640"/>
          </a:xfrm>
          <a:prstGeom prst="roundRect">
            <a:avLst>
              <a:gd name="adj" fmla="val 11667"/>
            </a:avLst>
          </a:prstGeom>
          <a:solidFill>
            <a:srgbClr val="21295C"/>
          </a:solidFill>
          <a:ln/>
        </p:spPr>
      </p:sp>
      <p:sp>
        <p:nvSpPr>
          <p:cNvPr id="23" name="Text 21"/>
          <p:cNvSpPr/>
          <p:nvPr/>
        </p:nvSpPr>
        <p:spPr>
          <a:xfrm>
            <a:off x="8138160" y="5166360"/>
            <a:ext cx="347472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Candidate Key = Minimal Super Key</a:t>
            </a:r>
            <a:endParaRPr lang="en-US" sz="1250" dirty="0"/>
          </a:p>
        </p:txBody>
      </p:sp>
      <p:sp>
        <p:nvSpPr>
          <p:cNvPr id="24" name="Text 22"/>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ADVANCED</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BCNF — Boyce-Codd Normal Form</a:t>
            </a:r>
            <a:endParaRPr lang="en-US" sz="3200" dirty="0"/>
          </a:p>
        </p:txBody>
      </p:sp>
      <p:sp>
        <p:nvSpPr>
          <p:cNvPr id="4" name="Text 2"/>
          <p:cNvSpPr/>
          <p:nvPr/>
        </p:nvSpPr>
        <p:spPr>
          <a:xfrm>
            <a:off x="548640" y="1417320"/>
            <a:ext cx="10881360" cy="5486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Stronger than 3NF: for every dependency A → B, A must be a candidate key. In short — every determinant must be a candidate key.</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212080" cy="1920240"/>
        </p:xfrm>
        <a:graphic>
          <a:graphicData uri="http://schemas.openxmlformats.org/drawingml/2006/table">
            <a:tbl>
              <a:tblPr/>
              <a:tblGrid>
                <a:gridCol w="1737360"/>
                <a:gridCol w="1737360"/>
                <a:gridCol w="17373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student_id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course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instructor</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Java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Kumar</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Java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Kumar</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Ravi</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Ravi</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6" name="Text 3"/>
          <p:cNvSpPr/>
          <p:nvPr/>
        </p:nvSpPr>
        <p:spPr>
          <a:xfrm>
            <a:off x="548640" y="4160520"/>
            <a:ext cx="5212080" cy="640080"/>
          </a:xfrm>
          <a:prstGeom prst="rect">
            <a:avLst/>
          </a:prstGeom>
          <a:noFill/>
          <a:ln/>
        </p:spPr>
        <p:txBody>
          <a:bodyPr wrap="square" lIns="0" tIns="0" rIns="0" bIns="0" rtlCol="0" anchor="ctr"/>
          <a:lstStyle/>
          <a:p>
            <a:pPr indent="0" marL="0">
              <a:buNone/>
            </a:pPr>
            <a:r>
              <a:rPr lang="en-US" sz="1250" i="1" dirty="0">
                <a:solidFill>
                  <a:srgbClr val="B7472A"/>
                </a:solidFill>
                <a:latin typeface="Calibri" pitchFamily="34" charset="0"/>
                <a:ea typeface="Calibri" pitchFamily="34" charset="-122"/>
                <a:cs typeface="Calibri" pitchFamily="34" charset="-120"/>
              </a:rPr>
              <a:t>(student_id, course) is the candidate key — but course alone determines instructor.</a:t>
            </a:r>
            <a:endParaRPr lang="en-US" sz="1250" dirty="0"/>
          </a:p>
        </p:txBody>
      </p:sp>
      <p:sp>
        <p:nvSpPr>
          <p:cNvPr id="7" name="Shape 4"/>
          <p:cNvSpPr/>
          <p:nvPr/>
        </p:nvSpPr>
        <p:spPr>
          <a:xfrm>
            <a:off x="548640" y="4846320"/>
            <a:ext cx="3474720" cy="365760"/>
          </a:xfrm>
          <a:prstGeom prst="roundRect">
            <a:avLst>
              <a:gd name="adj" fmla="val 20000"/>
            </a:avLst>
          </a:prstGeom>
          <a:solidFill>
            <a:srgbClr val="FBE4DA"/>
          </a:solidFill>
          <a:ln/>
        </p:spPr>
      </p:sp>
      <p:sp>
        <p:nvSpPr>
          <p:cNvPr id="8" name="Text 5"/>
          <p:cNvSpPr/>
          <p:nvPr/>
        </p:nvSpPr>
        <p:spPr>
          <a:xfrm>
            <a:off x="548640" y="4846320"/>
            <a:ext cx="3474720" cy="365760"/>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course → instructor, but course ≠ key</a:t>
            </a:r>
            <a:endParaRPr lang="en-US" sz="1200" dirty="0"/>
          </a:p>
        </p:txBody>
      </p:sp>
      <p:sp>
        <p:nvSpPr>
          <p:cNvPr id="9" name="Shape 6"/>
          <p:cNvSpPr/>
          <p:nvPr/>
        </p:nvSpPr>
        <p:spPr>
          <a:xfrm>
            <a:off x="5989320" y="2926080"/>
            <a:ext cx="457200" cy="219456"/>
          </a:xfrm>
          <a:prstGeom prst="rightArrow">
            <a:avLst/>
          </a:prstGeom>
          <a:solidFill>
            <a:srgbClr val="1B7A63"/>
          </a:solidFill>
          <a:ln/>
        </p:spPr>
      </p:sp>
      <p:sp>
        <p:nvSpPr>
          <p:cNvPr id="10" name="Shape 7"/>
          <p:cNvSpPr/>
          <p:nvPr/>
        </p:nvSpPr>
        <p:spPr>
          <a:xfrm>
            <a:off x="6583680" y="2331720"/>
            <a:ext cx="2377440" cy="1097280"/>
          </a:xfrm>
          <a:prstGeom prst="roundRect">
            <a:avLst>
              <a:gd name="adj" fmla="val 5000"/>
            </a:avLst>
          </a:prstGeom>
          <a:solidFill>
            <a:srgbClr val="1C7293"/>
          </a:solidFill>
          <a:ln/>
        </p:spPr>
      </p:sp>
      <p:sp>
        <p:nvSpPr>
          <p:cNvPr id="11" name="Text 8"/>
          <p:cNvSpPr/>
          <p:nvPr/>
        </p:nvSpPr>
        <p:spPr>
          <a:xfrm>
            <a:off x="6720840" y="2468880"/>
            <a:ext cx="21031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Course</a:t>
            </a:r>
            <a:endParaRPr lang="en-US" sz="1300" dirty="0"/>
          </a:p>
        </p:txBody>
      </p:sp>
      <p:sp>
        <p:nvSpPr>
          <p:cNvPr id="12" name="Text 9"/>
          <p:cNvSpPr/>
          <p:nvPr/>
        </p:nvSpPr>
        <p:spPr>
          <a:xfrm>
            <a:off x="6720840" y="2834640"/>
            <a:ext cx="2103120" cy="457200"/>
          </a:xfrm>
          <a:prstGeom prst="rect">
            <a:avLst/>
          </a:prstGeom>
          <a:noFill/>
          <a:ln/>
        </p:spPr>
        <p:txBody>
          <a:bodyPr wrap="square" lIns="0" tIns="0" rIns="0" bIns="0" rtlCol="0" anchor="ctr"/>
          <a:lstStyle/>
          <a:p>
            <a:pPr indent="0" marL="0">
              <a:buNone/>
            </a:pPr>
            <a:r>
              <a:rPr lang="en-US" sz="1150" dirty="0">
                <a:solidFill>
                  <a:srgbClr val="E4F1F6"/>
                </a:solidFill>
                <a:latin typeface="Calibri" pitchFamily="34" charset="0"/>
                <a:ea typeface="Calibri" pitchFamily="34" charset="-122"/>
                <a:cs typeface="Calibri" pitchFamily="34" charset="-120"/>
              </a:rPr>
              <a:t>course, instructor</a:t>
            </a:r>
            <a:endParaRPr lang="en-US" sz="1150" dirty="0"/>
          </a:p>
        </p:txBody>
      </p:sp>
      <p:sp>
        <p:nvSpPr>
          <p:cNvPr id="13" name="Shape 10"/>
          <p:cNvSpPr/>
          <p:nvPr/>
        </p:nvSpPr>
        <p:spPr>
          <a:xfrm>
            <a:off x="9235440" y="2331720"/>
            <a:ext cx="2377440" cy="1097280"/>
          </a:xfrm>
          <a:prstGeom prst="roundRect">
            <a:avLst>
              <a:gd name="adj" fmla="val 5000"/>
            </a:avLst>
          </a:prstGeom>
          <a:solidFill>
            <a:srgbClr val="065A82"/>
          </a:solidFill>
          <a:ln/>
        </p:spPr>
      </p:sp>
      <p:sp>
        <p:nvSpPr>
          <p:cNvPr id="14" name="Text 11"/>
          <p:cNvSpPr/>
          <p:nvPr/>
        </p:nvSpPr>
        <p:spPr>
          <a:xfrm>
            <a:off x="9372600" y="2468880"/>
            <a:ext cx="21031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StudentCourse</a:t>
            </a:r>
            <a:endParaRPr lang="en-US" sz="1300" dirty="0"/>
          </a:p>
        </p:txBody>
      </p:sp>
      <p:sp>
        <p:nvSpPr>
          <p:cNvPr id="15" name="Text 12"/>
          <p:cNvSpPr/>
          <p:nvPr/>
        </p:nvSpPr>
        <p:spPr>
          <a:xfrm>
            <a:off x="9372600" y="2834640"/>
            <a:ext cx="2103120" cy="457200"/>
          </a:xfrm>
          <a:prstGeom prst="rect">
            <a:avLst/>
          </a:prstGeom>
          <a:noFill/>
          <a:ln/>
        </p:spPr>
        <p:txBody>
          <a:bodyPr wrap="square" lIns="0" tIns="0" rIns="0" bIns="0" rtlCol="0" anchor="ctr"/>
          <a:lstStyle/>
          <a:p>
            <a:pPr indent="0" marL="0">
              <a:buNone/>
            </a:pPr>
            <a:r>
              <a:rPr lang="en-US" sz="1100" dirty="0">
                <a:solidFill>
                  <a:srgbClr val="E4F1F6"/>
                </a:solidFill>
                <a:latin typeface="Calibri" pitchFamily="34" charset="0"/>
                <a:ea typeface="Calibri" pitchFamily="34" charset="-122"/>
                <a:cs typeface="Calibri" pitchFamily="34" charset="-120"/>
              </a:rPr>
              <a:t>student_id, course (FK)</a:t>
            </a:r>
            <a:endParaRPr lang="en-US" sz="1100" dirty="0"/>
          </a:p>
        </p:txBody>
      </p:sp>
      <p:sp>
        <p:nvSpPr>
          <p:cNvPr id="16" name="Shape 13"/>
          <p:cNvSpPr/>
          <p:nvPr/>
        </p:nvSpPr>
        <p:spPr>
          <a:xfrm>
            <a:off x="6583680" y="3657600"/>
            <a:ext cx="5029200" cy="1554480"/>
          </a:xfrm>
          <a:prstGeom prst="roundRect">
            <a:avLst>
              <a:gd name="adj" fmla="val 4706"/>
            </a:avLst>
          </a:prstGeom>
          <a:solidFill>
            <a:srgbClr val="EAF3F6"/>
          </a:solidFill>
          <a:ln w="12700">
            <a:solidFill>
              <a:srgbClr val="1C7293"/>
            </a:solidFill>
            <a:prstDash val="solid"/>
          </a:ln>
        </p:spPr>
      </p:sp>
      <p:sp>
        <p:nvSpPr>
          <p:cNvPr id="17" name="Text 14"/>
          <p:cNvSpPr/>
          <p:nvPr/>
        </p:nvSpPr>
        <p:spPr>
          <a:xfrm>
            <a:off x="6812280" y="3840480"/>
            <a:ext cx="4572000" cy="365760"/>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Memory rule:  A → B</a:t>
            </a:r>
            <a:endParaRPr lang="en-US" sz="1350" dirty="0"/>
          </a:p>
        </p:txBody>
      </p:sp>
      <p:sp>
        <p:nvSpPr>
          <p:cNvPr id="18" name="Text 15"/>
          <p:cNvSpPr/>
          <p:nvPr/>
        </p:nvSpPr>
        <p:spPr>
          <a:xfrm>
            <a:off x="6812280" y="4251960"/>
            <a:ext cx="4572000" cy="457200"/>
          </a:xfrm>
          <a:prstGeom prst="rect">
            <a:avLst/>
          </a:prstGeom>
          <a:noFill/>
          <a:ln/>
        </p:spPr>
        <p:txBody>
          <a:bodyPr wrap="square" lIns="0" tIns="0" rIns="0" bIns="0" rtlCol="0" anchor="ctr"/>
          <a:lstStyle/>
          <a:p>
            <a:pPr indent="0" marL="0">
              <a:buNone/>
            </a:pPr>
            <a:r>
              <a:rPr lang="en-US" sz="1300" dirty="0">
                <a:solidFill>
                  <a:srgbClr val="17222A"/>
                </a:solidFill>
                <a:latin typeface="Calibri" pitchFamily="34" charset="0"/>
                <a:ea typeface="Calibri" pitchFamily="34" charset="-122"/>
                <a:cs typeface="Calibri" pitchFamily="34" charset="-120"/>
              </a:rPr>
              <a:t>A must be a candidate key for the table to satisfy BCNF.</a:t>
            </a:r>
            <a:endParaRPr lang="en-US" sz="1300" dirty="0"/>
          </a:p>
        </p:txBody>
      </p:sp>
      <p:sp>
        <p:nvSpPr>
          <p:cNvPr id="19" name="Text 16"/>
          <p:cNvSpPr/>
          <p:nvPr/>
        </p:nvSpPr>
        <p:spPr>
          <a:xfrm>
            <a:off x="6812280" y="4754880"/>
            <a:ext cx="4572000" cy="411480"/>
          </a:xfrm>
          <a:prstGeom prst="rect">
            <a:avLst/>
          </a:prstGeom>
          <a:noFill/>
          <a:ln/>
        </p:spPr>
        <p:txBody>
          <a:bodyPr wrap="square" lIns="0" tIns="0" rIns="0" bIns="0" rtlCol="0" anchor="ctr"/>
          <a:lstStyle/>
          <a:p>
            <a:pPr indent="0" marL="0">
              <a:buNone/>
            </a:pPr>
            <a:r>
              <a:rPr lang="en-US" sz="1150" i="1" dirty="0">
                <a:solidFill>
                  <a:srgbClr val="51707C"/>
                </a:solidFill>
                <a:latin typeface="Calibri" pitchFamily="34" charset="0"/>
                <a:ea typeface="Calibri" pitchFamily="34" charset="-122"/>
                <a:cs typeface="Calibri" pitchFamily="34" charset="-120"/>
              </a:rPr>
              <a:t>3NF: no transitive dependency  ·  BCNF: every determinant is a candidate key (stricter)</a:t>
            </a:r>
            <a:endParaRPr lang="en-US" sz="1150" dirty="0"/>
          </a:p>
        </p:txBody>
      </p:sp>
      <p:sp>
        <p:nvSpPr>
          <p:cNvPr id="20" name="Text 17"/>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ADVANCED</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Fourth Normal Form — 4NF</a:t>
            </a:r>
            <a:endParaRPr lang="en-US" sz="3200" dirty="0"/>
          </a:p>
        </p:txBody>
      </p:sp>
      <p:sp>
        <p:nvSpPr>
          <p:cNvPr id="4" name="Text 2"/>
          <p:cNvSpPr/>
          <p:nvPr/>
        </p:nvSpPr>
        <p:spPr>
          <a:xfrm>
            <a:off x="548640" y="1417320"/>
            <a:ext cx="10881360" cy="548640"/>
          </a:xfrm>
          <a:prstGeom prst="rect">
            <a:avLst/>
          </a:prstGeom>
          <a:noFill/>
          <a:ln/>
        </p:spPr>
        <p:txBody>
          <a:bodyPr wrap="square" lIns="0" tIns="0" rIns="0" bIns="0" rtlCol="0" anchor="ctr"/>
          <a:lstStyle/>
          <a:p>
            <a:pPr indent="0" marL="0">
              <a:buNone/>
            </a:pPr>
            <a:r>
              <a:rPr lang="en-US" sz="1500" dirty="0">
                <a:solidFill>
                  <a:srgbClr val="17222A"/>
                </a:solidFill>
                <a:latin typeface="Calibri" pitchFamily="34" charset="0"/>
                <a:ea typeface="Calibri" pitchFamily="34" charset="-122"/>
                <a:cs typeface="Calibri" pitchFamily="34" charset="-120"/>
              </a:rPr>
              <a:t>A table shouldn't mix independent multi-valued facts about the same entity — that creates unnecessary combinations.</a:t>
            </a:r>
            <a:endParaRPr lang="en-US" sz="1500" dirty="0"/>
          </a:p>
        </p:txBody>
      </p:sp>
      <p:sp>
        <p:nvSpPr>
          <p:cNvPr id="5" name="Shape 3"/>
          <p:cNvSpPr/>
          <p:nvPr/>
        </p:nvSpPr>
        <p:spPr>
          <a:xfrm>
            <a:off x="548640" y="2103120"/>
            <a:ext cx="1828800" cy="347472"/>
          </a:xfrm>
          <a:prstGeom prst="roundRect">
            <a:avLst>
              <a:gd name="adj" fmla="val 21053"/>
            </a:avLst>
          </a:prstGeom>
          <a:solidFill>
            <a:srgbClr val="FBE4DA"/>
          </a:solidFill>
          <a:ln/>
        </p:spPr>
      </p:sp>
      <p:sp>
        <p:nvSpPr>
          <p:cNvPr id="6" name="Text 4"/>
          <p:cNvSpPr/>
          <p:nvPr/>
        </p:nvSpPr>
        <p:spPr>
          <a:xfrm>
            <a:off x="548640" y="2103120"/>
            <a:ext cx="1828800" cy="347472"/>
          </a:xfrm>
          <a:prstGeom prst="rect">
            <a:avLst/>
          </a:prstGeom>
          <a:noFill/>
          <a:ln/>
        </p:spPr>
        <p:txBody>
          <a:bodyPr wrap="square" lIns="0" tIns="0" rIns="0" bIns="0" rtlCol="0" anchor="ctr"/>
          <a:lstStyle/>
          <a:p>
            <a:pPr algn="ctr" indent="0" marL="0">
              <a:buNone/>
            </a:pPr>
            <a:r>
              <a:rPr lang="en-US" sz="1200" b="1" dirty="0">
                <a:solidFill>
                  <a:srgbClr val="B7472A"/>
                </a:solidFill>
                <a:latin typeface="Calibri" pitchFamily="34" charset="0"/>
                <a:ea typeface="Calibri" pitchFamily="34" charset="-122"/>
                <a:cs typeface="Calibri" pitchFamily="34" charset="-120"/>
              </a:rPr>
              <a:t>✗ NOT 4NF</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5212080" cy="1920240"/>
        </p:xfrm>
        <a:graphic>
          <a:graphicData uri="http://schemas.openxmlformats.org/drawingml/2006/table">
            <a:tbl>
              <a:tblPr/>
              <a:tblGrid>
                <a:gridCol w="1737360"/>
                <a:gridCol w="1737360"/>
                <a:gridCol w="17373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emp_id</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skill</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language</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solidFill>
                      <a:srgbClr val="B7472A"/>
                    </a:solidFill>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Java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English</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Java</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Telugu</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English</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r h="384048">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c>
                  <a:txBody>
                    <a:bodyPr/>
                    <a:lstStyle/>
                    <a:p>
                      <a:pPr indent="0" marL="0">
                        <a:buNone/>
                      </a:pPr>
                      <a:r>
                        <a:rPr lang="en-US" sz="1250" dirty="0">
                          <a:solidFill>
                            <a:srgbClr val="17222A"/>
                          </a:solidFill>
                          <a:latin typeface="Calibri" pitchFamily="34" charset="0"/>
                          <a:ea typeface="Calibri" pitchFamily="34" charset="-122"/>
                          <a:cs typeface="Calibri" pitchFamily="34" charset="-120"/>
                        </a:rPr>
                        <a:t>Telugu</a:t>
                      </a:r>
                      <a:endParaRPr lang="en-US" sz="1250" dirty="0">
                        <a:latin typeface="Calibri" charset="0"/>
                        <a:ea typeface="Calibri" charset="0"/>
                        <a:cs typeface="Calibri" charset="0"/>
                      </a:endParaRPr>
                    </a:p>
                  </a:txBody>
                  <a:tcPr marL="91440" marR="91440" marT="45720" marB="45720" anchor="ctr">
                    <a:lnL w="12700" cap="flat" cmpd="sng" algn="ctr">
                      <a:solidFill>
                        <a:srgbClr val="D5E3E8"/>
                      </a:solidFill>
                      <a:prstDash val="solid"/>
                      <a:round/>
                      <a:headEnd type="none" w="med" len="med"/>
                      <a:tailEnd type="none" w="med" len="med"/>
                    </a:lnL>
                    <a:lnR w="12700" cap="flat" cmpd="sng" algn="ctr">
                      <a:solidFill>
                        <a:srgbClr val="D5E3E8"/>
                      </a:solidFill>
                      <a:prstDash val="solid"/>
                      <a:round/>
                      <a:headEnd type="none" w="med" len="med"/>
                      <a:tailEnd type="none" w="med" len="med"/>
                    </a:lnR>
                    <a:lnT w="12700" cap="flat" cmpd="sng" algn="ctr">
                      <a:solidFill>
                        <a:srgbClr val="D5E3E8"/>
                      </a:solidFill>
                      <a:prstDash val="solid"/>
                      <a:round/>
                      <a:headEnd type="none" w="med" len="med"/>
                      <a:tailEnd type="none" w="med" len="med"/>
                    </a:lnT>
                    <a:lnB w="12700" cap="flat" cmpd="sng" algn="ctr">
                      <a:solidFill>
                        <a:srgbClr val="D5E3E8"/>
                      </a:solidFill>
                      <a:prstDash val="solid"/>
                      <a:round/>
                      <a:headEnd type="none" w="med" len="med"/>
                      <a:tailEnd type="none" w="med" len="med"/>
                    </a:lnB>
                  </a:tcPr>
                </a:tc>
              </a:tr>
            </a:tbl>
          </a:graphicData>
        </a:graphic>
      </p:graphicFrame>
      <p:sp>
        <p:nvSpPr>
          <p:cNvPr id="8" name="Text 5"/>
          <p:cNvSpPr/>
          <p:nvPr/>
        </p:nvSpPr>
        <p:spPr>
          <a:xfrm>
            <a:off x="548640" y="4572000"/>
            <a:ext cx="5212080" cy="457200"/>
          </a:xfrm>
          <a:prstGeom prst="rect">
            <a:avLst/>
          </a:prstGeom>
          <a:noFill/>
          <a:ln/>
        </p:spPr>
        <p:txBody>
          <a:bodyPr wrap="square" lIns="0" tIns="0" rIns="0" bIns="0" rtlCol="0" anchor="ctr"/>
          <a:lstStyle/>
          <a:p>
            <a:pPr indent="0" marL="0">
              <a:buNone/>
            </a:pPr>
            <a:r>
              <a:rPr lang="en-US" sz="1250" i="1" dirty="0">
                <a:solidFill>
                  <a:srgbClr val="B7472A"/>
                </a:solidFill>
                <a:latin typeface="Calibri" pitchFamily="34" charset="0"/>
                <a:ea typeface="Calibri" pitchFamily="34" charset="-122"/>
                <a:cs typeface="Calibri" pitchFamily="34" charset="-120"/>
              </a:rPr>
              <a:t>2 skills × 2 languages = 4 rows, just to store independent facts.</a:t>
            </a:r>
            <a:endParaRPr lang="en-US" sz="1250" dirty="0"/>
          </a:p>
        </p:txBody>
      </p:sp>
      <p:sp>
        <p:nvSpPr>
          <p:cNvPr id="9" name="Shape 6"/>
          <p:cNvSpPr/>
          <p:nvPr/>
        </p:nvSpPr>
        <p:spPr>
          <a:xfrm>
            <a:off x="5943600" y="3291840"/>
            <a:ext cx="457200" cy="219456"/>
          </a:xfrm>
          <a:prstGeom prst="rightArrow">
            <a:avLst/>
          </a:prstGeom>
          <a:solidFill>
            <a:srgbClr val="1B7A63"/>
          </a:solidFill>
          <a:ln/>
        </p:spPr>
      </p:sp>
      <p:sp>
        <p:nvSpPr>
          <p:cNvPr id="10" name="Shape 7"/>
          <p:cNvSpPr/>
          <p:nvPr/>
        </p:nvSpPr>
        <p:spPr>
          <a:xfrm>
            <a:off x="6492240" y="2377440"/>
            <a:ext cx="2468880" cy="1188720"/>
          </a:xfrm>
          <a:prstGeom prst="roundRect">
            <a:avLst>
              <a:gd name="adj" fmla="val 5385"/>
            </a:avLst>
          </a:prstGeom>
          <a:solidFill>
            <a:srgbClr val="065A82"/>
          </a:solidFill>
          <a:ln/>
        </p:spPr>
      </p:sp>
      <p:sp>
        <p:nvSpPr>
          <p:cNvPr id="11" name="Text 8"/>
          <p:cNvSpPr/>
          <p:nvPr/>
        </p:nvSpPr>
        <p:spPr>
          <a:xfrm>
            <a:off x="6629400" y="2514600"/>
            <a:ext cx="219456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EmployeeSkill</a:t>
            </a:r>
            <a:endParaRPr lang="en-US" sz="1250" dirty="0"/>
          </a:p>
        </p:txBody>
      </p:sp>
      <p:sp>
        <p:nvSpPr>
          <p:cNvPr id="12" name="Text 9"/>
          <p:cNvSpPr/>
          <p:nvPr/>
        </p:nvSpPr>
        <p:spPr>
          <a:xfrm>
            <a:off x="6629400" y="2926080"/>
            <a:ext cx="2194560" cy="457200"/>
          </a:xfrm>
          <a:prstGeom prst="rect">
            <a:avLst/>
          </a:prstGeom>
          <a:noFill/>
          <a:ln/>
        </p:spPr>
        <p:txBody>
          <a:bodyPr wrap="square" lIns="0" tIns="0" rIns="0" bIns="0" rtlCol="0" anchor="ctr"/>
          <a:lstStyle/>
          <a:p>
            <a:pPr indent="0" marL="0">
              <a:buNone/>
            </a:pPr>
            <a:r>
              <a:rPr lang="en-US" sz="1150" dirty="0">
                <a:solidFill>
                  <a:srgbClr val="E4F1F6"/>
                </a:solidFill>
                <a:latin typeface="Calibri" pitchFamily="34" charset="0"/>
                <a:ea typeface="Calibri" pitchFamily="34" charset="-122"/>
                <a:cs typeface="Calibri" pitchFamily="34" charset="-120"/>
              </a:rPr>
              <a:t>emp_id, skill</a:t>
            </a:r>
            <a:endParaRPr lang="en-US" sz="1150" dirty="0"/>
          </a:p>
        </p:txBody>
      </p:sp>
      <p:sp>
        <p:nvSpPr>
          <p:cNvPr id="13" name="Shape 10"/>
          <p:cNvSpPr/>
          <p:nvPr/>
        </p:nvSpPr>
        <p:spPr>
          <a:xfrm>
            <a:off x="9144000" y="2377440"/>
            <a:ext cx="2468880" cy="1188720"/>
          </a:xfrm>
          <a:prstGeom prst="roundRect">
            <a:avLst>
              <a:gd name="adj" fmla="val 5385"/>
            </a:avLst>
          </a:prstGeom>
          <a:solidFill>
            <a:srgbClr val="1C7293"/>
          </a:solidFill>
          <a:ln/>
        </p:spPr>
      </p:sp>
      <p:sp>
        <p:nvSpPr>
          <p:cNvPr id="14" name="Text 11"/>
          <p:cNvSpPr/>
          <p:nvPr/>
        </p:nvSpPr>
        <p:spPr>
          <a:xfrm>
            <a:off x="9281160" y="2514600"/>
            <a:ext cx="219456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EmployeeLanguage</a:t>
            </a:r>
            <a:endParaRPr lang="en-US" sz="1250" dirty="0"/>
          </a:p>
        </p:txBody>
      </p:sp>
      <p:sp>
        <p:nvSpPr>
          <p:cNvPr id="15" name="Text 12"/>
          <p:cNvSpPr/>
          <p:nvPr/>
        </p:nvSpPr>
        <p:spPr>
          <a:xfrm>
            <a:off x="9281160" y="2926080"/>
            <a:ext cx="2194560" cy="457200"/>
          </a:xfrm>
          <a:prstGeom prst="rect">
            <a:avLst/>
          </a:prstGeom>
          <a:noFill/>
          <a:ln/>
        </p:spPr>
        <p:txBody>
          <a:bodyPr wrap="square" lIns="0" tIns="0" rIns="0" bIns="0" rtlCol="0" anchor="ctr"/>
          <a:lstStyle/>
          <a:p>
            <a:pPr indent="0" marL="0">
              <a:buNone/>
            </a:pPr>
            <a:r>
              <a:rPr lang="en-US" sz="1150" dirty="0">
                <a:solidFill>
                  <a:srgbClr val="E4F1F6"/>
                </a:solidFill>
                <a:latin typeface="Calibri" pitchFamily="34" charset="0"/>
                <a:ea typeface="Calibri" pitchFamily="34" charset="-122"/>
                <a:cs typeface="Calibri" pitchFamily="34" charset="-120"/>
              </a:rPr>
              <a:t>emp_id, language</a:t>
            </a:r>
            <a:endParaRPr lang="en-US" sz="1150" dirty="0"/>
          </a:p>
        </p:txBody>
      </p:sp>
      <p:sp>
        <p:nvSpPr>
          <p:cNvPr id="16" name="Text 13"/>
          <p:cNvSpPr/>
          <p:nvPr/>
        </p:nvSpPr>
        <p:spPr>
          <a:xfrm>
            <a:off x="6492240" y="3794760"/>
            <a:ext cx="5120640" cy="548640"/>
          </a:xfrm>
          <a:prstGeom prst="rect">
            <a:avLst/>
          </a:prstGeom>
          <a:noFill/>
          <a:ln/>
        </p:spPr>
        <p:txBody>
          <a:bodyPr wrap="square" lIns="0" tIns="0" rIns="0" bIns="0" rtlCol="0" anchor="ctr"/>
          <a:lstStyle/>
          <a:p>
            <a:pPr indent="0" marL="0">
              <a:buNone/>
            </a:pPr>
            <a:r>
              <a:rPr lang="en-US" sz="1250" i="1" dirty="0">
                <a:solidFill>
                  <a:srgbClr val="1B7A63"/>
                </a:solidFill>
                <a:latin typeface="Calibri" pitchFamily="34" charset="0"/>
                <a:ea typeface="Calibri" pitchFamily="34" charset="-122"/>
                <a:cs typeface="Calibri" pitchFamily="34" charset="-120"/>
              </a:rPr>
              <a:t>Skills and languages are stored independently — no forced combinations, no wasted rows.</a:t>
            </a:r>
            <a:endParaRPr lang="en-US" sz="1250" dirty="0"/>
          </a:p>
        </p:txBody>
      </p:sp>
      <p:sp>
        <p:nvSpPr>
          <p:cNvPr id="17" name="Shape 14"/>
          <p:cNvSpPr/>
          <p:nvPr/>
        </p:nvSpPr>
        <p:spPr>
          <a:xfrm>
            <a:off x="548640" y="5029200"/>
            <a:ext cx="11064240" cy="914400"/>
          </a:xfrm>
          <a:prstGeom prst="roundRect">
            <a:avLst>
              <a:gd name="adj" fmla="val 8000"/>
            </a:avLst>
          </a:prstGeom>
          <a:solidFill>
            <a:srgbClr val="21295C"/>
          </a:solidFill>
          <a:ln/>
        </p:spPr>
      </p:sp>
      <p:sp>
        <p:nvSpPr>
          <p:cNvPr id="18" name="Text 15"/>
          <p:cNvSpPr/>
          <p:nvPr/>
        </p:nvSpPr>
        <p:spPr>
          <a:xfrm>
            <a:off x="914400" y="5029200"/>
            <a:ext cx="1033272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Rule of thumb: if two sets of values are independent of each other, they belong in separate tables.</a:t>
            </a:r>
            <a:endParaRPr lang="en-US" sz="1450" dirty="0"/>
          </a:p>
        </p:txBody>
      </p:sp>
      <p:sp>
        <p:nvSpPr>
          <p:cNvPr id="19" name="Text 16"/>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rgbClr val="9FD2E8"/>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Normal Forms, End to End</a:t>
            </a:r>
            <a:endParaRPr lang="en-US" sz="3200" dirty="0"/>
          </a:p>
        </p:txBody>
      </p:sp>
      <p:sp>
        <p:nvSpPr>
          <p:cNvPr id="4" name="Shape 2"/>
          <p:cNvSpPr/>
          <p:nvPr/>
        </p:nvSpPr>
        <p:spPr>
          <a:xfrm>
            <a:off x="1280160" y="1691640"/>
            <a:ext cx="9601200" cy="749808"/>
          </a:xfrm>
          <a:prstGeom prst="roundRect">
            <a:avLst>
              <a:gd name="adj" fmla="val 8537"/>
            </a:avLst>
          </a:prstGeom>
          <a:solidFill>
            <a:srgbClr val="0E5578"/>
          </a:solidFill>
          <a:ln/>
        </p:spPr>
      </p:sp>
      <p:sp>
        <p:nvSpPr>
          <p:cNvPr id="5" name="Text 3"/>
          <p:cNvSpPr/>
          <p:nvPr/>
        </p:nvSpPr>
        <p:spPr>
          <a:xfrm>
            <a:off x="1508760" y="1691640"/>
            <a:ext cx="1463040" cy="749808"/>
          </a:xfrm>
          <a:prstGeom prst="rect">
            <a:avLst/>
          </a:prstGeom>
          <a:noFill/>
          <a:ln/>
        </p:spPr>
        <p:txBody>
          <a:bodyPr wrap="square" lIns="0" tIns="0" rIns="0" bIns="0" rtlCol="0" anchor="ctr"/>
          <a:lstStyle/>
          <a:p>
            <a:pPr indent="0" marL="0">
              <a:buNone/>
            </a:pPr>
            <a:r>
              <a:rPr lang="en-US" sz="1700" b="1" dirty="0">
                <a:solidFill>
                  <a:srgbClr val="9FD2E8"/>
                </a:solidFill>
                <a:latin typeface="Cambria" pitchFamily="34" charset="0"/>
                <a:ea typeface="Cambria" pitchFamily="34" charset="-122"/>
                <a:cs typeface="Cambria" pitchFamily="34" charset="-120"/>
              </a:rPr>
              <a:t>1NF</a:t>
            </a:r>
            <a:endParaRPr lang="en-US" sz="1700" dirty="0"/>
          </a:p>
        </p:txBody>
      </p:sp>
      <p:sp>
        <p:nvSpPr>
          <p:cNvPr id="6" name="Text 4"/>
          <p:cNvSpPr/>
          <p:nvPr/>
        </p:nvSpPr>
        <p:spPr>
          <a:xfrm>
            <a:off x="3017520" y="1691640"/>
            <a:ext cx="7680960" cy="74980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Atomic values, no repeating groups</a:t>
            </a:r>
            <a:endParaRPr lang="en-US" sz="1450" dirty="0"/>
          </a:p>
        </p:txBody>
      </p:sp>
      <p:sp>
        <p:nvSpPr>
          <p:cNvPr id="7" name="Shape 5"/>
          <p:cNvSpPr/>
          <p:nvPr/>
        </p:nvSpPr>
        <p:spPr>
          <a:xfrm>
            <a:off x="1280160" y="2587752"/>
            <a:ext cx="9601200" cy="749808"/>
          </a:xfrm>
          <a:prstGeom prst="roundRect">
            <a:avLst>
              <a:gd name="adj" fmla="val 8537"/>
            </a:avLst>
          </a:prstGeom>
          <a:solidFill>
            <a:srgbClr val="12688F"/>
          </a:solidFill>
          <a:ln/>
        </p:spPr>
      </p:sp>
      <p:sp>
        <p:nvSpPr>
          <p:cNvPr id="8" name="Text 6"/>
          <p:cNvSpPr/>
          <p:nvPr/>
        </p:nvSpPr>
        <p:spPr>
          <a:xfrm>
            <a:off x="1508760" y="2587752"/>
            <a:ext cx="1463040" cy="749808"/>
          </a:xfrm>
          <a:prstGeom prst="rect">
            <a:avLst/>
          </a:prstGeom>
          <a:noFill/>
          <a:ln/>
        </p:spPr>
        <p:txBody>
          <a:bodyPr wrap="square" lIns="0" tIns="0" rIns="0" bIns="0" rtlCol="0" anchor="ctr"/>
          <a:lstStyle/>
          <a:p>
            <a:pPr indent="0" marL="0">
              <a:buNone/>
            </a:pPr>
            <a:r>
              <a:rPr lang="en-US" sz="1700" b="1" dirty="0">
                <a:solidFill>
                  <a:srgbClr val="9FD2E8"/>
                </a:solidFill>
                <a:latin typeface="Cambria" pitchFamily="34" charset="0"/>
                <a:ea typeface="Cambria" pitchFamily="34" charset="-122"/>
                <a:cs typeface="Cambria" pitchFamily="34" charset="-120"/>
              </a:rPr>
              <a:t>2NF</a:t>
            </a:r>
            <a:endParaRPr lang="en-US" sz="1700" dirty="0"/>
          </a:p>
        </p:txBody>
      </p:sp>
      <p:sp>
        <p:nvSpPr>
          <p:cNvPr id="9" name="Text 7"/>
          <p:cNvSpPr/>
          <p:nvPr/>
        </p:nvSpPr>
        <p:spPr>
          <a:xfrm>
            <a:off x="3017520" y="2587752"/>
            <a:ext cx="7680960" cy="74980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1NF + no partial dependency</a:t>
            </a:r>
            <a:endParaRPr lang="en-US" sz="1450" dirty="0"/>
          </a:p>
        </p:txBody>
      </p:sp>
      <p:sp>
        <p:nvSpPr>
          <p:cNvPr id="10" name="Shape 8"/>
          <p:cNvSpPr/>
          <p:nvPr/>
        </p:nvSpPr>
        <p:spPr>
          <a:xfrm>
            <a:off x="1280160" y="3483864"/>
            <a:ext cx="9601200" cy="749808"/>
          </a:xfrm>
          <a:prstGeom prst="roundRect">
            <a:avLst>
              <a:gd name="adj" fmla="val 8537"/>
            </a:avLst>
          </a:prstGeom>
          <a:solidFill>
            <a:srgbClr val="0E5578"/>
          </a:solidFill>
          <a:ln/>
        </p:spPr>
      </p:sp>
      <p:sp>
        <p:nvSpPr>
          <p:cNvPr id="11" name="Text 9"/>
          <p:cNvSpPr/>
          <p:nvPr/>
        </p:nvSpPr>
        <p:spPr>
          <a:xfrm>
            <a:off x="1508760" y="3483864"/>
            <a:ext cx="1463040" cy="749808"/>
          </a:xfrm>
          <a:prstGeom prst="rect">
            <a:avLst/>
          </a:prstGeom>
          <a:noFill/>
          <a:ln/>
        </p:spPr>
        <p:txBody>
          <a:bodyPr wrap="square" lIns="0" tIns="0" rIns="0" bIns="0" rtlCol="0" anchor="ctr"/>
          <a:lstStyle/>
          <a:p>
            <a:pPr indent="0" marL="0">
              <a:buNone/>
            </a:pPr>
            <a:r>
              <a:rPr lang="en-US" sz="1700" b="1" dirty="0">
                <a:solidFill>
                  <a:srgbClr val="9FD2E8"/>
                </a:solidFill>
                <a:latin typeface="Cambria" pitchFamily="34" charset="0"/>
                <a:ea typeface="Cambria" pitchFamily="34" charset="-122"/>
                <a:cs typeface="Cambria" pitchFamily="34" charset="-120"/>
              </a:rPr>
              <a:t>3NF</a:t>
            </a:r>
            <a:endParaRPr lang="en-US" sz="1700" dirty="0"/>
          </a:p>
        </p:txBody>
      </p:sp>
      <p:sp>
        <p:nvSpPr>
          <p:cNvPr id="12" name="Text 10"/>
          <p:cNvSpPr/>
          <p:nvPr/>
        </p:nvSpPr>
        <p:spPr>
          <a:xfrm>
            <a:off x="3017520" y="3483864"/>
            <a:ext cx="7680960" cy="74980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2NF + no transitive dependency</a:t>
            </a:r>
            <a:endParaRPr lang="en-US" sz="1450" dirty="0"/>
          </a:p>
        </p:txBody>
      </p:sp>
      <p:sp>
        <p:nvSpPr>
          <p:cNvPr id="13" name="Shape 11"/>
          <p:cNvSpPr/>
          <p:nvPr/>
        </p:nvSpPr>
        <p:spPr>
          <a:xfrm>
            <a:off x="1280160" y="4379976"/>
            <a:ext cx="9601200" cy="749808"/>
          </a:xfrm>
          <a:prstGeom prst="roundRect">
            <a:avLst>
              <a:gd name="adj" fmla="val 8537"/>
            </a:avLst>
          </a:prstGeom>
          <a:solidFill>
            <a:srgbClr val="12688F"/>
          </a:solidFill>
          <a:ln/>
        </p:spPr>
      </p:sp>
      <p:sp>
        <p:nvSpPr>
          <p:cNvPr id="14" name="Text 12"/>
          <p:cNvSpPr/>
          <p:nvPr/>
        </p:nvSpPr>
        <p:spPr>
          <a:xfrm>
            <a:off x="1508760" y="4379976"/>
            <a:ext cx="1463040" cy="749808"/>
          </a:xfrm>
          <a:prstGeom prst="rect">
            <a:avLst/>
          </a:prstGeom>
          <a:noFill/>
          <a:ln/>
        </p:spPr>
        <p:txBody>
          <a:bodyPr wrap="square" lIns="0" tIns="0" rIns="0" bIns="0" rtlCol="0" anchor="ctr"/>
          <a:lstStyle/>
          <a:p>
            <a:pPr indent="0" marL="0">
              <a:buNone/>
            </a:pPr>
            <a:r>
              <a:rPr lang="en-US" sz="1700" b="1" dirty="0">
                <a:solidFill>
                  <a:srgbClr val="9FD2E8"/>
                </a:solidFill>
                <a:latin typeface="Cambria" pitchFamily="34" charset="0"/>
                <a:ea typeface="Cambria" pitchFamily="34" charset="-122"/>
                <a:cs typeface="Cambria" pitchFamily="34" charset="-120"/>
              </a:rPr>
              <a:t>BCNF</a:t>
            </a:r>
            <a:endParaRPr lang="en-US" sz="1700" dirty="0"/>
          </a:p>
        </p:txBody>
      </p:sp>
      <p:sp>
        <p:nvSpPr>
          <p:cNvPr id="15" name="Text 13"/>
          <p:cNvSpPr/>
          <p:nvPr/>
        </p:nvSpPr>
        <p:spPr>
          <a:xfrm>
            <a:off x="3017520" y="4379976"/>
            <a:ext cx="7680960" cy="74980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Every determinant is a candidate key</a:t>
            </a:r>
            <a:endParaRPr lang="en-US" sz="1450" dirty="0"/>
          </a:p>
        </p:txBody>
      </p:sp>
      <p:sp>
        <p:nvSpPr>
          <p:cNvPr id="16" name="Shape 14"/>
          <p:cNvSpPr/>
          <p:nvPr/>
        </p:nvSpPr>
        <p:spPr>
          <a:xfrm>
            <a:off x="1280160" y="5276088"/>
            <a:ext cx="9601200" cy="749808"/>
          </a:xfrm>
          <a:prstGeom prst="roundRect">
            <a:avLst>
              <a:gd name="adj" fmla="val 8537"/>
            </a:avLst>
          </a:prstGeom>
          <a:solidFill>
            <a:srgbClr val="0E5578"/>
          </a:solidFill>
          <a:ln/>
        </p:spPr>
      </p:sp>
      <p:sp>
        <p:nvSpPr>
          <p:cNvPr id="17" name="Text 15"/>
          <p:cNvSpPr/>
          <p:nvPr/>
        </p:nvSpPr>
        <p:spPr>
          <a:xfrm>
            <a:off x="1508760" y="5276088"/>
            <a:ext cx="1463040" cy="749808"/>
          </a:xfrm>
          <a:prstGeom prst="rect">
            <a:avLst/>
          </a:prstGeom>
          <a:noFill/>
          <a:ln/>
        </p:spPr>
        <p:txBody>
          <a:bodyPr wrap="square" lIns="0" tIns="0" rIns="0" bIns="0" rtlCol="0" anchor="ctr"/>
          <a:lstStyle/>
          <a:p>
            <a:pPr indent="0" marL="0">
              <a:buNone/>
            </a:pPr>
            <a:r>
              <a:rPr lang="en-US" sz="1700" b="1" dirty="0">
                <a:solidFill>
                  <a:srgbClr val="9FD2E8"/>
                </a:solidFill>
                <a:latin typeface="Cambria" pitchFamily="34" charset="0"/>
                <a:ea typeface="Cambria" pitchFamily="34" charset="-122"/>
                <a:cs typeface="Cambria" pitchFamily="34" charset="-120"/>
              </a:rPr>
              <a:t>4NF</a:t>
            </a:r>
            <a:endParaRPr lang="en-US" sz="1700" dirty="0"/>
          </a:p>
        </p:txBody>
      </p:sp>
      <p:sp>
        <p:nvSpPr>
          <p:cNvPr id="18" name="Text 16"/>
          <p:cNvSpPr/>
          <p:nvPr/>
        </p:nvSpPr>
        <p:spPr>
          <a:xfrm>
            <a:off x="3017520" y="5276088"/>
            <a:ext cx="7680960" cy="74980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 independent multivalued dependencies</a:t>
            </a:r>
            <a:endParaRPr lang="en-US" sz="1450" dirty="0"/>
          </a:p>
        </p:txBody>
      </p:sp>
      <p:sp>
        <p:nvSpPr>
          <p:cNvPr id="19" name="Text 17"/>
          <p:cNvSpPr/>
          <p:nvPr/>
        </p:nvSpPr>
        <p:spPr>
          <a:xfrm>
            <a:off x="1280160" y="6263640"/>
            <a:ext cx="9601200" cy="365760"/>
          </a:xfrm>
          <a:prstGeom prst="rect">
            <a:avLst/>
          </a:prstGeom>
          <a:noFill/>
          <a:ln/>
        </p:spPr>
        <p:txBody>
          <a:bodyPr wrap="square" lIns="0" tIns="0" rIns="0" bIns="0" rtlCol="0" anchor="ctr"/>
          <a:lstStyle/>
          <a:p>
            <a:pPr algn="ctr" indent="0" marL="0">
              <a:buNone/>
            </a:pPr>
            <a:r>
              <a:rPr lang="en-US" sz="1300" i="1" dirty="0">
                <a:solidFill>
                  <a:srgbClr val="D6E9F0"/>
                </a:solidFill>
                <a:latin typeface="Calibri" pitchFamily="34" charset="0"/>
                <a:ea typeface="Calibri" pitchFamily="34" charset="-122"/>
                <a:cs typeface="Calibri" pitchFamily="34" charset="-120"/>
              </a:rPr>
              <a:t>Why normalize?  To reduce redundancy and prevent insert, update, and delete anomalies.</a:t>
            </a:r>
            <a:endParaRPr lang="en-US" sz="1300" dirty="0"/>
          </a:p>
        </p:txBody>
      </p:sp>
      <p:sp>
        <p:nvSpPr>
          <p:cNvPr id="20" name="Text 18"/>
          <p:cNvSpPr/>
          <p:nvPr/>
        </p:nvSpPr>
        <p:spPr>
          <a:xfrm>
            <a:off x="11503152" y="6446520"/>
            <a:ext cx="457200" cy="274320"/>
          </a:xfrm>
          <a:prstGeom prst="rect">
            <a:avLst/>
          </a:prstGeom>
          <a:noFill/>
          <a:ln/>
        </p:spPr>
        <p:txBody>
          <a:bodyPr wrap="square" lIns="0" tIns="0" rIns="0" bIns="0" rtlCol="0" anchor="ctr"/>
          <a:lstStyle/>
          <a:p>
            <a:pPr algn="r" indent="0" marL="0">
              <a:buNone/>
            </a:pPr>
            <a:r>
              <a:rPr lang="en-US" sz="1000" dirty="0">
                <a:solidFill>
                  <a:srgbClr val="51707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2026-08-21T06:30:35Z</dcterms:created>
  <dcterms:modified xsi:type="dcterms:W3CDTF">2026-08-21T06:30:35Z</dcterms:modified>
</cp:coreProperties>
</file>