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6213E"/>
          </a:solidFill>
          <a:ln/>
        </p:spPr>
      </p:sp>
      <p:sp>
        <p:nvSpPr>
          <p:cNvPr id="3" name="Text 1"/>
          <p:cNvSpPr/>
          <p:nvPr/>
        </p:nvSpPr>
        <p:spPr>
          <a:xfrm>
            <a:off x="8686800" y="640080"/>
            <a:ext cx="3291840" cy="5486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0" b="1" dirty="0">
                <a:solidFill>
                  <a:srgbClr val="2230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 )</a:t>
            </a:r>
            <a:endParaRPr lang="en-US" sz="26000" dirty="0"/>
          </a:p>
        </p:txBody>
      </p:sp>
      <p:sp>
        <p:nvSpPr>
          <p:cNvPr id="4" name="Text 2"/>
          <p:cNvSpPr/>
          <p:nvPr/>
        </p:nvSpPr>
        <p:spPr>
          <a:xfrm>
            <a:off x="822960" y="173736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0EA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77240" y="2103120"/>
            <a:ext cx="7772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Subqueries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822960" y="3246120"/>
            <a:ext cx="7132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AFC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query inside another query — how to read, write, and reason about them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822960" y="4114800"/>
            <a:ext cx="5669280" cy="1920240"/>
          </a:xfrm>
          <a:prstGeom prst="roundRect">
            <a:avLst>
              <a:gd name="adj" fmla="val 3810"/>
            </a:avLst>
          </a:prstGeom>
          <a:solidFill>
            <a:srgbClr val="16213E"/>
          </a:solidFill>
          <a:ln/>
          <a:effectLst>
            <a:outerShdw sx="100000" sy="100000" kx="0" ky="0" algn="bl" rotWithShape="0" blurRad="101600" dist="38100" dir="5400000">
              <a:srgbClr val="0A0F1E">
                <a:alpha val="3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078992" y="4297680"/>
            <a:ext cx="515721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7EC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* FROM Employee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7EC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salary &gt; (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7EC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SELECT AVG(salary)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7EC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FROM Employee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7EC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22960" y="63093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E8C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Notes  ·  SQL Fundamentals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A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CONCEPT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 Subquery?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737360"/>
            <a:ext cx="5486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5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subquery is a query written inside another SQL query. It is usually written inside parentheses, and its result is used by the query that contains it.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548640" y="3246120"/>
            <a:ext cx="1920240" cy="365760"/>
          </a:xfrm>
          <a:prstGeom prst="roundRect">
            <a:avLst>
              <a:gd name="adj" fmla="val 50000"/>
            </a:avLst>
          </a:prstGeom>
          <a:solidFill>
            <a:srgbClr val="EAF7F5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324612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A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IDEA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370332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i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Subquery = Query inside another query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548640" y="4434840"/>
            <a:ext cx="2606040" cy="1554480"/>
          </a:xfrm>
          <a:prstGeom prst="roundRect">
            <a:avLst>
              <a:gd name="adj" fmla="val 4706"/>
            </a:avLst>
          </a:prstGeom>
          <a:solidFill>
            <a:srgbClr val="EAF7F5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45720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EA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INNER QUERY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31520" y="4892040"/>
            <a:ext cx="2286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Called the Subquery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3383280" y="4434840"/>
            <a:ext cx="2606040" cy="1554480"/>
          </a:xfrm>
          <a:prstGeom prst="roundRect">
            <a:avLst>
              <a:gd name="adj" fmla="val 4706"/>
            </a:avLst>
          </a:prstGeom>
          <a:solidFill>
            <a:srgbClr val="FDF3E4"/>
          </a:solidFill>
          <a:ln/>
        </p:spPr>
      </p:sp>
      <p:sp>
        <p:nvSpPr>
          <p:cNvPr id="12" name="Text 10"/>
          <p:cNvSpPr/>
          <p:nvPr/>
        </p:nvSpPr>
        <p:spPr>
          <a:xfrm>
            <a:off x="3566160" y="45720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B8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OUTER QUERY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566160" y="4892040"/>
            <a:ext cx="2286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Called the Main Query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6400800" y="1737360"/>
            <a:ext cx="5257800" cy="4251960"/>
          </a:xfrm>
          <a:prstGeom prst="roundRect">
            <a:avLst>
              <a:gd name="adj" fmla="val 1720"/>
            </a:avLst>
          </a:prstGeom>
          <a:solidFill>
            <a:srgbClr val="16213E"/>
          </a:solidFill>
          <a:ln/>
          <a:effectLst>
            <a:outerShdw sx="100000" sy="100000" kx="0" ky="0" algn="bl" rotWithShape="0" blurRad="101600" dist="38100" dir="5400000">
              <a:srgbClr val="0A0F1E">
                <a:alpha val="3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656832" y="1847088"/>
            <a:ext cx="474573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0EA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656832" y="2139696"/>
            <a:ext cx="4745736" cy="3666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E7EC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*</a:t>
            </a:r>
            <a:endParaRPr lang="en-US" sz="14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E7EC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Employee          -- Main query</a:t>
            </a:r>
            <a:endParaRPr lang="en-US" sz="14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E7EC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salary &gt; (</a:t>
            </a:r>
            <a:endParaRPr lang="en-US" sz="14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E7EC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SELECT AVG(salary)   -- Subquery</a:t>
            </a:r>
            <a:endParaRPr lang="en-US" sz="14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E7EC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FROM Employee</a:t>
            </a:r>
            <a:endParaRPr lang="en-US" sz="14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E7EC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1165860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A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SYNTAX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Syntax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212080" cy="2880360"/>
          </a:xfrm>
          <a:prstGeom prst="roundRect">
            <a:avLst>
              <a:gd name="adj" fmla="val 2540"/>
            </a:avLst>
          </a:prstGeom>
          <a:solidFill>
            <a:srgbClr val="16213E"/>
          </a:solidFill>
          <a:ln/>
          <a:effectLst>
            <a:outerShdw sx="100000" sy="100000" kx="0" ky="0" algn="bl" rotWithShape="0" blurRad="101600" dist="38100" dir="5400000">
              <a:srgbClr val="0A0F1E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04672" y="1920240"/>
            <a:ext cx="4700016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E7EC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column_name</a:t>
            </a: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E7EC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table_name</a:t>
            </a: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E7EC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column_name operator (</a:t>
            </a: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E7EC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SELECT column_name</a:t>
            </a: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E7EC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FROM table_name</a:t>
            </a: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E7EC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WHERE condition</a:t>
            </a: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E7EC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035040" y="17373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Operators</a:t>
            </a:r>
            <a:endParaRPr lang="en-US" sz="14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35040" y="2103120"/>
          <a:ext cx="5577840" cy="4206240"/>
        </p:xfrm>
        <a:graphic>
          <a:graphicData uri="http://schemas.openxmlformats.org/drawingml/2006/table">
            <a:tbl>
              <a:tblPr/>
              <a:tblGrid>
                <a:gridCol w="1554480"/>
                <a:gridCol w="402336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Operator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Meaning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EA5A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=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Equal to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EA5A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&gt;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Greater than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EA5A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&lt;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Less than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EA5A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&gt;=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Greater than or equal to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EA5A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&lt;=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Less than or equal to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EA5A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IN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Matches any value in the result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EA5A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NOT IN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Does not match any value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EA5A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EXISTS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Checks whether rows exist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1165860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A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REFERENCE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Database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207008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two tables are used in every example that follows.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18288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</a:t>
            </a:r>
            <a:endParaRPr lang="en-US" sz="15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194560"/>
          <a:ext cx="6492240" cy="2377440"/>
        </p:xfrm>
        <a:graphic>
          <a:graphicData uri="http://schemas.openxmlformats.org/drawingml/2006/table">
            <a:tbl>
              <a:tblPr/>
              <a:tblGrid>
                <a:gridCol w="1463040"/>
                <a:gridCol w="2011680"/>
                <a:gridCol w="1645920"/>
                <a:gridCol w="137160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emp_id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name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salary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dept_id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33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33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Ravi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33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50000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33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10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33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33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Priya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33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60000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33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20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33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3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33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Arun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33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45000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33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10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33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4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33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Anu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33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70000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33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20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7406640" y="18288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</a:t>
            </a:r>
            <a:endParaRPr lang="en-US" sz="1500" dirty="0"/>
          </a:p>
        </p:txBody>
      </p:sp>
      <p:graphicFrame>
        <p:nvGraphicFramePr>
          <p:cNvPr id="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406640" y="2194560"/>
          <a:ext cx="4206240" cy="1463040"/>
        </p:xfrm>
        <a:graphic>
          <a:graphicData uri="http://schemas.openxmlformats.org/drawingml/2006/table">
            <a:tbl>
              <a:tblPr/>
              <a:tblGrid>
                <a:gridCol w="1828800"/>
                <a:gridCol w="237744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dept_id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A5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dept_name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A5A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33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10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33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IT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33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20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33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HR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Shape 5"/>
          <p:cNvSpPr/>
          <p:nvPr/>
        </p:nvSpPr>
        <p:spPr>
          <a:xfrm>
            <a:off x="7406640" y="4206240"/>
            <a:ext cx="4206240" cy="2103120"/>
          </a:xfrm>
          <a:prstGeom prst="roundRect">
            <a:avLst>
              <a:gd name="adj" fmla="val 3478"/>
            </a:avLst>
          </a:prstGeom>
          <a:solidFill>
            <a:srgbClr val="EAF7F5"/>
          </a:solidFill>
          <a:ln/>
        </p:spPr>
      </p:sp>
      <p:sp>
        <p:nvSpPr>
          <p:cNvPr id="10" name="Text 6"/>
          <p:cNvSpPr/>
          <p:nvPr/>
        </p:nvSpPr>
        <p:spPr>
          <a:xfrm>
            <a:off x="7635240" y="437083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EA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LINK</a:t>
            </a:r>
            <a:endParaRPr lang="en-US" sz="1100" dirty="0"/>
          </a:p>
        </p:txBody>
      </p:sp>
      <p:sp>
        <p:nvSpPr>
          <p:cNvPr id="11" name="Text 7"/>
          <p:cNvSpPr/>
          <p:nvPr/>
        </p:nvSpPr>
        <p:spPr>
          <a:xfrm>
            <a:off x="7635240" y="4663440"/>
            <a:ext cx="37490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Employee.dept_id connects to Department.dept_id — this is what makes joins and correlated subqueries between the two tables possible.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1165860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A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EXAMPLE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Subquery — Above Average Salary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1965960"/>
            <a:ext cx="5486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employees whose salary is greater than the average salary.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2697480"/>
            <a:ext cx="5486400" cy="1920240"/>
          </a:xfrm>
          <a:prstGeom prst="roundRect">
            <a:avLst>
              <a:gd name="adj" fmla="val 3810"/>
            </a:avLst>
          </a:prstGeom>
          <a:solidFill>
            <a:srgbClr val="16213E"/>
          </a:solidFill>
          <a:ln/>
          <a:effectLst>
            <a:outerShdw sx="100000" sy="100000" kx="0" ky="0" algn="bl" rotWithShape="0" blurRad="101600" dist="38100" dir="5400000">
              <a:srgbClr val="0A0F1E">
                <a:alpha val="3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04672" y="2880360"/>
            <a:ext cx="497433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E7EC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* FROM Employee</a:t>
            </a:r>
            <a:endParaRPr lang="en-US" sz="14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E7EC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salary &gt; (</a:t>
            </a:r>
            <a:endParaRPr lang="en-US" sz="14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E7EC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SELECT AVG(salary)</a:t>
            </a:r>
            <a:endParaRPr lang="en-US" sz="14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E7EC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FROM Employee</a:t>
            </a:r>
            <a:endParaRPr lang="en-US" sz="14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E7EC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548640" y="47548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Inner query runs first → average salary = 56250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0" y="16916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1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0" y="2011680"/>
          <a:ext cx="5212080" cy="1280160"/>
        </p:xfrm>
        <a:graphic>
          <a:graphicData uri="http://schemas.openxmlformats.org/drawingml/2006/table">
            <a:tbl>
              <a:tblPr/>
              <a:tblGrid>
                <a:gridCol w="1645920"/>
                <a:gridCol w="1920240"/>
                <a:gridCol w="1645920"/>
              </a:tblGrid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emp_id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A5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name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A5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salary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A5A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233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233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Priya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233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60000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233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4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233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Anu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233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70000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1" name="Shape 8"/>
          <p:cNvSpPr/>
          <p:nvPr/>
        </p:nvSpPr>
        <p:spPr>
          <a:xfrm>
            <a:off x="6400800" y="3566160"/>
            <a:ext cx="5212080" cy="1737360"/>
          </a:xfrm>
          <a:prstGeom prst="roundRect">
            <a:avLst>
              <a:gd name="adj" fmla="val 4211"/>
            </a:avLst>
          </a:prstGeom>
          <a:solidFill>
            <a:srgbClr val="FDF3E4"/>
          </a:solidFill>
          <a:ln/>
        </p:spPr>
      </p:sp>
      <p:sp>
        <p:nvSpPr>
          <p:cNvPr id="12" name="Text 9"/>
          <p:cNvSpPr/>
          <p:nvPr/>
        </p:nvSpPr>
        <p:spPr>
          <a:xfrm>
            <a:off x="6629400" y="3703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B8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6629400" y="4023360"/>
            <a:ext cx="47548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50" dirty="0">
                <a:solidFill>
                  <a:srgbClr val="1621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outer query effectively becomes:</a:t>
            </a:r>
            <a:endParaRPr lang="en-US" sz="13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50" dirty="0">
                <a:solidFill>
                  <a:srgbClr val="1621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salary &gt; 56250</a:t>
            </a:r>
            <a:endParaRPr lang="en-US" sz="1350" dirty="0"/>
          </a:p>
        </p:txBody>
      </p:sp>
      <p:sp>
        <p:nvSpPr>
          <p:cNvPr id="14" name="Text 11"/>
          <p:cNvSpPr/>
          <p:nvPr/>
        </p:nvSpPr>
        <p:spPr>
          <a:xfrm>
            <a:off x="1165860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A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EXAMPLE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Subquery With IN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Question: find employees who work in the IT department.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2240280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 — find the IT department ID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48640" y="2560320"/>
            <a:ext cx="5303520" cy="1463040"/>
          </a:xfrm>
          <a:prstGeom prst="roundRect">
            <a:avLst>
              <a:gd name="adj" fmla="val 5000"/>
            </a:avLst>
          </a:prstGeom>
          <a:solidFill>
            <a:srgbClr val="16213E"/>
          </a:solidFill>
          <a:ln/>
          <a:effectLst>
            <a:outerShdw sx="100000" sy="100000" kx="0" ky="0" algn="bl" rotWithShape="0" blurRad="101600" dist="38100" dir="5400000">
              <a:srgbClr val="0A0F1E">
                <a:alpha val="3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04672" y="2743200"/>
            <a:ext cx="479145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E7EC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dept_id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E7EC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Department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E7EC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dept_name = 'IT';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548640" y="416052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A5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returns:  10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263640" y="2240280"/>
            <a:ext cx="539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 — use it in the main query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263640" y="2560320"/>
            <a:ext cx="5394960" cy="1965960"/>
          </a:xfrm>
          <a:prstGeom prst="roundRect">
            <a:avLst>
              <a:gd name="adj" fmla="val 3721"/>
            </a:avLst>
          </a:prstGeom>
          <a:solidFill>
            <a:srgbClr val="16213E"/>
          </a:solidFill>
          <a:ln/>
          <a:effectLst>
            <a:outerShdw sx="100000" sy="100000" kx="0" ky="0" algn="bl" rotWithShape="0" blurRad="101600" dist="38100" dir="5400000">
              <a:srgbClr val="0A0F1E">
                <a:alpha val="3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519672" y="2743200"/>
            <a:ext cx="4882896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E7EC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* FROM Employee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E7EC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dept_id IN (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E7EC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SELECT dept_id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E7EC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FROM Department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E7EC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WHERE dept_name = 'IT'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E7EC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48640" y="4800600"/>
            <a:ext cx="11109960" cy="1234440"/>
          </a:xfrm>
          <a:prstGeom prst="roundRect">
            <a:avLst>
              <a:gd name="adj" fmla="val 5926"/>
            </a:avLst>
          </a:prstGeom>
          <a:solidFill>
            <a:srgbClr val="EAF7F5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49377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EA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77240" y="5230368"/>
            <a:ext cx="10607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subquery returns 10, so the main query resolves to: dept_id IN (10) — matching Ravi and Arun.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1165860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A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EXAMPLE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Subquery With =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207008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= when the subquery returns exactly one value.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18288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Question: find the employee who has the highest salary.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2377440"/>
            <a:ext cx="5486400" cy="2103120"/>
          </a:xfrm>
          <a:prstGeom prst="roundRect">
            <a:avLst>
              <a:gd name="adj" fmla="val 3478"/>
            </a:avLst>
          </a:prstGeom>
          <a:solidFill>
            <a:srgbClr val="16213E"/>
          </a:solidFill>
          <a:ln/>
          <a:effectLst>
            <a:outerShdw sx="100000" sy="100000" kx="0" ky="0" algn="bl" rotWithShape="0" blurRad="101600" dist="38100" dir="5400000">
              <a:srgbClr val="0A0F1E">
                <a:alpha val="3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04672" y="2560320"/>
            <a:ext cx="4974336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E7EC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* FROM Employee</a:t>
            </a: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E7EC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salary = (</a:t>
            </a: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E7EC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SELECT MAX(salary)</a:t>
            </a: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E7EC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FROM Employee</a:t>
            </a: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E7EC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48640" y="4663440"/>
            <a:ext cx="2743200" cy="365760"/>
          </a:xfrm>
          <a:prstGeom prst="roundRect">
            <a:avLst>
              <a:gd name="adj" fmla="val 50000"/>
            </a:avLst>
          </a:prstGeom>
          <a:solidFill>
            <a:srgbClr val="FDF3E4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46634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B8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VALUE ONLY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" y="5120640"/>
            <a:ext cx="5486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subquery could return more than one row, = will raise an error at runtime.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00800" y="2377440"/>
            <a:ext cx="5212080" cy="2103120"/>
          </a:xfrm>
          <a:prstGeom prst="roundRect">
            <a:avLst>
              <a:gd name="adj" fmla="val 3478"/>
            </a:avLst>
          </a:prstGeom>
          <a:solidFill>
            <a:srgbClr val="EAF7F5"/>
          </a:solidFill>
          <a:ln/>
        </p:spPr>
      </p:sp>
      <p:sp>
        <p:nvSpPr>
          <p:cNvPr id="12" name="Text 10"/>
          <p:cNvSpPr/>
          <p:nvPr/>
        </p:nvSpPr>
        <p:spPr>
          <a:xfrm>
            <a:off x="6629400" y="254203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EA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SUBQUERY RETURNS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29400" y="2834640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21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70000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6629400" y="3566160"/>
            <a:ext cx="4754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outer query becomes: WHERE salary = 70000</a:t>
            </a:r>
            <a:endParaRPr lang="en-US" sz="135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0" y="4709160"/>
          <a:ext cx="5212080" cy="822960"/>
        </p:xfrm>
        <a:graphic>
          <a:graphicData uri="http://schemas.openxmlformats.org/drawingml/2006/table">
            <a:tbl>
              <a:tblPr/>
              <a:tblGrid>
                <a:gridCol w="1645920"/>
                <a:gridCol w="1920240"/>
                <a:gridCol w="1645920"/>
              </a:tblGrid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emp_id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name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salary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233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4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233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Anu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233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70000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6" name="Text 13"/>
          <p:cNvSpPr/>
          <p:nvPr/>
        </p:nvSpPr>
        <p:spPr>
          <a:xfrm>
            <a:off x="1165860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A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· EXAMPLE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Subquery With EXISTS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207008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EXISTS checks whether the subquery returns at least one row.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18288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Question: find departments that have at least one employee.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2377440"/>
            <a:ext cx="5486400" cy="3566160"/>
          </a:xfrm>
          <a:prstGeom prst="roundRect">
            <a:avLst>
              <a:gd name="adj" fmla="val 2051"/>
            </a:avLst>
          </a:prstGeom>
          <a:solidFill>
            <a:srgbClr val="16213E"/>
          </a:solidFill>
          <a:ln/>
          <a:effectLst>
            <a:outerShdw sx="100000" sy="100000" kx="0" ky="0" algn="bl" rotWithShape="0" blurRad="101600" dist="38100" dir="5400000">
              <a:srgbClr val="0A0F1E">
                <a:alpha val="3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04672" y="2560320"/>
            <a:ext cx="4974336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E7EC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d.dept_name</a:t>
            </a:r>
            <a:endParaRPr lang="en-US" sz="14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E7EC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Department d</a:t>
            </a:r>
            <a:endParaRPr lang="en-US" sz="14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E7EC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EXISTS (</a:t>
            </a:r>
            <a:endParaRPr lang="en-US" sz="14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E7EC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SELECT 1</a:t>
            </a:r>
            <a:endParaRPr lang="en-US" sz="14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E7EC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FROM Employee e</a:t>
            </a:r>
            <a:endParaRPr lang="en-US" sz="14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E7EC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WHERE e.dept_id = d.dept_id</a:t>
            </a:r>
            <a:endParaRPr lang="en-US" sz="14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E7EC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6400800" y="2377440"/>
            <a:ext cx="5257800" cy="1554480"/>
          </a:xfrm>
          <a:prstGeom prst="roundRect">
            <a:avLst>
              <a:gd name="adj" fmla="val 4706"/>
            </a:avLst>
          </a:prstGeom>
          <a:solidFill>
            <a:srgbClr val="FDF3E4"/>
          </a:solidFill>
          <a:ln/>
        </p:spPr>
      </p:sp>
      <p:sp>
        <p:nvSpPr>
          <p:cNvPr id="9" name="Text 7"/>
          <p:cNvSpPr/>
          <p:nvPr/>
        </p:nvSpPr>
        <p:spPr>
          <a:xfrm>
            <a:off x="6629400" y="25146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B8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IMPORTANT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629400" y="2816352"/>
            <a:ext cx="47548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1 does not mean we want the value 1. It only checks whether a matching row exists.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400800" y="4114800"/>
            <a:ext cx="5257800" cy="1828800"/>
          </a:xfrm>
          <a:prstGeom prst="roundRect">
            <a:avLst>
              <a:gd name="adj" fmla="val 4000"/>
            </a:avLst>
          </a:prstGeom>
          <a:solidFill>
            <a:srgbClr val="EAF7F5"/>
          </a:solidFill>
          <a:ln/>
        </p:spPr>
      </p:sp>
      <p:sp>
        <p:nvSpPr>
          <p:cNvPr id="12" name="Text 10"/>
          <p:cNvSpPr/>
          <p:nvPr/>
        </p:nvSpPr>
        <p:spPr>
          <a:xfrm>
            <a:off x="6629400" y="425196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EA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ONE IS CORRELATED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29400" y="4553712"/>
            <a:ext cx="47548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inner query references d.dept_id from the outer query — so it runs once per department, not just once overall.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1165860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A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· OVERVIEW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 of Subqueries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207008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shapes to recognize before writing one.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3520440" cy="4023360"/>
          </a:xfrm>
          <a:prstGeom prst="roundRect">
            <a:avLst>
              <a:gd name="adj" fmla="val 2597"/>
            </a:avLst>
          </a:prstGeom>
          <a:solidFill>
            <a:srgbClr val="EAF7F5"/>
          </a:solidFill>
          <a:ln/>
        </p:spPr>
      </p:sp>
      <p:sp>
        <p:nvSpPr>
          <p:cNvPr id="6" name="Shape 4"/>
          <p:cNvSpPr/>
          <p:nvPr/>
        </p:nvSpPr>
        <p:spPr>
          <a:xfrm>
            <a:off x="868680" y="228600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22860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EA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868680" y="3108960"/>
            <a:ext cx="2880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Single-row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868680" y="3611880"/>
            <a:ext cx="29260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exactly one value or row. Pair with =, &gt;, &lt;, etc.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4343400" y="1920240"/>
            <a:ext cx="3520440" cy="4023360"/>
          </a:xfrm>
          <a:prstGeom prst="roundRect">
            <a:avLst>
              <a:gd name="adj" fmla="val 2597"/>
            </a:avLst>
          </a:prstGeom>
          <a:solidFill>
            <a:srgbClr val="FDF3E4"/>
          </a:solidFill>
          <a:ln/>
        </p:spPr>
      </p:sp>
      <p:sp>
        <p:nvSpPr>
          <p:cNvPr id="11" name="Shape 9"/>
          <p:cNvSpPr/>
          <p:nvPr/>
        </p:nvSpPr>
        <p:spPr>
          <a:xfrm>
            <a:off x="4663440" y="228600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2" name="Text 10"/>
          <p:cNvSpPr/>
          <p:nvPr/>
        </p:nvSpPr>
        <p:spPr>
          <a:xfrm>
            <a:off x="4663440" y="22860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B8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663440" y="3108960"/>
            <a:ext cx="2880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Multiple-row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4663440" y="3611880"/>
            <a:ext cx="29260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several values. Pair with IN, ANY, or ALL.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8138160" y="1920240"/>
            <a:ext cx="3520440" cy="4023360"/>
          </a:xfrm>
          <a:prstGeom prst="roundRect">
            <a:avLst>
              <a:gd name="adj" fmla="val 2597"/>
            </a:avLst>
          </a:prstGeom>
          <a:solidFill>
            <a:srgbClr val="FBEAEA"/>
          </a:solidFill>
          <a:ln/>
        </p:spPr>
      </p:sp>
      <p:sp>
        <p:nvSpPr>
          <p:cNvPr id="16" name="Shape 14"/>
          <p:cNvSpPr/>
          <p:nvPr/>
        </p:nvSpPr>
        <p:spPr>
          <a:xfrm>
            <a:off x="8458200" y="228600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7" name="Text 15"/>
          <p:cNvSpPr/>
          <p:nvPr/>
        </p:nvSpPr>
        <p:spPr>
          <a:xfrm>
            <a:off x="8458200" y="22860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155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8458200" y="3108960"/>
            <a:ext cx="2880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Correlated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8458200" y="3611880"/>
            <a:ext cx="29260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 a column from the outer query — runs once per outer row.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1165860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A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· TYPES  ·  1 OF 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Single-Row Subquery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737360"/>
            <a:ext cx="5486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5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one value or row — the most common shape, typically used with a comparison operator.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548640" y="2606040"/>
            <a:ext cx="3566160" cy="384048"/>
          </a:xfrm>
          <a:prstGeom prst="roundRect">
            <a:avLst>
              <a:gd name="adj" fmla="val 50000"/>
            </a:avLst>
          </a:prstGeom>
          <a:solidFill>
            <a:srgbClr val="EAF7F5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606040"/>
            <a:ext cx="3566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A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PAIRS WITH  =  &gt;  &lt;  &gt;=  &lt;=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3200400"/>
            <a:ext cx="5486400" cy="2194560"/>
          </a:xfrm>
          <a:prstGeom prst="roundRect">
            <a:avLst>
              <a:gd name="adj" fmla="val 3333"/>
            </a:avLst>
          </a:prstGeom>
          <a:solidFill>
            <a:srgbClr val="16213E"/>
          </a:solidFill>
          <a:ln/>
          <a:effectLst>
            <a:outerShdw sx="100000" sy="100000" kx="0" ky="0" algn="bl" rotWithShape="0" blurRad="101600" dist="38100" dir="5400000">
              <a:srgbClr val="0A0F1E">
                <a:alpha val="3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04672" y="3310128"/>
            <a:ext cx="497433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0EA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804672" y="3602736"/>
            <a:ext cx="4974336" cy="1609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E7EC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* FROM Employee</a:t>
            </a:r>
            <a:endParaRPr lang="en-US" sz="14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E7EC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salary &gt; (</a:t>
            </a:r>
            <a:endParaRPr lang="en-US" sz="14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E7EC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SELECT AVG(salary)</a:t>
            </a:r>
            <a:endParaRPr lang="en-US" sz="14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E7EC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FROM Employee</a:t>
            </a:r>
            <a:endParaRPr lang="en-US" sz="14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E7EC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6400800" y="1737360"/>
            <a:ext cx="5257800" cy="3657600"/>
          </a:xfrm>
          <a:prstGeom prst="roundRect">
            <a:avLst>
              <a:gd name="adj" fmla="val 2500"/>
            </a:avLst>
          </a:prstGeom>
          <a:solidFill>
            <a:srgbClr val="16213E"/>
          </a:solidFill>
          <a:ln/>
        </p:spPr>
      </p:sp>
      <p:sp>
        <p:nvSpPr>
          <p:cNvPr id="11" name="Text 9"/>
          <p:cNvSpPr/>
          <p:nvPr/>
        </p:nvSpPr>
        <p:spPr>
          <a:xfrm>
            <a:off x="6720840" y="2377440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EA5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AVG(salary)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6720840" y="301752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7B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6720840" y="352044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AFC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number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720840" y="397764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7B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6720840" y="443484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compared directly to salary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165860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A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· TYPES  ·  2 OF 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Multiple-Row Subquery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737360"/>
            <a:ext cx="5486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5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several values in one column — combine it with IN, ANY, or ALL rather than =.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548640" y="2606040"/>
            <a:ext cx="3108960" cy="384048"/>
          </a:xfrm>
          <a:prstGeom prst="roundRect">
            <a:avLst>
              <a:gd name="adj" fmla="val 50000"/>
            </a:avLst>
          </a:prstGeom>
          <a:solidFill>
            <a:srgbClr val="FDF3E4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606040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B8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PAIRS WITH  IN  ANY  ALL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3200400"/>
            <a:ext cx="5486400" cy="2194560"/>
          </a:xfrm>
          <a:prstGeom prst="roundRect">
            <a:avLst>
              <a:gd name="adj" fmla="val 3333"/>
            </a:avLst>
          </a:prstGeom>
          <a:solidFill>
            <a:srgbClr val="16213E"/>
          </a:solidFill>
          <a:ln/>
          <a:effectLst>
            <a:outerShdw sx="100000" sy="100000" kx="0" ky="0" algn="bl" rotWithShape="0" blurRad="101600" dist="38100" dir="5400000">
              <a:srgbClr val="0A0F1E">
                <a:alpha val="3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04672" y="3310128"/>
            <a:ext cx="497433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0EA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804672" y="3602736"/>
            <a:ext cx="4974336" cy="1609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E7EC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* FROM Employee</a:t>
            </a:r>
            <a:endParaRPr lang="en-US" sz="14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E7EC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dept_id IN (</a:t>
            </a:r>
            <a:endParaRPr lang="en-US" sz="14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E7EC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SELECT dept_id</a:t>
            </a:r>
            <a:endParaRPr lang="en-US" sz="14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E7EC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FROM Department</a:t>
            </a:r>
            <a:endParaRPr lang="en-US" sz="14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E7EC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6400800" y="1737360"/>
            <a:ext cx="5257800" cy="3657600"/>
          </a:xfrm>
          <a:prstGeom prst="roundRect">
            <a:avLst>
              <a:gd name="adj" fmla="val 2500"/>
            </a:avLst>
          </a:prstGeom>
          <a:solidFill>
            <a:srgbClr val="16213E"/>
          </a:solidFill>
          <a:ln/>
        </p:spPr>
      </p:sp>
      <p:sp>
        <p:nvSpPr>
          <p:cNvPr id="11" name="Text 9"/>
          <p:cNvSpPr/>
          <p:nvPr/>
        </p:nvSpPr>
        <p:spPr>
          <a:xfrm>
            <a:off x="6720840" y="219456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EA5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dept_id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7955280" y="2743200"/>
            <a:ext cx="1097280" cy="685800"/>
          </a:xfrm>
          <a:prstGeom prst="roundRect">
            <a:avLst>
              <a:gd name="adj" fmla="val 10667"/>
            </a:avLst>
          </a:prstGeom>
          <a:solidFill>
            <a:srgbClr val="223061"/>
          </a:solidFill>
          <a:ln/>
        </p:spPr>
      </p:sp>
      <p:sp>
        <p:nvSpPr>
          <p:cNvPr id="13" name="Text 11"/>
          <p:cNvSpPr/>
          <p:nvPr/>
        </p:nvSpPr>
        <p:spPr>
          <a:xfrm>
            <a:off x="7955280" y="2743200"/>
            <a:ext cx="1097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9326880" y="2743200"/>
            <a:ext cx="1097280" cy="685800"/>
          </a:xfrm>
          <a:prstGeom prst="roundRect">
            <a:avLst>
              <a:gd name="adj" fmla="val 10667"/>
            </a:avLst>
          </a:prstGeom>
          <a:solidFill>
            <a:srgbClr val="223061"/>
          </a:solidFill>
          <a:ln/>
        </p:spPr>
      </p:sp>
      <p:sp>
        <p:nvSpPr>
          <p:cNvPr id="15" name="Text 13"/>
          <p:cNvSpPr/>
          <p:nvPr/>
        </p:nvSpPr>
        <p:spPr>
          <a:xfrm>
            <a:off x="9326880" y="2743200"/>
            <a:ext cx="1097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720840" y="365760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7B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6720840" y="411480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AFC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set of values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720840" y="457200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7B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1165860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A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· TYPES  ·  3 OF 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Correlated Subquery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7373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5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inner query depends on the outer query — it references a column from the outer row and re-runs once per row.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548640" y="2423160"/>
            <a:ext cx="5852160" cy="3657600"/>
          </a:xfrm>
          <a:prstGeom prst="roundRect">
            <a:avLst>
              <a:gd name="adj" fmla="val 2000"/>
            </a:avLst>
          </a:prstGeom>
          <a:solidFill>
            <a:srgbClr val="16213E"/>
          </a:solidFill>
          <a:ln/>
          <a:effectLst>
            <a:outerShdw sx="100000" sy="100000" kx="0" ky="0" algn="bl" rotWithShape="0" blurRad="101600" dist="38100" dir="5400000">
              <a:srgbClr val="0A0F1E">
                <a:alpha val="3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04672" y="2606040"/>
            <a:ext cx="5340096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E7EC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e1.name, e1.salary</a:t>
            </a:r>
            <a:endParaRPr lang="en-US" sz="14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E7EC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Employee e1</a:t>
            </a:r>
            <a:endParaRPr lang="en-US" sz="14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E7EC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e1.salary &gt; (</a:t>
            </a:r>
            <a:endParaRPr lang="en-US" sz="14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E7EC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SELECT AVG(e2.salary)</a:t>
            </a:r>
            <a:endParaRPr lang="en-US" sz="14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E7EC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FROM Employee e2</a:t>
            </a:r>
            <a:endParaRPr lang="en-US" sz="14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E7EC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WHERE e2.dept_id = e1.dept_id</a:t>
            </a:r>
            <a:endParaRPr lang="en-US" sz="14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E7EC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629400" y="2423160"/>
            <a:ext cx="5029200" cy="3657600"/>
          </a:xfrm>
          <a:prstGeom prst="roundRect">
            <a:avLst>
              <a:gd name="adj" fmla="val 2500"/>
            </a:avLst>
          </a:prstGeom>
          <a:solidFill>
            <a:srgbClr val="FBEAEA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0" y="26060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155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DIFFERENCE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858000" y="292608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21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e2.dept_id = e1.dept_id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6858000" y="3474720"/>
            <a:ext cx="457200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subquery uses e1.dept_id from the outer row — so it can't run once and be done. It's evaluated separately for every employee, using that employee's own department each time.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165860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A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· MENTAL MODEL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Subquery vs. Main Query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577840" cy="1828800"/>
          </a:xfrm>
          <a:prstGeom prst="roundRect">
            <a:avLst>
              <a:gd name="adj" fmla="val 4000"/>
            </a:avLst>
          </a:prstGeom>
          <a:solidFill>
            <a:srgbClr val="16213E"/>
          </a:solidFill>
          <a:ln/>
          <a:effectLst>
            <a:outerShdw sx="100000" sy="100000" kx="0" ky="0" algn="bl" rotWithShape="0" blurRad="101600" dist="38100" dir="5400000">
              <a:srgbClr val="0A0F1E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04672" y="1965960"/>
            <a:ext cx="506577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E7EC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* FROM Employee        -- Main query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E7EC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salary &gt; (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E7EC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SELECT AVG(salary)          -- Subquery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E7EC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FROM Employee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E7EC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7863840" y="1783080"/>
            <a:ext cx="2377440" cy="1051560"/>
          </a:xfrm>
          <a:prstGeom prst="roundRect">
            <a:avLst>
              <a:gd name="adj" fmla="val 6957"/>
            </a:avLst>
          </a:prstGeom>
          <a:solidFill>
            <a:srgbClr val="16213E"/>
          </a:solidFill>
          <a:ln/>
        </p:spPr>
      </p:sp>
      <p:sp>
        <p:nvSpPr>
          <p:cNvPr id="7" name="Text 5"/>
          <p:cNvSpPr/>
          <p:nvPr/>
        </p:nvSpPr>
        <p:spPr>
          <a:xfrm>
            <a:off x="7863840" y="1911096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QUERY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7863840" y="2313432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FC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some value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823960" y="283464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7863840" y="3154680"/>
            <a:ext cx="2377440" cy="1051560"/>
          </a:xfrm>
          <a:prstGeom prst="roundRect">
            <a:avLst>
              <a:gd name="adj" fmla="val 6957"/>
            </a:avLst>
          </a:prstGeom>
          <a:solidFill>
            <a:srgbClr val="0EA5A0"/>
          </a:solidFill>
          <a:ln/>
        </p:spPr>
      </p:sp>
      <p:sp>
        <p:nvSpPr>
          <p:cNvPr id="11" name="Text 9"/>
          <p:cNvSpPr/>
          <p:nvPr/>
        </p:nvSpPr>
        <p:spPr>
          <a:xfrm>
            <a:off x="7863840" y="3282696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SUBQUERY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7863840" y="3685032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FF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Produces the value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823960" y="420624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7863840" y="4526280"/>
            <a:ext cx="2377440" cy="1051560"/>
          </a:xfrm>
          <a:prstGeom prst="roundRect">
            <a:avLst>
              <a:gd name="adj" fmla="val 6957"/>
            </a:avLst>
          </a:prstGeom>
          <a:solidFill>
            <a:srgbClr val="16213E"/>
          </a:solidFill>
          <a:ln/>
        </p:spPr>
      </p:sp>
      <p:sp>
        <p:nvSpPr>
          <p:cNvPr id="15" name="Text 13"/>
          <p:cNvSpPr/>
          <p:nvPr/>
        </p:nvSpPr>
        <p:spPr>
          <a:xfrm>
            <a:off x="7863840" y="4654296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QUERY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7863840" y="5056632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FC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result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48640" y="3931920"/>
            <a:ext cx="5577840" cy="2148840"/>
          </a:xfrm>
          <a:prstGeom prst="roundRect">
            <a:avLst>
              <a:gd name="adj" fmla="val 4255"/>
            </a:avLst>
          </a:prstGeom>
          <a:solidFill>
            <a:srgbClr val="EAF7F5"/>
          </a:solidFill>
          <a:ln/>
        </p:spPr>
      </p:sp>
      <p:sp>
        <p:nvSpPr>
          <p:cNvPr id="18" name="Text 16"/>
          <p:cNvSpPr/>
          <p:nvPr/>
        </p:nvSpPr>
        <p:spPr>
          <a:xfrm>
            <a:off x="777240" y="4096512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EA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READ IT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77240" y="4407408"/>
            <a:ext cx="51206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45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evaluates the innermost query first. Its output becomes a fixed value (or set of values) that the outer WHERE clause then filters against — one direction, inside out.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1165860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6213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A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· SUMMARY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49808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Important Rules to Remember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1618488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0EA5A0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61848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51560" y="1600200"/>
            <a:ext cx="489204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E7E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subquery is enclosed in parentheses ( ).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263640" y="1618488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0EA5A0"/>
          </a:solidFill>
          <a:ln/>
        </p:spPr>
      </p:sp>
      <p:sp>
        <p:nvSpPr>
          <p:cNvPr id="9" name="Text 7"/>
          <p:cNvSpPr/>
          <p:nvPr/>
        </p:nvSpPr>
        <p:spPr>
          <a:xfrm>
            <a:off x="6263640" y="161848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766560" y="1600200"/>
            <a:ext cx="489204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E7E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can be used with SELECT, WHERE, FROM, and more.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548640" y="2788920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0EA5A0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27889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051560" y="2770632"/>
            <a:ext cx="489204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E7E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= when expecting a single value.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6263640" y="2788920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0EA5A0"/>
          </a:solidFill>
          <a:ln/>
        </p:spPr>
      </p:sp>
      <p:sp>
        <p:nvSpPr>
          <p:cNvPr id="15" name="Text 13"/>
          <p:cNvSpPr/>
          <p:nvPr/>
        </p:nvSpPr>
        <p:spPr>
          <a:xfrm>
            <a:off x="6263640" y="27889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766560" y="2770632"/>
            <a:ext cx="489204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E7E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IN when the subquery can return multiple values.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548640" y="3959352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0EA5A0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395935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051560" y="3941064"/>
            <a:ext cx="489204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E7E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EXISTS checks whether matching rows exist.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6263640" y="3959352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0EA5A0"/>
          </a:solidFill>
          <a:ln/>
        </p:spPr>
      </p:sp>
      <p:sp>
        <p:nvSpPr>
          <p:cNvPr id="21" name="Text 19"/>
          <p:cNvSpPr/>
          <p:nvPr/>
        </p:nvSpPr>
        <p:spPr>
          <a:xfrm>
            <a:off x="6263640" y="395935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766560" y="3941064"/>
            <a:ext cx="489204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E7E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subquery can itself contain another subquery.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548640" y="5129784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0EA5A0"/>
          </a:solidFill>
          <a:ln/>
        </p:spPr>
      </p:sp>
      <p:sp>
        <p:nvSpPr>
          <p:cNvPr id="24" name="Text 22"/>
          <p:cNvSpPr/>
          <p:nvPr/>
        </p:nvSpPr>
        <p:spPr>
          <a:xfrm>
            <a:off x="548640" y="512978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051560" y="5111496"/>
            <a:ext cx="489204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E7E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correlated subquery depends on the outer query.</a:t>
            </a:r>
            <a:endParaRPr lang="en-US" sz="1350" dirty="0"/>
          </a:p>
        </p:txBody>
      </p:sp>
      <p:sp>
        <p:nvSpPr>
          <p:cNvPr id="26" name="Shape 24"/>
          <p:cNvSpPr/>
          <p:nvPr/>
        </p:nvSpPr>
        <p:spPr>
          <a:xfrm>
            <a:off x="6263640" y="5129784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0EA5A0"/>
          </a:solidFill>
          <a:ln/>
        </p:spPr>
      </p:sp>
      <p:sp>
        <p:nvSpPr>
          <p:cNvPr id="27" name="Text 25"/>
          <p:cNvSpPr/>
          <p:nvPr/>
        </p:nvSpPr>
        <p:spPr>
          <a:xfrm>
            <a:off x="6263640" y="512978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766560" y="5111496"/>
            <a:ext cx="489204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E7E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Subqueries can often be replaced with JOINs — the best choice depends on the problem.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2026-08-17T14:27:56Z</dcterms:created>
  <dcterms:modified xsi:type="dcterms:W3CDTF">2026-08-17T14:27:56Z</dcterms:modified>
</cp:coreProperties>
</file>