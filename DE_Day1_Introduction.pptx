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2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4585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9.png"/><Relationship Id="rId9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3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8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9.png"/><Relationship Id="rId9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0B3D6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389120"/>
            <a:ext cx="2926080" cy="29260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Engineering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 — What It Is, and Why It Matters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8463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/home/claude/de_day1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029200"/>
            <a:ext cx="365760" cy="365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783080" y="48463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de_day1/icons/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60" y="5029200"/>
            <a:ext cx="365760" cy="365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43200" y="48463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/home/claude/de_day1/icons/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0" y="5029200"/>
            <a:ext cx="365760" cy="36576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703320" y="48463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3" descr="/home/claude/de_day1/icons/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200" y="5029200"/>
            <a:ext cx="365760" cy="36576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9646920" y="1737360"/>
            <a:ext cx="1920240" cy="192024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16" name="Image 4" descr="/home/claude/de_day1/icons/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8974" y="2169414"/>
            <a:ext cx="1056132" cy="10561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— Foundations Course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Learn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session, you should be able to: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de_day1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" y="1804797"/>
            <a:ext cx="276606" cy="2766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6420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data is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34440" y="199339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facts vs. meaningful information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58775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/home/claude/de_day1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" y="2700909"/>
            <a:ext cx="276606" cy="27660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5603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Data Engineering is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234440" y="2889504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 that makes data usable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48386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de_day1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" y="3597021"/>
            <a:ext cx="276606" cy="27660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45643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role of a Data Engineer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234440" y="3785616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build and maintain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37997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3" descr="/home/claude/de_day1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" y="4493133"/>
            <a:ext cx="276606" cy="27660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352544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the three key data roles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234440" y="468172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 vs. Analyst vs. Scientist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527608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4" descr="/home/claude/de_day1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" y="5389245"/>
            <a:ext cx="276606" cy="27660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4440" y="5248656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data lifecycle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234440" y="55778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source to business decision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7680960" y="457200"/>
            <a:ext cx="3977640" cy="5943600"/>
          </a:xfrm>
          <a:prstGeom prst="roundRect">
            <a:avLst>
              <a:gd name="adj" fmla="val 2759"/>
            </a:avLst>
          </a:prstGeom>
          <a:solidFill>
            <a:srgbClr val="EDF3F6"/>
          </a:solidFill>
          <a:ln/>
        </p:spPr>
      </p:sp>
      <p:sp>
        <p:nvSpPr>
          <p:cNvPr id="25" name="Shape 18"/>
          <p:cNvSpPr/>
          <p:nvPr/>
        </p:nvSpPr>
        <p:spPr>
          <a:xfrm>
            <a:off x="8778240" y="914400"/>
            <a:ext cx="914400" cy="91440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26" name="Image 5" descr="/home/claude/de_day1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3980" y="1120140"/>
            <a:ext cx="502920" cy="5029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001000" y="19659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Big Idea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8001000" y="2423160"/>
            <a:ext cx="3337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 you use — Amazon, Swiggy, Netflix — runs on data moving through pipelines built by Data Engineers.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— Foundations Course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3" name="Image 0" descr="/home/claude/de_day1/icons/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58" y="60121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when you order from Amazon?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40080" y="2743200"/>
            <a:ext cx="1051560" cy="105156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6" name="Image 1" descr="/home/claude/de_day1/icons/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70" y="3006090"/>
            <a:ext cx="525780" cy="5257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39319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app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399032" y="2578608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9" name="Image 2" descr="/home/claude/de_day1/icons/arrow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1368" y="3131820"/>
            <a:ext cx="320040" cy="2743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852928" y="274320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3" descr="/home/claude/de_day1/icons/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5818" y="3006090"/>
            <a:ext cx="525780" cy="5257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487168" y="39319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product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3611880" y="2578608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14" name="Image 4" descr="/home/claude/de_day1/icons/arrow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4216" y="3131820"/>
            <a:ext cx="320040" cy="27432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5065776" y="2743200"/>
            <a:ext cx="1051560" cy="105156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16" name="Image 5" descr="/home/claude/de_day1/icons/c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8666" y="3006090"/>
            <a:ext cx="525780" cy="5257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700016" y="39319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1300" dirty="0"/>
          </a:p>
        </p:txBody>
      </p:sp>
      <p:sp>
        <p:nvSpPr>
          <p:cNvPr id="18" name="Text 10"/>
          <p:cNvSpPr/>
          <p:nvPr/>
        </p:nvSpPr>
        <p:spPr>
          <a:xfrm>
            <a:off x="5824728" y="2578608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19" name="Image 6" descr="/home/claude/de_day1/icons/arrow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064" y="3131820"/>
            <a:ext cx="320040" cy="274320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7278624" y="274320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7" descr="/home/claude/de_day1/icons/creditc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1514" y="3006090"/>
            <a:ext cx="525780" cy="52578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912864" y="39319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payment</a:t>
            </a:r>
            <a:endParaRPr lang="en-US" sz="1300" dirty="0"/>
          </a:p>
        </p:txBody>
      </p:sp>
      <p:sp>
        <p:nvSpPr>
          <p:cNvPr id="23" name="Text 13"/>
          <p:cNvSpPr/>
          <p:nvPr/>
        </p:nvSpPr>
        <p:spPr>
          <a:xfrm>
            <a:off x="8037576" y="2578608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pic>
        <p:nvPicPr>
          <p:cNvPr id="24" name="Image 8" descr="/home/claude/de_day1/icons/arrow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3131820"/>
            <a:ext cx="320040" cy="274320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9491472" y="2743200"/>
            <a:ext cx="1051560" cy="105156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26" name="Image 9" descr="/home/claude/de_day1/icons/bel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54362" y="3006090"/>
            <a:ext cx="525780" cy="52578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9125712" y="39319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confirmation</a:t>
            </a:r>
            <a:endParaRPr lang="en-US" sz="1300" dirty="0"/>
          </a:p>
        </p:txBody>
      </p:sp>
      <p:sp>
        <p:nvSpPr>
          <p:cNvPr id="28" name="Text 16"/>
          <p:cNvSpPr/>
          <p:nvPr/>
        </p:nvSpPr>
        <p:spPr>
          <a:xfrm>
            <a:off x="10250424" y="2578608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Shape 17"/>
          <p:cNvSpPr/>
          <p:nvPr/>
        </p:nvSpPr>
        <p:spPr>
          <a:xfrm>
            <a:off x="640080" y="46634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0A2E4A"/>
          </a:solidFill>
          <a:ln/>
        </p:spPr>
      </p:sp>
      <p:sp>
        <p:nvSpPr>
          <p:cNvPr id="30" name="Text 18"/>
          <p:cNvSpPr/>
          <p:nvPr/>
        </p:nvSpPr>
        <p:spPr>
          <a:xfrm>
            <a:off x="1005840" y="4828032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all this information stored?</a:t>
            </a:r>
            <a:endParaRPr lang="en-US" sz="1900" dirty="0"/>
          </a:p>
        </p:txBody>
      </p:sp>
      <p:sp>
        <p:nvSpPr>
          <p:cNvPr id="31" name="Text 19"/>
          <p:cNvSpPr/>
          <p:nvPr/>
        </p:nvSpPr>
        <p:spPr>
          <a:xfrm>
            <a:off x="1005840" y="5285232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click, search, order, and payment generates data — and it all has to go somewhere.</a:t>
            </a:r>
            <a:endParaRPr lang="en-US" sz="1400" dirty="0"/>
          </a:p>
        </p:txBody>
      </p:sp>
      <p:sp>
        <p:nvSpPr>
          <p:cNvPr id="3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— Foundations Course</a:t>
            </a:r>
            <a:endParaRPr lang="en-US" sz="1000" dirty="0"/>
          </a:p>
        </p:txBody>
      </p:sp>
      <p:sp>
        <p:nvSpPr>
          <p:cNvPr id="33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1920240"/>
            <a:ext cx="3017520" cy="3017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de_day1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782" y="2599182"/>
            <a:ext cx="1659636" cy="16596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440" y="19202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stored in databases.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663440" y="278892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click, payment, order, and review generates data.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this huge amount of data is where Data Engineering comes in.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— Foundations Course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Data?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EDF3F6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18872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r>
              <a:rPr lang="en-US" sz="16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a collection of raw facts and figures that can be processed to obtain meaningful information.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Table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3840480" cy="12801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84632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Data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3200400"/>
          <a:ext cx="3657600" cy="12801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₹25,000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8869680" y="283464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0B3D62"/>
          </a:solidFill>
          <a:ln/>
        </p:spPr>
      </p:sp>
      <p:sp>
        <p:nvSpPr>
          <p:cNvPr id="9" name="Shape 7"/>
          <p:cNvSpPr/>
          <p:nvPr/>
        </p:nvSpPr>
        <p:spPr>
          <a:xfrm>
            <a:off x="9784080" y="3017520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2" name="Image 0" descr="/home/claude/de_day1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8098" y="3161538"/>
            <a:ext cx="352044" cy="3520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098280" y="37033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facts, on their own, don't tell a full story yet.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alone isn't very useful — once processed and analyzed, it becomes information.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— Foundations Course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Data vs. Information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44805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76200" dist="25400" dir="5400000" algn="bl" rotWithShape="0">
              <a:srgbClr val="8AA0AC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423160" y="178308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de_day1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20116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788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315468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 customer purchases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05840" y="39776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individual transaction records — no pattern visible yet.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349240" y="2606040"/>
            <a:ext cx="1463040" cy="14630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0" name="Image 1" descr="/home/claude/de_day1/icons/exch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8424" y="2935224"/>
            <a:ext cx="804672" cy="80467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040880" y="1463040"/>
            <a:ext cx="4480560" cy="3108960"/>
          </a:xfrm>
          <a:prstGeom prst="roundRect">
            <a:avLst>
              <a:gd name="adj" fmla="val 3529"/>
            </a:avLst>
          </a:prstGeom>
          <a:solidFill>
            <a:srgbClr val="0B3D62"/>
          </a:solidFill>
          <a:ln/>
          <a:effectLst>
            <a:outerShdw blurRad="76200" dist="25400" dir="5400000" algn="bl" rotWithShape="0">
              <a:srgbClr val="8AA0AC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823960" y="1783080"/>
            <a:ext cx="914400" cy="91440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3" name="Image 2" descr="/home/claude/de_day1/icons/chart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20116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23760" y="2788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7269480" y="315468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"Laptops are the highest-selling product this month."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7406640" y="41148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useful insight ready for business decisions.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40080" y="48920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is what turns the left side into the right side — reliably, every day.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— Foundations Course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48840"/>
            <a:ext cx="2377440" cy="23774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de_day1/icons/ge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884" y="2683764"/>
            <a:ext cx="1307592" cy="13075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0" y="82296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Data Engineering?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0" y="1691640"/>
            <a:ext cx="7955280" cy="1828800"/>
          </a:xfrm>
          <a:prstGeom prst="roundRect">
            <a:avLst>
              <a:gd name="adj" fmla="val 5000"/>
            </a:avLst>
          </a:prstGeom>
          <a:solidFill>
            <a:srgbClr val="0B3D62"/>
          </a:solidFill>
          <a:ln/>
        </p:spPr>
      </p:sp>
      <p:sp>
        <p:nvSpPr>
          <p:cNvPr id="6" name="Text 3"/>
          <p:cNvSpPr/>
          <p:nvPr/>
        </p:nvSpPr>
        <p:spPr>
          <a:xfrm>
            <a:off x="3931920" y="1691640"/>
            <a:ext cx="7406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is the process of collecting, storing, cleaning, transforming, and delivering data so it can be used for analysis, reporting, and machine learning.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657600" y="3794760"/>
            <a:ext cx="1417320" cy="502920"/>
          </a:xfrm>
          <a:prstGeom prst="roundRect">
            <a:avLst>
              <a:gd name="adj" fmla="val 49091"/>
            </a:avLst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0" y="37947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257800" y="3794760"/>
            <a:ext cx="1417320" cy="502920"/>
          </a:xfrm>
          <a:prstGeom prst="roundRect">
            <a:avLst>
              <a:gd name="adj" fmla="val 49091"/>
            </a:avLst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5257800" y="37947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58000" y="3794760"/>
            <a:ext cx="1417320" cy="502920"/>
          </a:xfrm>
          <a:prstGeom prst="roundRect">
            <a:avLst>
              <a:gd name="adj" fmla="val 49091"/>
            </a:avLst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37947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458200" y="3794760"/>
            <a:ext cx="1417320" cy="502920"/>
          </a:xfrm>
          <a:prstGeom prst="roundRect">
            <a:avLst>
              <a:gd name="adj" fmla="val 49091"/>
            </a:avLst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8458200" y="37947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0058400" y="3794760"/>
            <a:ext cx="1417320" cy="502920"/>
          </a:xfrm>
          <a:prstGeom prst="roundRect">
            <a:avLst>
              <a:gd name="adj" fmla="val 49091"/>
            </a:avLst>
          </a:prstGeom>
          <a:solidFill>
            <a:srgbClr val="F2A541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0" y="37947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— Foundations Course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of a City's Water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Engineer builds and maintains the “pipes” that move data — just like water infrastructure moves water.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2331720"/>
            <a:ext cx="1051560" cy="105156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5" name="Image 0" descr="/home/claude/de_day1/icons/drop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2594610"/>
            <a:ext cx="525780" cy="5257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349300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Source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28600" y="38221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00" dirty="0"/>
          </a:p>
        </p:txBody>
      </p:sp>
      <p:pic>
        <p:nvPicPr>
          <p:cNvPr id="8" name="Image 1" descr="/home/claude/de_day1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7088" y="2720340"/>
            <a:ext cx="320040" cy="274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898648" y="2331720"/>
            <a:ext cx="1051560" cy="105156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10" name="Image 2" descr="/home/claude/de_day1/icons/pi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1538" y="2594610"/>
            <a:ext cx="525780" cy="5257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441448" y="349300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2441448" y="38221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200" dirty="0"/>
          </a:p>
        </p:txBody>
      </p:sp>
      <p:pic>
        <p:nvPicPr>
          <p:cNvPr id="13" name="Image 3" descr="/home/claude/de_day1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936" y="2720340"/>
            <a:ext cx="320040" cy="27432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111496" y="2331720"/>
            <a:ext cx="1051560" cy="105156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15" name="Image 4" descr="/home/claude/de_day1/icons/facto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4386" y="2594610"/>
            <a:ext cx="525780" cy="5257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54296" y="349300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Plant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4654296" y="38221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pic>
        <p:nvPicPr>
          <p:cNvPr id="18" name="Image 5" descr="/home/claude/de_day1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2720340"/>
            <a:ext cx="320040" cy="27432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324344" y="2331720"/>
            <a:ext cx="1051560" cy="105156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20" name="Image 6" descr="/home/claude/de_day1/icons/wareho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7234" y="2594610"/>
            <a:ext cx="525780" cy="52578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867144" y="349300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Tank</a:t>
            </a:r>
            <a:endParaRPr lang="en-US" sz="1300" dirty="0"/>
          </a:p>
        </p:txBody>
      </p:sp>
      <p:sp>
        <p:nvSpPr>
          <p:cNvPr id="22" name="Text 13"/>
          <p:cNvSpPr/>
          <p:nvPr/>
        </p:nvSpPr>
        <p:spPr>
          <a:xfrm>
            <a:off x="6867144" y="38221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200" dirty="0"/>
          </a:p>
        </p:txBody>
      </p:sp>
      <p:pic>
        <p:nvPicPr>
          <p:cNvPr id="23" name="Image 7" descr="/home/claude/de_day1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2720340"/>
            <a:ext cx="320040" cy="27432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9537192" y="2331720"/>
            <a:ext cx="1051560" cy="105156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25" name="Image 8" descr="/home/claude/de_day1/icons/hom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00082" y="2594610"/>
            <a:ext cx="525780" cy="52578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9079992" y="349300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</a:t>
            </a:r>
            <a:endParaRPr lang="en-US" sz="1300" dirty="0"/>
          </a:p>
        </p:txBody>
      </p:sp>
      <p:sp>
        <p:nvSpPr>
          <p:cNvPr id="27" name="Text 16"/>
          <p:cNvSpPr/>
          <p:nvPr/>
        </p:nvSpPr>
        <p:spPr>
          <a:xfrm>
            <a:off x="9079992" y="38221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Users</a:t>
            </a:r>
            <a:endParaRPr lang="en-US" sz="1200" dirty="0"/>
          </a:p>
        </p:txBody>
      </p:sp>
      <p:sp>
        <p:nvSpPr>
          <p:cNvPr id="28" name="Shape 17"/>
          <p:cNvSpPr/>
          <p:nvPr/>
        </p:nvSpPr>
        <p:spPr>
          <a:xfrm>
            <a:off x="548640" y="48920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EDF3F6"/>
          </a:solidFill>
          <a:ln/>
        </p:spPr>
      </p:sp>
      <p:sp>
        <p:nvSpPr>
          <p:cNvPr id="29" name="Shape 18"/>
          <p:cNvSpPr/>
          <p:nvPr/>
        </p:nvSpPr>
        <p:spPr>
          <a:xfrm>
            <a:off x="822960" y="5074920"/>
            <a:ext cx="777240" cy="7772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30" name="Image 9" descr="/home/claude/de_day1/icons/pipelin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7270" y="5269230"/>
            <a:ext cx="388620" cy="38862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1828800" y="5074920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Engineer builds and maintains these “pipes” for data — so clean, reliable data reaches the people who need it.</a:t>
            </a:r>
            <a:endParaRPr lang="en-US" sz="1450" dirty="0"/>
          </a:p>
        </p:txBody>
      </p:sp>
      <p:sp>
        <p:nvSpPr>
          <p:cNvPr id="3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— Foundations Course</a:t>
            </a:r>
            <a:endParaRPr lang="en-US" sz="1000" dirty="0"/>
          </a:p>
        </p:txBody>
      </p:sp>
      <p:sp>
        <p:nvSpPr>
          <p:cNvPr id="33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Data Engineering Needed?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BEDE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45920"/>
            <a:ext cx="685800" cy="6858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5" name="Image 0" descr="/home/claude/de_day1/icons/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705" y="1800225"/>
            <a:ext cx="377190" cy="3771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7373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Data Engineering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60120" y="2569464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5"/>
          <p:cNvSpPr/>
          <p:nvPr/>
        </p:nvSpPr>
        <p:spPr>
          <a:xfrm>
            <a:off x="1234440" y="240487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scattered across systems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960120" y="3227832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7"/>
          <p:cNvSpPr/>
          <p:nvPr/>
        </p:nvSpPr>
        <p:spPr>
          <a:xfrm>
            <a:off x="1234440" y="30632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 exist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960120" y="3886200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9"/>
          <p:cNvSpPr/>
          <p:nvPr/>
        </p:nvSpPr>
        <p:spPr>
          <a:xfrm>
            <a:off x="1234440" y="372160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are inaccurate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960120" y="4544568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1"/>
          <p:cNvSpPr/>
          <p:nvPr/>
        </p:nvSpPr>
        <p:spPr>
          <a:xfrm>
            <a:off x="1234440" y="4379976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 becomes difficult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263640" y="137160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E6F3EC"/>
          </a:solidFill>
          <a:ln/>
        </p:spPr>
      </p:sp>
      <p:sp>
        <p:nvSpPr>
          <p:cNvPr id="16" name="Shape 13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17" name="Image 1" descr="/home/claude/de_day1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265" y="1800225"/>
            <a:ext cx="377190" cy="37719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360920" y="17373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Data Engineering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6583680" y="2569464"/>
            <a:ext cx="128016" cy="128016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20" name="Text 16"/>
          <p:cNvSpPr/>
          <p:nvPr/>
        </p:nvSpPr>
        <p:spPr>
          <a:xfrm>
            <a:off x="6858000" y="240487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trustworthy data</a:t>
            </a:r>
            <a:endParaRPr lang="en-US" sz="1450" dirty="0"/>
          </a:p>
        </p:txBody>
      </p:sp>
      <p:sp>
        <p:nvSpPr>
          <p:cNvPr id="21" name="Shape 17"/>
          <p:cNvSpPr/>
          <p:nvPr/>
        </p:nvSpPr>
        <p:spPr>
          <a:xfrm>
            <a:off x="6583680" y="3227832"/>
            <a:ext cx="128016" cy="128016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22" name="Text 18"/>
          <p:cNvSpPr/>
          <p:nvPr/>
        </p:nvSpPr>
        <p:spPr>
          <a:xfrm>
            <a:off x="6858000" y="30632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consistent reports</a:t>
            </a:r>
            <a:endParaRPr lang="en-US" sz="1450" dirty="0"/>
          </a:p>
        </p:txBody>
      </p:sp>
      <p:sp>
        <p:nvSpPr>
          <p:cNvPr id="23" name="Shape 19"/>
          <p:cNvSpPr/>
          <p:nvPr/>
        </p:nvSpPr>
        <p:spPr>
          <a:xfrm>
            <a:off x="6583680" y="3886200"/>
            <a:ext cx="128016" cy="128016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24" name="Text 20"/>
          <p:cNvSpPr/>
          <p:nvPr/>
        </p:nvSpPr>
        <p:spPr>
          <a:xfrm>
            <a:off x="6858000" y="37216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analytics</a:t>
            </a:r>
            <a:endParaRPr lang="en-US" sz="1450" dirty="0"/>
          </a:p>
        </p:txBody>
      </p:sp>
      <p:sp>
        <p:nvSpPr>
          <p:cNvPr id="25" name="Shape 21"/>
          <p:cNvSpPr/>
          <p:nvPr/>
        </p:nvSpPr>
        <p:spPr>
          <a:xfrm>
            <a:off x="6583680" y="4544568"/>
            <a:ext cx="128016" cy="128016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26" name="Text 22"/>
          <p:cNvSpPr/>
          <p:nvPr/>
        </p:nvSpPr>
        <p:spPr>
          <a:xfrm>
            <a:off x="6858000" y="437997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business decisions</a:t>
            </a:r>
            <a:endParaRPr lang="en-US" sz="1450" dirty="0"/>
          </a:p>
        </p:txBody>
      </p:sp>
      <p:sp>
        <p:nvSpPr>
          <p:cNvPr id="27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— Foundations Course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of a Data Engineer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day-to-day responsibilities: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5900" y="1801368"/>
            <a:ext cx="731520" cy="73152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6" name="Image 0" descr="/home/claude/de_day1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" y="198424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6060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971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apps, APIs, sensors, and logs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19272" y="16002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56532" y="1801368"/>
            <a:ext cx="731520" cy="73152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11" name="Image 1" descr="/home/claude/de_day1/icons/warehou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412" y="198424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10712" y="26060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data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56432" y="2971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databases and data warehouses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89904" y="16002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027164" y="1801368"/>
            <a:ext cx="731520" cy="73152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16" name="Image 2" descr="/home/claude/de_day1/icons/bro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0044" y="198424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81344" y="26060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27064" y="2971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errors, remove duplicates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860536" y="16002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797796" y="1801368"/>
            <a:ext cx="731520" cy="73152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21" name="Image 3" descr="/home/claude/de_day1/icons/exch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0676" y="198424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51976" y="26060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data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997696" y="2971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it for analysis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794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485900" y="3995928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home/claude/de_day1/icons/pipeli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8780" y="4178808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0080" y="48006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pipelines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685800" y="5166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data flow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319272" y="3794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256532" y="3995928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/home/claude/de_day1/icons/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9412" y="4178808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10712" y="48006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pipelines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3456432" y="5166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failures early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089904" y="3794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027164" y="3995928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6" descr="/home/claude/de_day1/icons/shie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0044" y="4178808"/>
            <a:ext cx="365760" cy="36576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181344" y="48006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data quality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6227064" y="5166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Accurate, trustworthy data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8860536" y="3794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9797796" y="3995928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1" name="Image 7" descr="/home/claude/de_day1/icons/bol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80676" y="4178808"/>
            <a:ext cx="365760" cy="36576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8951976" y="48006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performance</a:t>
            </a:r>
            <a:endParaRPr lang="en-US" sz="1400" dirty="0"/>
          </a:p>
        </p:txBody>
      </p:sp>
      <p:sp>
        <p:nvSpPr>
          <p:cNvPr id="43" name="Text 33"/>
          <p:cNvSpPr/>
          <p:nvPr/>
        </p:nvSpPr>
        <p:spPr>
          <a:xfrm>
            <a:off x="8997696" y="5166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efficient systems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— Foundations Course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 vs. Analyst vs. Scientist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3520440" cy="3749040"/>
          </a:xfrm>
          <a:prstGeom prst="roundRect">
            <a:avLst>
              <a:gd name="adj" fmla="val 3636"/>
            </a:avLst>
          </a:prstGeom>
          <a:solidFill>
            <a:srgbClr val="0B3D62"/>
          </a:solidFill>
          <a:ln/>
          <a:effectLst>
            <a:outerShdw blurRad="76200" dist="25400" dir="5400000" algn="bl" rotWithShape="0">
              <a:srgbClr val="8AA0AC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97380" y="1554480"/>
            <a:ext cx="1005840" cy="100584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5" name="Image 0" descr="/home/claude/de_day1/icons/to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18059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7432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33375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Python, SQL, Spark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37947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Creates infrastructure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4251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Builds pipelines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34840" y="1234440"/>
            <a:ext cx="3520440" cy="37490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76200" dist="25400" dir="5400000" algn="bl" rotWithShape="0">
              <a:srgbClr val="8AA0AC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92140" y="155448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de_day1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8059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34840" y="27432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Analyst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754880" y="33375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SQL, Power BI, Excel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754880" y="37947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Creates dashboards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754880" y="4251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Analyzes data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229600" y="1234440"/>
            <a:ext cx="3520440" cy="37490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76200" dist="25400" dir="5400000" algn="bl" rotWithShape="0">
              <a:srgbClr val="8AA0AC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486900" y="155448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9" name="Image 2" descr="/home/claude/de_day1/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0" y="180594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29600" y="27432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Scientist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549640" y="33375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Python, ML, Statistics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549640" y="37947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Predicts trends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549640" y="4251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Builds AI/ML models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— Foundations Course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Roles at Amazon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05840" y="2377440"/>
            <a:ext cx="1188720" cy="11887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/home/claude/de_day1/icons/to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267462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7307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20040" y="409651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customer orders</a:t>
            </a:r>
            <a:endParaRPr lang="en-US" sz="1250" dirty="0"/>
          </a:p>
        </p:txBody>
      </p:sp>
      <p:pic>
        <p:nvPicPr>
          <p:cNvPr id="7" name="Image 1" descr="/home/claude/de_day1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2807208"/>
            <a:ext cx="457200" cy="365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663440" y="2377440"/>
            <a:ext cx="1188720" cy="11887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9" name="Image 2" descr="/home/claude/de_day1/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0620" y="2674620"/>
            <a:ext cx="594360" cy="59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977640" y="37307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3977640" y="409651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sales reports</a:t>
            </a:r>
            <a:endParaRPr lang="en-US" sz="1250" dirty="0"/>
          </a:p>
        </p:txBody>
      </p:sp>
      <p:pic>
        <p:nvPicPr>
          <p:cNvPr id="12" name="Image 3" descr="/home/claude/de_day1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807208"/>
            <a:ext cx="457200" cy="36576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8321040" y="2377440"/>
            <a:ext cx="1188720" cy="1188720"/>
          </a:xfrm>
          <a:prstGeom prst="ellipse">
            <a:avLst/>
          </a:prstGeom>
          <a:solidFill>
            <a:srgbClr val="8E6BC7"/>
          </a:solidFill>
          <a:ln/>
        </p:spPr>
      </p:sp>
      <p:pic>
        <p:nvPicPr>
          <p:cNvPr id="14" name="Image 4" descr="/home/claude/de_day1/icons/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8220" y="2674620"/>
            <a:ext cx="594360" cy="5943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635240" y="37307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7635240" y="409651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what customers buy next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640080" y="51206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0B3D62"/>
          </a:solidFill>
          <a:ln/>
        </p:spPr>
      </p:sp>
      <p:sp>
        <p:nvSpPr>
          <p:cNvPr id="18" name="Text 11"/>
          <p:cNvSpPr/>
          <p:nvPr/>
        </p:nvSpPr>
        <p:spPr>
          <a:xfrm>
            <a:off x="1005840" y="5120640"/>
            <a:ext cx="10149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Engineer's work is the foundation — without clean, reliable pipelines, neither the Analyst nor the Scientist can do their job.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— Foundations Course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Lifecycle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moves through these stages before it becomes a business decision: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0B3D62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8346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69848" y="2450592"/>
            <a:ext cx="329184" cy="329184"/>
          </a:xfrm>
          <a:prstGeom prst="ellipse">
            <a:avLst/>
          </a:prstGeom>
          <a:solidFill>
            <a:srgbClr val="5B7A8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pic>
        <p:nvPicPr>
          <p:cNvPr id="7" name="Image 0" descr="/home/claude/de_day1/icons/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712" y="3218688"/>
            <a:ext cx="310896" cy="2377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64080" y="283464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2209800" y="28346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685288" y="2450592"/>
            <a:ext cx="329184" cy="329184"/>
          </a:xfrm>
          <a:prstGeom prst="ellipse">
            <a:avLst/>
          </a:prstGeom>
          <a:solidFill>
            <a:srgbClr val="5B7A8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pic>
        <p:nvPicPr>
          <p:cNvPr id="11" name="Image 1" descr="/home/claude/de_day1/icons/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52" y="3218688"/>
            <a:ext cx="310896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779520" y="283464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0B3D62"/>
          </a:solidFill>
          <a:ln/>
        </p:spPr>
      </p:sp>
      <p:sp>
        <p:nvSpPr>
          <p:cNvPr id="13" name="Text 9"/>
          <p:cNvSpPr/>
          <p:nvPr/>
        </p:nvSpPr>
        <p:spPr>
          <a:xfrm>
            <a:off x="3825240" y="28346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300728" y="2450592"/>
            <a:ext cx="329184" cy="329184"/>
          </a:xfrm>
          <a:prstGeom prst="ellipse">
            <a:avLst/>
          </a:prstGeom>
          <a:solidFill>
            <a:srgbClr val="5B7A8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pic>
        <p:nvPicPr>
          <p:cNvPr id="15" name="Image 2" descr="/home/claude/de_day1/icons/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7592" y="3218688"/>
            <a:ext cx="310896" cy="2377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394960" y="283464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17" name="Text 12"/>
          <p:cNvSpPr/>
          <p:nvPr/>
        </p:nvSpPr>
        <p:spPr>
          <a:xfrm>
            <a:off x="5440680" y="28346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5916168" y="2450592"/>
            <a:ext cx="329184" cy="329184"/>
          </a:xfrm>
          <a:prstGeom prst="ellipse">
            <a:avLst/>
          </a:prstGeom>
          <a:solidFill>
            <a:srgbClr val="5B7A8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pic>
        <p:nvPicPr>
          <p:cNvPr id="19" name="Image 3" descr="/home/claude/de_day1/icons/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032" y="3218688"/>
            <a:ext cx="310896" cy="23774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010400" y="283464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0B3D62"/>
          </a:solidFill>
          <a:ln/>
        </p:spPr>
      </p:sp>
      <p:sp>
        <p:nvSpPr>
          <p:cNvPr id="21" name="Text 15"/>
          <p:cNvSpPr/>
          <p:nvPr/>
        </p:nvSpPr>
        <p:spPr>
          <a:xfrm>
            <a:off x="7056120" y="28346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7531608" y="2450592"/>
            <a:ext cx="329184" cy="329184"/>
          </a:xfrm>
          <a:prstGeom prst="ellipse">
            <a:avLst/>
          </a:prstGeom>
          <a:solidFill>
            <a:srgbClr val="5B7A8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pic>
        <p:nvPicPr>
          <p:cNvPr id="23" name="Image 4" descr="/home/claude/de_day1/icons/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3218688"/>
            <a:ext cx="310896" cy="237744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625840" y="283464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25" name="Text 18"/>
          <p:cNvSpPr/>
          <p:nvPr/>
        </p:nvSpPr>
        <p:spPr>
          <a:xfrm>
            <a:off x="8671560" y="28346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9147048" y="2450592"/>
            <a:ext cx="329184" cy="329184"/>
          </a:xfrm>
          <a:prstGeom prst="ellipse">
            <a:avLst/>
          </a:prstGeom>
          <a:solidFill>
            <a:srgbClr val="5B7A8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pic>
        <p:nvPicPr>
          <p:cNvPr id="27" name="Image 5" descr="/home/claude/de_day1/icons/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912" y="3218688"/>
            <a:ext cx="310896" cy="237744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10241280" y="283464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F2A541"/>
          </a:solidFill>
          <a:ln/>
        </p:spPr>
      </p:sp>
      <p:sp>
        <p:nvSpPr>
          <p:cNvPr id="29" name="Text 21"/>
          <p:cNvSpPr/>
          <p:nvPr/>
        </p:nvSpPr>
        <p:spPr>
          <a:xfrm>
            <a:off x="10287000" y="28346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Decision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10762488" y="2450592"/>
            <a:ext cx="329184" cy="329184"/>
          </a:xfrm>
          <a:prstGeom prst="ellipse">
            <a:avLst/>
          </a:prstGeom>
          <a:solidFill>
            <a:srgbClr val="5B7A8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548640" y="443484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DF3F6"/>
          </a:solidFill>
          <a:ln/>
        </p:spPr>
      </p:sp>
      <p:sp>
        <p:nvSpPr>
          <p:cNvPr id="32" name="Text 24"/>
          <p:cNvSpPr/>
          <p:nvPr/>
        </p:nvSpPr>
        <p:spPr>
          <a:xfrm>
            <a:off x="822960" y="443484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13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come from the app (source) → get collected into a system → stored in a database → cleaned of errors → transformed into a summary → analyzed for patterns → used to decide next month's inventory.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— Foundations Course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Real-Life Example: Food Delivery App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2286000"/>
            <a:ext cx="1051560" cy="105156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4" name="Image 0" descr="/home/claude/de_day1/icons/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254889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34747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places order</a:t>
            </a:r>
            <a:endParaRPr lang="en-US" sz="1250" dirty="0"/>
          </a:p>
        </p:txBody>
      </p:sp>
      <p:pic>
        <p:nvPicPr>
          <p:cNvPr id="6" name="Image 1" descr="/home/claude/de_day1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1368" y="2674620"/>
            <a:ext cx="320040" cy="274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852928" y="228600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2" descr="/home/claude/de_day1/icons/utensi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5818" y="2548890"/>
            <a:ext cx="525780" cy="5257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395728" y="34747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receives it</a:t>
            </a:r>
            <a:endParaRPr lang="en-US" sz="1250" dirty="0"/>
          </a:p>
        </p:txBody>
      </p:sp>
      <p:pic>
        <p:nvPicPr>
          <p:cNvPr id="10" name="Image 3" descr="/home/claude/de_day1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4216" y="2674620"/>
            <a:ext cx="320040" cy="27432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5065776" y="2286000"/>
            <a:ext cx="1051560" cy="105156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12" name="Image 4" descr="/home/claude/de_day1/icons/mot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8666" y="2548890"/>
            <a:ext cx="525780" cy="52578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608576" y="34747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 picks it up</a:t>
            </a:r>
            <a:endParaRPr lang="en-US" sz="1250" dirty="0"/>
          </a:p>
        </p:txBody>
      </p:sp>
      <p:pic>
        <p:nvPicPr>
          <p:cNvPr id="14" name="Image 5" descr="/home/claude/de_day1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064" y="2674620"/>
            <a:ext cx="320040" cy="274320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7278624" y="228600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6" descr="/home/claude/de_day1/icons/bo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1514" y="2548890"/>
            <a:ext cx="525780" cy="52578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821424" y="34747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receives food</a:t>
            </a:r>
            <a:endParaRPr lang="en-US" sz="1250" dirty="0"/>
          </a:p>
        </p:txBody>
      </p:sp>
      <p:pic>
        <p:nvPicPr>
          <p:cNvPr id="18" name="Image 7" descr="/home/claude/de_day1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912" y="2674620"/>
            <a:ext cx="320040" cy="274320"/>
          </a:xfrm>
          <a:prstGeom prst="rect">
            <a:avLst/>
          </a:prstGeom>
        </p:spPr>
      </p:pic>
      <p:sp>
        <p:nvSpPr>
          <p:cNvPr id="19" name="Shape 9"/>
          <p:cNvSpPr/>
          <p:nvPr/>
        </p:nvSpPr>
        <p:spPr>
          <a:xfrm>
            <a:off x="9491472" y="2286000"/>
            <a:ext cx="1051560" cy="105156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20" name="Image 8" descr="/home/claude/de_day1/icons/st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54362" y="2548890"/>
            <a:ext cx="525780" cy="525780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9034272" y="34747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is stored</a:t>
            </a:r>
            <a:endParaRPr lang="en-US" sz="1250" dirty="0"/>
          </a:p>
        </p:txBody>
      </p:sp>
      <p:sp>
        <p:nvSpPr>
          <p:cNvPr id="22" name="Shape 11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0B3D62"/>
          </a:solidFill>
          <a:ln/>
        </p:spPr>
      </p:sp>
      <p:sp>
        <p:nvSpPr>
          <p:cNvPr id="23" name="Shape 12"/>
          <p:cNvSpPr/>
          <p:nvPr/>
        </p:nvSpPr>
        <p:spPr>
          <a:xfrm>
            <a:off x="822960" y="4937760"/>
            <a:ext cx="914400" cy="91440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4" name="Image 9" descr="/home/claude/de_day1/icons/databa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1560" y="5166360"/>
            <a:ext cx="457200" cy="45720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65960" y="493776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such orders generate data every single day. A Data Engineer ensures this data reaches the analytics team in a clean, usable format.</a:t>
            </a:r>
            <a:endParaRPr lang="en-US" sz="1500" dirty="0"/>
          </a:p>
        </p:txBody>
      </p:sp>
      <p:sp>
        <p:nvSpPr>
          <p:cNvPr id="2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— Foundations Course</a:t>
            </a:r>
            <a:endParaRPr lang="en-US" sz="1000" dirty="0"/>
          </a:p>
        </p:txBody>
      </p:sp>
      <p:sp>
        <p:nvSpPr>
          <p:cNvPr id="2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Course Is Headed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what we'll cover over the coming weeks: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84832" cy="1371600"/>
          </a:xfrm>
          <a:prstGeom prst="roundRect">
            <a:avLst>
              <a:gd name="adj" fmla="val 6667"/>
            </a:avLst>
          </a:prstGeom>
          <a:solidFill>
            <a:srgbClr val="0B3D6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0992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70632" y="1600200"/>
            <a:ext cx="2084832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2907792" y="170992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07792" y="2103120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992624" y="1600200"/>
            <a:ext cx="2084832" cy="1371600"/>
          </a:xfrm>
          <a:prstGeom prst="roundRect">
            <a:avLst>
              <a:gd name="adj" fmla="val 6667"/>
            </a:avLst>
          </a:prstGeom>
          <a:solidFill>
            <a:srgbClr val="0B3D62"/>
          </a:solidFill>
          <a:ln/>
        </p:spPr>
      </p:sp>
      <p:sp>
        <p:nvSpPr>
          <p:cNvPr id="11" name="Text 9"/>
          <p:cNvSpPr/>
          <p:nvPr/>
        </p:nvSpPr>
        <p:spPr>
          <a:xfrm>
            <a:off x="5129784" y="170992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9784" y="2103120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214616" y="1600200"/>
            <a:ext cx="2084832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351776" y="170992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51776" y="2103120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Warehousing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436608" y="1600200"/>
            <a:ext cx="2084832" cy="1371600"/>
          </a:xfrm>
          <a:prstGeom prst="roundRect">
            <a:avLst>
              <a:gd name="adj" fmla="val 6667"/>
            </a:avLst>
          </a:prstGeom>
          <a:solidFill>
            <a:srgbClr val="0B3D62"/>
          </a:solidFill>
          <a:ln/>
        </p:spPr>
      </p:sp>
      <p:sp>
        <p:nvSpPr>
          <p:cNvPr id="17" name="Text 15"/>
          <p:cNvSpPr/>
          <p:nvPr/>
        </p:nvSpPr>
        <p:spPr>
          <a:xfrm>
            <a:off x="9573768" y="170992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573768" y="2103120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Spark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3172968"/>
            <a:ext cx="2084832" cy="1371600"/>
          </a:xfrm>
          <a:prstGeom prst="roundRect">
            <a:avLst>
              <a:gd name="adj" fmla="val 6667"/>
            </a:avLst>
          </a:prstGeom>
          <a:solidFill>
            <a:srgbClr val="0B3D62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28269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3675888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Hadoop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770632" y="3172968"/>
            <a:ext cx="2084832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2907792" y="328269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07792" y="3675888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992624" y="3172968"/>
            <a:ext cx="2084832" cy="1371600"/>
          </a:xfrm>
          <a:prstGeom prst="roundRect">
            <a:avLst>
              <a:gd name="adj" fmla="val 6667"/>
            </a:avLst>
          </a:prstGeom>
          <a:solidFill>
            <a:srgbClr val="0B3D62"/>
          </a:solidFill>
          <a:ln/>
        </p:spPr>
      </p:sp>
      <p:sp>
        <p:nvSpPr>
          <p:cNvPr id="26" name="Text 24"/>
          <p:cNvSpPr/>
          <p:nvPr/>
        </p:nvSpPr>
        <p:spPr>
          <a:xfrm>
            <a:off x="5129784" y="328269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29784" y="3675888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Airflow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214616" y="3172968"/>
            <a:ext cx="2084832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7351776" y="328269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51776" y="3675888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(AWS/GCP)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436608" y="3172968"/>
            <a:ext cx="2084832" cy="1371600"/>
          </a:xfrm>
          <a:prstGeom prst="roundRect">
            <a:avLst>
              <a:gd name="adj" fmla="val 6667"/>
            </a:avLst>
          </a:prstGeom>
          <a:solidFill>
            <a:srgbClr val="0B3D62"/>
          </a:solidFill>
          <a:ln/>
        </p:spPr>
      </p:sp>
      <p:sp>
        <p:nvSpPr>
          <p:cNvPr id="32" name="Text 30"/>
          <p:cNvSpPr/>
          <p:nvPr/>
        </p:nvSpPr>
        <p:spPr>
          <a:xfrm>
            <a:off x="9573768" y="328269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573768" y="3675888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Projects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— Foundations Course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B3D6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57200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08676" y="146304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de_day1/icons/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576" y="180594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01752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38404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class: getting hands-on with SQL &amp; MySQL.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— Foundations Course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935</Words>
  <Application>Microsoft Office PowerPoint</Application>
  <PresentationFormat>Widescreen</PresentationFormat>
  <Paragraphs>229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Rupa G</cp:lastModifiedBy>
  <cp:revision>2</cp:revision>
  <dcterms:created xsi:type="dcterms:W3CDTF">2026-07-26T11:49:42Z</dcterms:created>
  <dcterms:modified xsi:type="dcterms:W3CDTF">2026-07-26T17:44:28Z</dcterms:modified>
</cp:coreProperties>
</file>