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115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65760"/>
            <a:ext cx="4754880" cy="47548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JOINs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Data Across Related Tables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 ·  LEFT  ·  RIGHT  ·  CROSS  ·  SELF  ·  FULL OUTER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Cover JOINs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focused sessions — depth over speed. Each day builds on the last.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87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3017520"/>
            <a:ext cx="21945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0040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JOIN?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syntax + 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aliases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192024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487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Outer JOINs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0" y="3017520"/>
            <a:ext cx="21945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20040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vs LEFT vs RIGHT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+ WHERE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487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JOINs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37960" y="3017520"/>
            <a:ext cx="21945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20040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JOIN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concept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89720" y="192024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2487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JOINs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418320" y="3017520"/>
            <a:ext cx="21945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0" y="320040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+ GROUP BY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+ HAVING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JOIN?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combines data from two or more tables </a:t>
            </a: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 related column.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 lives in one table.
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 live in another.
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lets you ask for both — together — in a single result.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EAF2F5"/>
          </a:solidFill>
          <a:ln w="12700">
            <a:solidFill>
              <a:srgbClr val="C9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526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line for class: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48006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“Databases store related data in separate tables to avoid duplication — JOIN is how we bring it back together.”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17320"/>
          <a:ext cx="2377440" cy="87782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92240" y="1115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006840" y="1691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C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64040" y="1417320"/>
          <a:ext cx="2194560" cy="101193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9464040" y="11155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92240" y="2514600"/>
            <a:ext cx="5166360" cy="0"/>
          </a:xfrm>
          <a:prstGeom prst="line">
            <a:avLst/>
          </a:prstGeom>
          <a:noFill/>
          <a:ln w="12700">
            <a:solidFill>
              <a:srgbClr val="5C7A85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 rot="10800000">
            <a:off x="8778240" y="2468880"/>
            <a:ext cx="228600" cy="182880"/>
          </a:xfrm>
          <a:prstGeom prst="triangle">
            <a:avLst/>
          </a:prstGeom>
          <a:solidFill>
            <a:srgbClr val="5C7A85"/>
          </a:solidFill>
          <a:ln/>
        </p:spPr>
      </p:sp>
      <p:sp>
        <p:nvSpPr>
          <p:cNvPr id="16" name="Text 12"/>
          <p:cNvSpPr/>
          <p:nvPr/>
        </p:nvSpPr>
        <p:spPr>
          <a:xfrm>
            <a:off x="649224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Result</a:t>
            </a:r>
            <a:endParaRPr lang="en-US" sz="1200" dirty="0"/>
          </a:p>
        </p:txBody>
      </p:sp>
      <p:graphicFrame>
        <p:nvGraphicFramePr>
          <p:cNvPr id="1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108960"/>
          <a:ext cx="5166360" cy="1042416"/>
        </p:xfrm>
        <a:graphic>
          <a:graphicData uri="http://schemas.openxmlformats.org/drawingml/2006/table">
            <a:tbl>
              <a:tblPr/>
              <a:tblGrid>
                <a:gridCol w="172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JOINs?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store related data in separate tables — to avoid duplication.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BEFE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Without relations — duplicated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3A2E1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517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 | 1 | 500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 | 2 | 800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 | 3 | ...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 repeated on every single order row — wasteful, and error-prone if it ever changes.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920240"/>
            <a:ext cx="5715000" cy="3931920"/>
          </a:xfrm>
          <a:prstGeom prst="roundRect">
            <a:avLst>
              <a:gd name="adj" fmla="val 186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03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relations — store once, connect via key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265176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651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65176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2651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0" y="2971800"/>
            <a:ext cx="365760" cy="0"/>
          </a:xfrm>
          <a:prstGeom prst="line">
            <a:avLst/>
          </a:prstGeom>
          <a:noFill/>
          <a:ln w="19050">
            <a:solidFill>
              <a:srgbClr val="5C7A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0" y="37947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Rahul's name is stored once in Customer. Every order simply references it through customer_id — the foreign key.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4709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reconnects them whenever we need both pieces of information together.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Tables: Customer &amp; Orders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these up first — every example in this deck runs against this schema.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Customer (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customer_id   INT PRIMARY KEY,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customer_name VARCHAR(50),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          VARCHAR(50)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0"/>
            <a:ext cx="50292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Orders 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order_id    INT PRIMARY KEY,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order_date  DATE,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      DECIMAL(10,2),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customer_id INT,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(customer_id)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Customer(customer_id)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28800"/>
          <a:ext cx="5303520" cy="1828800"/>
        </p:xfrm>
        <a:graphic>
          <a:graphicData uri="http://schemas.openxmlformats.org/drawingml/2006/table">
            <a:tbl>
              <a:tblPr/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Anjali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3703320"/>
          <a:ext cx="5303520" cy="1828800"/>
        </p:xfrm>
        <a:graphic>
          <a:graphicData uri="http://schemas.openxmlformats.org/drawingml/2006/table">
            <a:tbl>
              <a:tblPr/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55080" y="54864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BEFE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37960" y="55321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Notice: Kiran (104) has no order. This is the row that will separate INNER JOIN from LEFT JOIN.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JOIN Syntax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00" cy="1554480"/>
          </a:xfrm>
          <a:prstGeom prst="roundRect">
            <a:avLst>
              <a:gd name="adj" fmla="val 4706"/>
            </a:avLst>
          </a:prstGeom>
          <a:solidFill>
            <a:srgbClr val="13204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columns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table1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table2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table1.column = table2.column;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566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35661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columns to return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187952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1879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4187952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(left) table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809744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0974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480974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to combine with 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431536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43153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543153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related column that connects them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173736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23774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 condition tells SQL how the two tables are related — usually a primary key in one matching a foreign key in the other.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503920" y="3977640"/>
            <a:ext cx="292608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416052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     → how to connect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→ which rows to keep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TYPE 1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JOIN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the rows that have matching values in both tables.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554480" cy="1554480"/>
          </a:xfrm>
          <a:prstGeom prst="ellipse">
            <a:avLst/>
          </a:prstGeom>
          <a:ln w="254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1783080"/>
            <a:ext cx="1554480" cy="1554480"/>
          </a:xfrm>
          <a:prstGeom prst="ellipse">
            <a:avLst/>
          </a:prstGeom>
          <a:ln w="254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2039112"/>
            <a:ext cx="594360" cy="1042416"/>
          </a:xfrm>
          <a:prstGeom prst="ellipse">
            <a:avLst/>
          </a:prstGeom>
          <a:solidFill>
            <a:srgbClr val="E8A33D">
              <a:alpha val="90000"/>
            </a:srgbClr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" y="33924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33924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= give me only matching records.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46320" y="1691640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82880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 o.order_id, o.amount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Orders o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c.customer_id = o.customer_id;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246120"/>
          <a:ext cx="6766560" cy="1828800"/>
        </p:xfrm>
        <a:graphic>
          <a:graphicData uri="http://schemas.openxmlformats.org/drawingml/2006/table">
            <a:tbl>
              <a:tblPr/>
              <a:tblGrid>
                <a:gridCol w="225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Anjali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5257800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EAF2F5"/>
          </a:solidFill>
          <a:ln w="12700">
            <a:solidFill>
              <a:srgbClr val="C9DC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530352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 is not shown — Kiran has no matching order, so the row is excluded entirely.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NOTES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Defaults to INNER · Table Aliases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JOIN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Customer.customer_id =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Orders.customer_id;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equivalent 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(explicit)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38912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Orders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Customer.customer_id =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Orders.customer_id;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463040"/>
            <a:ext cx="0" cy="4572000"/>
          </a:xfrm>
          <a:prstGeom prst="line">
            <a:avLst/>
          </a:prstGeom>
          <a:noFill/>
          <a:ln w="12700">
            <a:solidFill>
              <a:srgbClr val="C9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Aliases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17830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tables short names — essential once you join several tables.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22860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4231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 o.order_id, o.amount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Orders o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c.customer_id = o.customer_id;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393192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931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→  Customer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06840" y="3931920"/>
            <a:ext cx="2651760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3931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 →  Orders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48006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aliases you'd write Customer.customer_name and Orders.order_id everywhere — aliases keep queries readable.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TYPE 2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JOIN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from the LEFT table + matching records from the right.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554480" cy="1554480"/>
          </a:xfrm>
          <a:prstGeom prst="ellipse">
            <a:avLst/>
          </a:prstGeom>
          <a:solidFill>
            <a:srgbClr val="065A82">
              <a:alpha val="85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1783080"/>
            <a:ext cx="1554480" cy="1554480"/>
          </a:xfrm>
          <a:prstGeom prst="ellipse">
            <a:avLst/>
          </a:prstGeom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" y="33924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33924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794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from the left table is ever lost.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82880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 o.order_id, o.amount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c.customer_id = o.customer_id;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246120"/>
          <a:ext cx="6766560" cy="2084832"/>
        </p:xfrm>
        <a:graphic>
          <a:graphicData uri="http://schemas.openxmlformats.org/drawingml/2006/table">
            <a:tbl>
              <a:tblPr/>
              <a:tblGrid>
                <a:gridCol w="225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Anjali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5532120"/>
            <a:ext cx="6766560" cy="685800"/>
          </a:xfrm>
          <a:prstGeom prst="roundRect">
            <a:avLst>
              <a:gd name="adj" fmla="val 10667"/>
            </a:avLst>
          </a:prstGeom>
          <a:solidFill>
            <a:srgbClr val="EAF2F5"/>
          </a:solidFill>
          <a:ln w="12700">
            <a:solidFill>
              <a:srgbClr val="C9DC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74920" y="5559552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 now appears — Customer is the left table, so LEFT JOIN keeps every Customer row.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CONTRAST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JOIN vs. LEFT JOIN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JOIN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88720" y="2286000"/>
            <a:ext cx="1554480" cy="1554480"/>
          </a:xfrm>
          <a:prstGeom prst="ellipse">
            <a:avLst/>
          </a:prstGeom>
          <a:ln w="254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2286000"/>
            <a:ext cx="1554480" cy="1554480"/>
          </a:xfrm>
          <a:prstGeom prst="ellipse">
            <a:avLst/>
          </a:prstGeom>
          <a:ln w="254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542032"/>
            <a:ext cx="594360" cy="1042416"/>
          </a:xfrm>
          <a:prstGeom prst="ellipse">
            <a:avLst/>
          </a:prstGeom>
          <a:solidFill>
            <a:srgbClr val="E8A33D">
              <a:alpha val="90000"/>
            </a:srgbClr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8953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38953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343400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80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∩ Orders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records survive. Rows with no counterpart on either side disappear.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JOIN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858000" y="2286000"/>
            <a:ext cx="1554480" cy="1554480"/>
          </a:xfrm>
          <a:prstGeom prst="ellipse">
            <a:avLst/>
          </a:prstGeom>
          <a:solidFill>
            <a:srgbClr val="065A82">
              <a:alpha val="85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2286000"/>
            <a:ext cx="1554480" cy="1554480"/>
          </a:xfrm>
          <a:prstGeom prst="ellipse">
            <a:avLst/>
          </a:prstGeom>
          <a:ln w="254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8953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18120" y="38953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4343400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480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Customer + matching Orders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50292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left-table row is kept. Unmatched rows get NULLs for the right table's columns.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TYPE 3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JOIN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from the RIGHT table + matching records from the left.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554480" cy="1554480"/>
          </a:xfrm>
          <a:prstGeom prst="ellipse">
            <a:avLst/>
          </a:prstGeom>
          <a:ln w="254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1783080"/>
            <a:ext cx="1554480" cy="1554480"/>
          </a:xfrm>
          <a:prstGeom prst="ellipse">
            <a:avLst/>
          </a:prstGeom>
          <a:solidFill>
            <a:srgbClr val="1C7293">
              <a:alpha val="85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" y="33924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33924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794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from the right table is ever lost.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82880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 o.order_id, o.amount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 Orders o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c.customer_id = o.customer_id;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846320" y="3246120"/>
            <a:ext cx="6766560" cy="1005840"/>
          </a:xfrm>
          <a:prstGeom prst="roundRect">
            <a:avLst>
              <a:gd name="adj" fmla="val 7273"/>
            </a:avLst>
          </a:prstGeom>
          <a:solidFill>
            <a:srgbClr val="EAF2F5"/>
          </a:solidFill>
          <a:ln w="12700">
            <a:solidFill>
              <a:srgbClr val="C9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3310128"/>
            <a:ext cx="6309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every order in this dataset already belongs to an existing customer, the result here looks identical to the INNER JOIN — all 4 orders.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4526280"/>
            <a:ext cx="6766560" cy="1645920"/>
          </a:xfrm>
          <a:prstGeom prst="roundRect">
            <a:avLst>
              <a:gd name="adj" fmla="val 5556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46634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tip for class: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4937760"/>
            <a:ext cx="6309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  →  don't lose anything from the left table.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 →  don't lose anything from the right table.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TYPE 4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 JOIN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every possible combination of rows from both tables — no ON condition needed.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 JOIN Product;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FBEFE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47472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4 customers × 3 products = 12 rows.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students: CROSS JOIN can create very large result sets fast.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uses: generating combinations · testing · scheduling · product ↔ customer matrices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+ Priya  ×  Laptop + Phone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9202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  ×  Laptop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19202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  ×  Phone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26060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606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  ×  Laptop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52560" y="26060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2606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  ×  Phone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TYPE 5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 JOIN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a table with itself — the classic use case is hierarchical data.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120640" cy="192024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Anjali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703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table — manager_id points back to another employee's emp_id.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4348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57200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e.name AS employee, m.name AS manager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 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Employee m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e.manager_id = m.emp_id;</a:t>
            </a:r>
            <a:endParaRPr lang="en-US" sz="12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828800"/>
          <a:ext cx="5577840" cy="18288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Anjali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035040" y="3794760"/>
            <a:ext cx="5577840" cy="2057400"/>
          </a:xfrm>
          <a:prstGeom prst="roundRect">
            <a:avLst>
              <a:gd name="adj" fmla="val 4444"/>
            </a:avLst>
          </a:prstGeom>
          <a:solidFill>
            <a:srgbClr val="EAF2F5"/>
          </a:solidFill>
          <a:ln w="12700">
            <a:solidFill>
              <a:srgbClr val="C9DCE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0936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alias twice?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309360" y="434340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referencing the same physical table twice in one query — SQL needs two distinct names (e, m) to tell "employee row" apart from "manager row."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TYPE 6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OUTER JOIN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records + unmatched from the left + unmatched from the right.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554480" cy="1554480"/>
          </a:xfrm>
          <a:prstGeom prst="ellipse">
            <a:avLst/>
          </a:prstGeom>
          <a:solidFill>
            <a:srgbClr val="065A82">
              <a:alpha val="65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1783080"/>
            <a:ext cx="1554480" cy="1554480"/>
          </a:xfrm>
          <a:prstGeom prst="ellipse">
            <a:avLst/>
          </a:prstGeom>
          <a:solidFill>
            <a:srgbClr val="1C7293">
              <a:alpha val="65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" y="33924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33924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794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Conceptually: LEFT JOIN + RIGHT JOIN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FBEFE0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73736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Important: MySQL does not directly support FULL OUTER JOIN.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it with UNION.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6766560" cy="2148840"/>
          </a:xfrm>
          <a:prstGeom prst="roundRect">
            <a:avLst>
              <a:gd name="adj" fmla="val 3404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2880360"/>
            <a:ext cx="6309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 o.order_id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 LEFT JOIN Orders 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c.customer_id = o.customer_id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 o.order_id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 RIGHT JOIN Orders 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c.customer_id = o.customer_id;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CONFUSION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vs. WHERE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the tables are connected.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0A3E52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291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c.customer_id = o.customer_id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while the join itself is being built.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20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37960" y="2560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the result AFTER joining.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37960" y="315468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0A3E52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291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o.amount &gt; 500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the combined rows already exist.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     →  How do I connect the tables?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→  Which rows do I want?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JOINS ·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+ GROUP BY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important for Data Engineering: combine, then summarize.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How many orders has each customer placed?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675120" cy="1691640"/>
          </a:xfrm>
          <a:prstGeom prst="roundRect">
            <a:avLst>
              <a:gd name="adj" fmla="val 4324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6217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 COUNT(o.order_id) AS total_orders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c.customer_id = o.customer_id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c.customer_id, c.customer_name;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2057400" cy="594360"/>
          </a:xfrm>
          <a:prstGeom prst="roundRect">
            <a:avLst>
              <a:gd name="adj" fmla="val 49231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60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rot="5400000">
            <a:off x="2660904" y="4315968"/>
            <a:ext cx="201168" cy="274320"/>
          </a:xfrm>
          <a:prstGeom prst="triangle">
            <a:avLst/>
          </a:prstGeom>
          <a:solidFill>
            <a:srgbClr val="5C7A85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4160520"/>
            <a:ext cx="2057400" cy="594360"/>
          </a:xfrm>
          <a:prstGeom prst="roundRect">
            <a:avLst>
              <a:gd name="adj" fmla="val 4923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4160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038344" y="4315968"/>
            <a:ext cx="201168" cy="274320"/>
          </a:xfrm>
          <a:prstGeom prst="triangle">
            <a:avLst/>
          </a:prstGeom>
          <a:solidFill>
            <a:srgbClr val="5C7A85"/>
          </a:solidFill>
          <a:ln/>
        </p:spPr>
      </p:sp>
      <p:sp>
        <p:nvSpPr>
          <p:cNvPr id="14" name="Shape 12"/>
          <p:cNvSpPr/>
          <p:nvPr/>
        </p:nvSpPr>
        <p:spPr>
          <a:xfrm>
            <a:off x="5303520" y="4160520"/>
            <a:ext cx="2057400" cy="594360"/>
          </a:xfrm>
          <a:prstGeom prst="roundRect">
            <a:avLst>
              <a:gd name="adj" fmla="val 49231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4160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240280"/>
          <a:ext cx="4114800" cy="17373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Anjali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4"/>
          <p:cNvSpPr/>
          <p:nvPr/>
        </p:nvSpPr>
        <p:spPr>
          <a:xfrm>
            <a:off x="7498080" y="416052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EAF2F5"/>
          </a:solidFill>
          <a:ln w="12700">
            <a:solidFill>
              <a:srgbClr val="C9DC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26680" y="4224528"/>
            <a:ext cx="36576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 shows 0 — not excluded — because LEFT JOIN kept the row and COUNT() of a NULL order_id is zero.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JOINS ·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Joining More Than Two Tables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databases commonly chain several related tables together.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rot="5400000">
            <a:off x="3154680" y="2148840"/>
            <a:ext cx="228600" cy="274320"/>
          </a:xfrm>
          <a:prstGeom prst="triangle">
            <a:avLst/>
          </a:prstGeom>
          <a:solidFill>
            <a:srgbClr val="5C7A85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187452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8745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5400000">
            <a:off x="6080760" y="2148840"/>
            <a:ext cx="228600" cy="274320"/>
          </a:xfrm>
          <a:prstGeom prst="triangle">
            <a:avLst/>
          </a:prstGeom>
          <a:solidFill>
            <a:srgbClr val="5C7A8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187452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3A7CA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8745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 rot="5400000">
            <a:off x="9006840" y="2148840"/>
            <a:ext cx="228600" cy="274320"/>
          </a:xfrm>
          <a:prstGeom prst="triangle">
            <a:avLst/>
          </a:prstGeom>
          <a:solidFill>
            <a:srgbClr val="5C7A85"/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0" y="187452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0" y="18745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6675120" cy="2514600"/>
          </a:xfrm>
          <a:prstGeom prst="roundRect">
            <a:avLst>
              <a:gd name="adj" fmla="val 2909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62179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 o.order_id, p.product_name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 o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c.customer_id = o.customer_id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Order_Items oi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o.order_id = oi.order_id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Products p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oi.product_id = p.product_id;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JOINS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JOIN Mistake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with no ON condition is (almost) always a bug.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BEF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Wrong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4480560" cy="1371600"/>
          </a:xfrm>
          <a:prstGeom prst="roundRect">
            <a:avLst>
              <a:gd name="adj" fmla="val 5333"/>
            </a:avLst>
          </a:prstGeom>
          <a:solidFill>
            <a:srgbClr val="3A2E1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5146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5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5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5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EAF2F5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37744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51460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 o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c.customer_id = o.customer_id;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relationship condition, most engines either reject the query or fall back to a CROSS JOIN — silently multiplying every row against every row. Always pair JOIN with 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Summary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96849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returns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INNER JOIN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rows from both tables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LEFT JOIN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left + matching right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RIGHT JOIN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right + matching left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CROSS JOIN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possible combination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SELF JOIN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table joined with itself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 OUTER JOIN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matching + all unmatched, both sides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Problems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EAF2F5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6118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154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customer names and order IDs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customer names and order amounts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only customers who placed orders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customers, including those without orders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orders above ₹1,000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EAF2F5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50876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783080"/>
            <a:ext cx="361188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5087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3154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orders for each customer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spent by each customer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placed more than one order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sorted by total spending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have never placed an order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EAF2F5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50876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783080"/>
            <a:ext cx="3611880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5087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2286000"/>
            <a:ext cx="3154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order amount for each customer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with the highest total spending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three related tables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 to show employees and managers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+ WHERE + GROUP BY + HAVING + ORDER BY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65A82">
              <a:alpha val="8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JOIN?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226771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data from multiple tables based on a related column.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65A82">
              <a:alpha val="8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66560" y="18288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vs LEFT JOIN?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66560" y="226771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returns only matching rows; LEFT returns all left rows plus matches.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65A82">
              <a:alpha val="8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2644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SELF JOIN?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97280" y="37033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a table with itself, using two aliases.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172968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65A82">
              <a:alpha val="8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0" y="32644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MySQL support FULL OUTER JOIN?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66560" y="37033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simulate it with UNION of LEFT and RIGHT JOIN.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08576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65A82">
              <a:alpha val="8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70001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ON?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97280" y="513892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the condition used to match rows between tables.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608576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65A82">
              <a:alpha val="8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66560" y="470001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JOIN more than two tables?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66560" y="513892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chain additional JOIN...ON clauses.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5120640"/>
            <a:ext cx="4754880" cy="47548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 are how relational databases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both efficient and connected.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once. Connect it with keys. Bring it back together — exactly the rows you need — with the right JOIN.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2156</Words>
  <Application>Microsoft Office PowerPoint</Application>
  <PresentationFormat>Widescreen</PresentationFormat>
  <Paragraphs>477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Rupa G</cp:lastModifiedBy>
  <cp:revision>2</cp:revision>
  <dcterms:created xsi:type="dcterms:W3CDTF">2026-08-13T16:40:21Z</dcterms:created>
  <dcterms:modified xsi:type="dcterms:W3CDTF">2026-08-13T17:18:48Z</dcterms:modified>
</cp:coreProperties>
</file>