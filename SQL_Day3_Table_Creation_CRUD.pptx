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notesMasterIdLst>
    <p:notesMasterId r:id="rId16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2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image" Target="../media/image-2-5.png"/><Relationship Id="rId6" Type="http://schemas.openxmlformats.org/officeDocument/2006/relationships/image" Target="../media/image-2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image" Target="../media/image-9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image" Target="../media/image-14-2.png"/><Relationship Id="rId3" Type="http://schemas.openxmlformats.org/officeDocument/2006/relationships/image" Target="../media/image-14-3.png"/><Relationship Id="rId4" Type="http://schemas.openxmlformats.org/officeDocument/2006/relationships/image" Target="../media/image-14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129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955280" y="1097280"/>
            <a:ext cx="3749040" cy="502920"/>
          </a:xfrm>
          <a:prstGeom prst="roundRect">
            <a:avLst>
              <a:gd name="adj" fmla="val 14545"/>
            </a:avLst>
          </a:prstGeom>
          <a:solidFill>
            <a:srgbClr val="1C7293"/>
          </a:solidFill>
          <a:ln/>
        </p:spPr>
      </p:sp>
      <p:sp>
        <p:nvSpPr>
          <p:cNvPr id="3" name="Shape 1"/>
          <p:cNvSpPr/>
          <p:nvPr/>
        </p:nvSpPr>
        <p:spPr>
          <a:xfrm>
            <a:off x="7955280" y="1737360"/>
            <a:ext cx="3749040" cy="502920"/>
          </a:xfrm>
          <a:prstGeom prst="roundRect">
            <a:avLst>
              <a:gd name="adj" fmla="val 14545"/>
            </a:avLst>
          </a:prstGeom>
          <a:solidFill>
            <a:srgbClr val="065A82">
              <a:alpha val="65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7955280" y="2377440"/>
            <a:ext cx="3749040" cy="502920"/>
          </a:xfrm>
          <a:prstGeom prst="roundRect">
            <a:avLst>
              <a:gd name="adj" fmla="val 14545"/>
            </a:avLst>
          </a:prstGeom>
          <a:solidFill>
            <a:srgbClr val="1C7293">
              <a:alpha val="65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7955280" y="3017520"/>
            <a:ext cx="3749040" cy="502920"/>
          </a:xfrm>
          <a:prstGeom prst="roundRect">
            <a:avLst>
              <a:gd name="adj" fmla="val 14545"/>
            </a:avLst>
          </a:prstGeom>
          <a:solidFill>
            <a:srgbClr val="065A82">
              <a:alpha val="65000"/>
            </a:srgbClr>
          </a:solidFill>
          <a:ln/>
        </p:spPr>
      </p:sp>
      <p:sp>
        <p:nvSpPr>
          <p:cNvPr id="6" name="Shape 4"/>
          <p:cNvSpPr/>
          <p:nvPr/>
        </p:nvSpPr>
        <p:spPr>
          <a:xfrm>
            <a:off x="7955280" y="3657600"/>
            <a:ext cx="3749040" cy="502920"/>
          </a:xfrm>
          <a:prstGeom prst="roundRect">
            <a:avLst>
              <a:gd name="adj" fmla="val 14545"/>
            </a:avLst>
          </a:prstGeom>
          <a:solidFill>
            <a:srgbClr val="1C7293">
              <a:alpha val="65000"/>
            </a:srgbClr>
          </a:solidFill>
          <a:ln/>
        </p:spPr>
      </p:sp>
      <p:sp>
        <p:nvSpPr>
          <p:cNvPr id="7" name="Shape 5"/>
          <p:cNvSpPr/>
          <p:nvPr/>
        </p:nvSpPr>
        <p:spPr>
          <a:xfrm>
            <a:off x="7955280" y="4297680"/>
            <a:ext cx="3749040" cy="502920"/>
          </a:xfrm>
          <a:prstGeom prst="roundRect">
            <a:avLst>
              <a:gd name="adj" fmla="val 14545"/>
            </a:avLst>
          </a:prstGeom>
          <a:solidFill>
            <a:srgbClr val="065A82">
              <a:alpha val="65000"/>
            </a:srgbClr>
          </a:solidFill>
          <a:ln/>
        </p:spPr>
      </p:sp>
      <p:sp>
        <p:nvSpPr>
          <p:cNvPr id="8" name="Shape 6"/>
          <p:cNvSpPr/>
          <p:nvPr/>
        </p:nvSpPr>
        <p:spPr>
          <a:xfrm>
            <a:off x="822960" y="822960"/>
            <a:ext cx="914400" cy="914400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9" name="Image 0" descr="databas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24128" y="1024128"/>
            <a:ext cx="512064" cy="512064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822960" y="1920240"/>
            <a:ext cx="5486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spc="300" kern="0" dirty="0">
                <a:solidFill>
                  <a:srgbClr val="8FD3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3</a:t>
            </a:r>
            <a:endParaRPr lang="en-US" sz="1600" dirty="0"/>
          </a:p>
        </p:txBody>
      </p:sp>
      <p:sp>
        <p:nvSpPr>
          <p:cNvPr id="11" name="Text 8"/>
          <p:cNvSpPr/>
          <p:nvPr/>
        </p:nvSpPr>
        <p:spPr>
          <a:xfrm>
            <a:off x="822960" y="2377440"/>
            <a:ext cx="694944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44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SQL Table Creation,</a:t>
            </a:r>
            <a:endParaRPr lang="en-US" sz="4000" dirty="0"/>
          </a:p>
          <a:p>
            <a:pPr indent="0" marL="0">
              <a:lnSpc>
                <a:spcPts val="44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 Types &amp; CRUD Operations</a:t>
            </a:r>
            <a:endParaRPr lang="en-US" sz="4000" dirty="0"/>
          </a:p>
        </p:txBody>
      </p:sp>
      <p:sp>
        <p:nvSpPr>
          <p:cNvPr id="12" name="Text 9"/>
          <p:cNvSpPr/>
          <p:nvPr/>
        </p:nvSpPr>
        <p:spPr>
          <a:xfrm>
            <a:off x="822960" y="4434840"/>
            <a:ext cx="65836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C7DC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data types to full CRUD — building and managing real database tables</a:t>
            </a:r>
            <a:endParaRPr lang="en-US" sz="1500" dirty="0"/>
          </a:p>
        </p:txBody>
      </p:sp>
      <p:sp>
        <p:nvSpPr>
          <p:cNvPr id="13" name="Shape 10"/>
          <p:cNvSpPr/>
          <p:nvPr/>
        </p:nvSpPr>
        <p:spPr>
          <a:xfrm>
            <a:off x="822960" y="5074920"/>
            <a:ext cx="1097280" cy="0"/>
          </a:xfrm>
          <a:prstGeom prst="line">
            <a:avLst/>
          </a:prstGeom>
          <a:noFill/>
          <a:ln w="38100">
            <a:solidFill>
              <a:srgbClr val="3AA6C2"/>
            </a:solidFill>
            <a:prstDash val="solid"/>
          </a:ln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Learning Objectives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48640" y="105156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5B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By the end of this class, students will be able to: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5394960" cy="1325880"/>
          </a:xfrm>
          <a:prstGeom prst="roundRect">
            <a:avLst>
              <a:gd name="adj" fmla="val 6897"/>
            </a:avLst>
          </a:prstGeom>
          <a:solidFill>
            <a:srgbClr val="F4F8FA"/>
          </a:solidFill>
          <a:ln/>
        </p:spPr>
      </p:sp>
      <p:sp>
        <p:nvSpPr>
          <p:cNvPr id="5" name="Shape 3"/>
          <p:cNvSpPr/>
          <p:nvPr/>
        </p:nvSpPr>
        <p:spPr>
          <a:xfrm>
            <a:off x="777240" y="1988820"/>
            <a:ext cx="731520" cy="731520"/>
          </a:xfrm>
          <a:prstGeom prst="ellipse">
            <a:avLst/>
          </a:prstGeom>
          <a:solidFill>
            <a:srgbClr val="065A82"/>
          </a:solidFill>
          <a:ln/>
        </p:spPr>
      </p:sp>
      <p:pic>
        <p:nvPicPr>
          <p:cNvPr id="6" name="Image 0" descr="layer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38174" y="2149754"/>
            <a:ext cx="409651" cy="409651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691640" y="1691640"/>
            <a:ext cx="4023360" cy="1325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Understand SQL data types</a:t>
            </a:r>
            <a:endParaRPr lang="en-US" sz="1600" dirty="0"/>
          </a:p>
        </p:txBody>
      </p:sp>
      <p:sp>
        <p:nvSpPr>
          <p:cNvPr id="8" name="Shape 5"/>
          <p:cNvSpPr/>
          <p:nvPr/>
        </p:nvSpPr>
        <p:spPr>
          <a:xfrm>
            <a:off x="6309360" y="1691640"/>
            <a:ext cx="5394960" cy="1325880"/>
          </a:xfrm>
          <a:prstGeom prst="roundRect">
            <a:avLst>
              <a:gd name="adj" fmla="val 6897"/>
            </a:avLst>
          </a:prstGeom>
          <a:solidFill>
            <a:srgbClr val="F4F8FA"/>
          </a:solidFill>
          <a:ln/>
        </p:spPr>
      </p:sp>
      <p:sp>
        <p:nvSpPr>
          <p:cNvPr id="9" name="Shape 6"/>
          <p:cNvSpPr/>
          <p:nvPr/>
        </p:nvSpPr>
        <p:spPr>
          <a:xfrm>
            <a:off x="6537960" y="1988820"/>
            <a:ext cx="731520" cy="731520"/>
          </a:xfrm>
          <a:prstGeom prst="ellipse">
            <a:avLst/>
          </a:prstGeom>
          <a:solidFill>
            <a:srgbClr val="065A82"/>
          </a:solidFill>
          <a:ln/>
        </p:spPr>
      </p:sp>
      <p:pic>
        <p:nvPicPr>
          <p:cNvPr id="10" name="Image 1" descr="databas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98894" y="2149754"/>
            <a:ext cx="409651" cy="409651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7452360" y="1691640"/>
            <a:ext cx="4023360" cy="1325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 a database</a:t>
            </a:r>
            <a:endParaRPr lang="en-US" sz="1600" dirty="0"/>
          </a:p>
        </p:txBody>
      </p:sp>
      <p:sp>
        <p:nvSpPr>
          <p:cNvPr id="12" name="Shape 8"/>
          <p:cNvSpPr/>
          <p:nvPr/>
        </p:nvSpPr>
        <p:spPr>
          <a:xfrm>
            <a:off x="548640" y="3291840"/>
            <a:ext cx="5394960" cy="1325880"/>
          </a:xfrm>
          <a:prstGeom prst="roundRect">
            <a:avLst>
              <a:gd name="adj" fmla="val 6897"/>
            </a:avLst>
          </a:prstGeom>
          <a:solidFill>
            <a:srgbClr val="F4F8FA"/>
          </a:solidFill>
          <a:ln/>
        </p:spPr>
      </p:sp>
      <p:sp>
        <p:nvSpPr>
          <p:cNvPr id="13" name="Shape 9"/>
          <p:cNvSpPr/>
          <p:nvPr/>
        </p:nvSpPr>
        <p:spPr>
          <a:xfrm>
            <a:off x="777240" y="3589020"/>
            <a:ext cx="731520" cy="731520"/>
          </a:xfrm>
          <a:prstGeom prst="ellipse">
            <a:avLst/>
          </a:prstGeom>
          <a:solidFill>
            <a:srgbClr val="065A82"/>
          </a:solidFill>
          <a:ln/>
        </p:spPr>
      </p:sp>
      <p:pic>
        <p:nvPicPr>
          <p:cNvPr id="14" name="Image 2" descr="list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38174" y="3749954"/>
            <a:ext cx="409651" cy="409651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1691640" y="3291840"/>
            <a:ext cx="4023360" cy="1325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 tables</a:t>
            </a:r>
            <a:endParaRPr lang="en-US" sz="1600" dirty="0"/>
          </a:p>
        </p:txBody>
      </p:sp>
      <p:sp>
        <p:nvSpPr>
          <p:cNvPr id="16" name="Shape 11"/>
          <p:cNvSpPr/>
          <p:nvPr/>
        </p:nvSpPr>
        <p:spPr>
          <a:xfrm>
            <a:off x="6309360" y="3291840"/>
            <a:ext cx="5394960" cy="1325880"/>
          </a:xfrm>
          <a:prstGeom prst="roundRect">
            <a:avLst>
              <a:gd name="adj" fmla="val 6897"/>
            </a:avLst>
          </a:prstGeom>
          <a:solidFill>
            <a:srgbClr val="F4F8FA"/>
          </a:solidFill>
          <a:ln/>
        </p:spPr>
      </p:sp>
      <p:sp>
        <p:nvSpPr>
          <p:cNvPr id="17" name="Shape 12"/>
          <p:cNvSpPr/>
          <p:nvPr/>
        </p:nvSpPr>
        <p:spPr>
          <a:xfrm>
            <a:off x="6537960" y="3589020"/>
            <a:ext cx="731520" cy="731520"/>
          </a:xfrm>
          <a:prstGeom prst="ellipse">
            <a:avLst/>
          </a:prstGeom>
          <a:solidFill>
            <a:srgbClr val="065A82"/>
          </a:solidFill>
          <a:ln/>
        </p:spPr>
      </p:sp>
      <p:pic>
        <p:nvPicPr>
          <p:cNvPr id="18" name="Image 3" descr="key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98894" y="3749954"/>
            <a:ext cx="409651" cy="409651"/>
          </a:xfrm>
          <a:prstGeom prst="rect">
            <a:avLst/>
          </a:prstGeom>
        </p:spPr>
      </p:pic>
      <p:sp>
        <p:nvSpPr>
          <p:cNvPr id="19" name="Text 13"/>
          <p:cNvSpPr/>
          <p:nvPr/>
        </p:nvSpPr>
        <p:spPr>
          <a:xfrm>
            <a:off x="7452360" y="3291840"/>
            <a:ext cx="4023360" cy="1325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 the Primary Key concept</a:t>
            </a:r>
            <a:endParaRPr lang="en-US" sz="1600" dirty="0"/>
          </a:p>
        </p:txBody>
      </p:sp>
      <p:sp>
        <p:nvSpPr>
          <p:cNvPr id="20" name="Shape 14"/>
          <p:cNvSpPr/>
          <p:nvPr/>
        </p:nvSpPr>
        <p:spPr>
          <a:xfrm>
            <a:off x="548640" y="4892040"/>
            <a:ext cx="5394960" cy="1325880"/>
          </a:xfrm>
          <a:prstGeom prst="roundRect">
            <a:avLst>
              <a:gd name="adj" fmla="val 6897"/>
            </a:avLst>
          </a:prstGeom>
          <a:solidFill>
            <a:srgbClr val="F4F8FA"/>
          </a:solidFill>
          <a:ln/>
        </p:spPr>
      </p:sp>
      <p:sp>
        <p:nvSpPr>
          <p:cNvPr id="21" name="Shape 15"/>
          <p:cNvSpPr/>
          <p:nvPr/>
        </p:nvSpPr>
        <p:spPr>
          <a:xfrm>
            <a:off x="777240" y="5189220"/>
            <a:ext cx="731520" cy="731520"/>
          </a:xfrm>
          <a:prstGeom prst="ellipse">
            <a:avLst/>
          </a:prstGeom>
          <a:solidFill>
            <a:srgbClr val="065A82"/>
          </a:solidFill>
          <a:ln/>
        </p:spPr>
      </p:sp>
      <p:pic>
        <p:nvPicPr>
          <p:cNvPr id="22" name="Image 4" descr="plus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38174" y="5350154"/>
            <a:ext cx="409651" cy="409651"/>
          </a:xfrm>
          <a:prstGeom prst="rect">
            <a:avLst/>
          </a:prstGeom>
        </p:spPr>
      </p:pic>
      <p:sp>
        <p:nvSpPr>
          <p:cNvPr id="23" name="Text 16"/>
          <p:cNvSpPr/>
          <p:nvPr/>
        </p:nvSpPr>
        <p:spPr>
          <a:xfrm>
            <a:off x="1691640" y="4892040"/>
            <a:ext cx="4023360" cy="1325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Perform CRUD operations</a:t>
            </a:r>
            <a:endParaRPr lang="en-US" sz="1600" dirty="0"/>
          </a:p>
        </p:txBody>
      </p:sp>
      <p:sp>
        <p:nvSpPr>
          <p:cNvPr id="24" name="Shape 17"/>
          <p:cNvSpPr/>
          <p:nvPr/>
        </p:nvSpPr>
        <p:spPr>
          <a:xfrm>
            <a:off x="6309360" y="4892040"/>
            <a:ext cx="5394960" cy="1325880"/>
          </a:xfrm>
          <a:prstGeom prst="roundRect">
            <a:avLst>
              <a:gd name="adj" fmla="val 6897"/>
            </a:avLst>
          </a:prstGeom>
          <a:solidFill>
            <a:srgbClr val="F4F8FA"/>
          </a:solidFill>
          <a:ln/>
        </p:spPr>
      </p:sp>
      <p:sp>
        <p:nvSpPr>
          <p:cNvPr id="25" name="Shape 18"/>
          <p:cNvSpPr/>
          <p:nvPr/>
        </p:nvSpPr>
        <p:spPr>
          <a:xfrm>
            <a:off x="6537960" y="5189220"/>
            <a:ext cx="731520" cy="731520"/>
          </a:xfrm>
          <a:prstGeom prst="ellipse">
            <a:avLst/>
          </a:prstGeom>
          <a:solidFill>
            <a:srgbClr val="065A82"/>
          </a:solidFill>
          <a:ln/>
        </p:spPr>
      </p:sp>
      <p:pic>
        <p:nvPicPr>
          <p:cNvPr id="26" name="Image 5" descr="filter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698894" y="5350154"/>
            <a:ext cx="409651" cy="409651"/>
          </a:xfrm>
          <a:prstGeom prst="rect">
            <a:avLst/>
          </a:prstGeom>
        </p:spPr>
      </p:pic>
      <p:sp>
        <p:nvSpPr>
          <p:cNvPr id="27" name="Text 19"/>
          <p:cNvSpPr/>
          <p:nvPr/>
        </p:nvSpPr>
        <p:spPr>
          <a:xfrm>
            <a:off x="7452360" y="4892040"/>
            <a:ext cx="4023360" cy="1325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the WHERE clause</a:t>
            </a:r>
            <a:endParaRPr lang="en-US" sz="1600" dirty="0"/>
          </a:p>
        </p:txBody>
      </p:sp>
      <p:sp>
        <p:nvSpPr>
          <p:cNvPr id="28" name="Text 20"/>
          <p:cNvSpPr/>
          <p:nvPr/>
        </p:nvSpPr>
        <p:spPr>
          <a:xfrm>
            <a:off x="457200" y="64465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5B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 Fundamentals</a:t>
            </a:r>
            <a:endParaRPr lang="en-US" sz="1000" dirty="0"/>
          </a:p>
        </p:txBody>
      </p:sp>
      <p:sp>
        <p:nvSpPr>
          <p:cNvPr id="29" name="Text 21"/>
          <p:cNvSpPr/>
          <p:nvPr/>
        </p:nvSpPr>
        <p:spPr>
          <a:xfrm>
            <a:off x="11274552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Recap: Before We Begin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48640" y="105156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5B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Quick questions to reconnect with the last session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640080" y="1874520"/>
            <a:ext cx="457200" cy="457200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187452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1325880" y="1828800"/>
            <a:ext cx="9601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a database?</a:t>
            </a:r>
            <a:endParaRPr lang="en-US" sz="1700" dirty="0"/>
          </a:p>
        </p:txBody>
      </p:sp>
      <p:sp>
        <p:nvSpPr>
          <p:cNvPr id="7" name="Shape 5"/>
          <p:cNvSpPr/>
          <p:nvPr/>
        </p:nvSpPr>
        <p:spPr>
          <a:xfrm>
            <a:off x="640080" y="2651760"/>
            <a:ext cx="457200" cy="45720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8" name="Text 6"/>
          <p:cNvSpPr/>
          <p:nvPr/>
        </p:nvSpPr>
        <p:spPr>
          <a:xfrm>
            <a:off x="640080" y="265176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1325880" y="2606040"/>
            <a:ext cx="9601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RDBMS?</a:t>
            </a:r>
            <a:endParaRPr lang="en-US" sz="1700" dirty="0"/>
          </a:p>
        </p:txBody>
      </p:sp>
      <p:sp>
        <p:nvSpPr>
          <p:cNvPr id="10" name="Shape 8"/>
          <p:cNvSpPr/>
          <p:nvPr/>
        </p:nvSpPr>
        <p:spPr>
          <a:xfrm>
            <a:off x="640080" y="3429000"/>
            <a:ext cx="457200" cy="457200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11" name="Text 9"/>
          <p:cNvSpPr/>
          <p:nvPr/>
        </p:nvSpPr>
        <p:spPr>
          <a:xfrm>
            <a:off x="640080" y="342900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1325880" y="3383280"/>
            <a:ext cx="9601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SQL?</a:t>
            </a:r>
            <a:endParaRPr lang="en-US" sz="1700" dirty="0"/>
          </a:p>
        </p:txBody>
      </p:sp>
      <p:sp>
        <p:nvSpPr>
          <p:cNvPr id="13" name="Shape 11"/>
          <p:cNvSpPr/>
          <p:nvPr/>
        </p:nvSpPr>
        <p:spPr>
          <a:xfrm>
            <a:off x="640080" y="4206240"/>
            <a:ext cx="457200" cy="45720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14" name="Text 12"/>
          <p:cNvSpPr/>
          <p:nvPr/>
        </p:nvSpPr>
        <p:spPr>
          <a:xfrm>
            <a:off x="640080" y="420624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1325880" y="4160520"/>
            <a:ext cx="9601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Difference between DBMS and RDBMS?</a:t>
            </a:r>
            <a:endParaRPr lang="en-US" sz="1700" dirty="0"/>
          </a:p>
        </p:txBody>
      </p:sp>
      <p:sp>
        <p:nvSpPr>
          <p:cNvPr id="16" name="Shape 14"/>
          <p:cNvSpPr/>
          <p:nvPr/>
        </p:nvSpPr>
        <p:spPr>
          <a:xfrm>
            <a:off x="640080" y="4983480"/>
            <a:ext cx="457200" cy="457200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17" name="Text 15"/>
          <p:cNvSpPr/>
          <p:nvPr/>
        </p:nvSpPr>
        <p:spPr>
          <a:xfrm>
            <a:off x="640080" y="498348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1325880" y="4937760"/>
            <a:ext cx="9601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 you name some databases?</a:t>
            </a:r>
            <a:endParaRPr lang="en-US" sz="1700" dirty="0"/>
          </a:p>
        </p:txBody>
      </p:sp>
      <p:sp>
        <p:nvSpPr>
          <p:cNvPr id="19" name="Text 17"/>
          <p:cNvSpPr/>
          <p:nvPr/>
        </p:nvSpPr>
        <p:spPr>
          <a:xfrm>
            <a:off x="457200" y="64465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5B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 Fundamentals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11274552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2129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502920"/>
            <a:ext cx="822960" cy="822960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3" name="Image 0" descr="layer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1131" y="683971"/>
            <a:ext cx="460858" cy="460858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691640" y="54864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Are Data Types?</a:t>
            </a:r>
            <a:endParaRPr lang="en-US" sz="3200" dirty="0"/>
          </a:p>
        </p:txBody>
      </p:sp>
      <p:sp>
        <p:nvSpPr>
          <p:cNvPr id="5" name="Shape 2"/>
          <p:cNvSpPr/>
          <p:nvPr/>
        </p:nvSpPr>
        <p:spPr>
          <a:xfrm>
            <a:off x="640080" y="1600200"/>
            <a:ext cx="10881360" cy="1005840"/>
          </a:xfrm>
          <a:prstGeom prst="roundRect">
            <a:avLst>
              <a:gd name="adj" fmla="val 9091"/>
            </a:avLst>
          </a:prstGeom>
          <a:solidFill>
            <a:srgbClr val="1C7293">
              <a:alpha val="85000"/>
            </a:srgbClr>
          </a:solidFill>
          <a:ln/>
        </p:spPr>
      </p:sp>
      <p:sp>
        <p:nvSpPr>
          <p:cNvPr id="6" name="Text 3"/>
          <p:cNvSpPr/>
          <p:nvPr/>
        </p:nvSpPr>
        <p:spPr>
          <a:xfrm>
            <a:off x="914400" y="1600200"/>
            <a:ext cx="103327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8FD3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question: </a:t>
            </a:r>
            <a:pPr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“Can we store a person’s name inside a number field?”  —  No.</a:t>
            </a:r>
            <a:endParaRPr lang="en-US" sz="1700" dirty="0"/>
          </a:p>
        </p:txBody>
      </p:sp>
      <p:sp>
        <p:nvSpPr>
          <p:cNvPr id="7" name="Text 4"/>
          <p:cNvSpPr/>
          <p:nvPr/>
        </p:nvSpPr>
        <p:spPr>
          <a:xfrm>
            <a:off x="640080" y="2880360"/>
            <a:ext cx="108813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C7DC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column must specify what kind of data it stores. That is called a Data Type.</a:t>
            </a:r>
            <a:endParaRPr lang="en-US" sz="1600" dirty="0"/>
          </a:p>
        </p:txBody>
      </p:sp>
      <p:sp>
        <p:nvSpPr>
          <p:cNvPr id="8" name="Shape 5"/>
          <p:cNvSpPr/>
          <p:nvPr/>
        </p:nvSpPr>
        <p:spPr>
          <a:xfrm>
            <a:off x="640080" y="3657600"/>
            <a:ext cx="3447288" cy="2377440"/>
          </a:xfrm>
          <a:prstGeom prst="roundRect">
            <a:avLst>
              <a:gd name="adj" fmla="val 3846"/>
            </a:avLst>
          </a:prstGeom>
          <a:solidFill>
            <a:srgbClr val="FFFFFF"/>
          </a:solidFill>
          <a:ln/>
        </p:spPr>
      </p:sp>
      <p:sp>
        <p:nvSpPr>
          <p:cNvPr id="9" name="Shape 6"/>
          <p:cNvSpPr/>
          <p:nvPr/>
        </p:nvSpPr>
        <p:spPr>
          <a:xfrm>
            <a:off x="868680" y="3886200"/>
            <a:ext cx="457200" cy="73152"/>
          </a:xfrm>
          <a:prstGeom prst="roundRect">
            <a:avLst/>
          </a:prstGeom>
          <a:solidFill>
            <a:srgbClr val="065A82"/>
          </a:solidFill>
          <a:ln/>
        </p:spPr>
      </p:sp>
      <p:sp>
        <p:nvSpPr>
          <p:cNvPr id="10" name="Text 7"/>
          <p:cNvSpPr/>
          <p:nvPr/>
        </p:nvSpPr>
        <p:spPr>
          <a:xfrm>
            <a:off x="868680" y="4069080"/>
            <a:ext cx="299008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 it matters</a:t>
            </a:r>
            <a:endParaRPr lang="en-US" sz="1600" dirty="0"/>
          </a:p>
        </p:txBody>
      </p:sp>
      <p:sp>
        <p:nvSpPr>
          <p:cNvPr id="11" name="Text 8"/>
          <p:cNvSpPr/>
          <p:nvPr/>
        </p:nvSpPr>
        <p:spPr>
          <a:xfrm>
            <a:off x="868680" y="4526280"/>
            <a:ext cx="2990088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types enforce structure, so a column can't accidentally hold the wrong kind of value.</a:t>
            </a:r>
            <a:endParaRPr lang="en-US" sz="1250" dirty="0"/>
          </a:p>
        </p:txBody>
      </p:sp>
      <p:sp>
        <p:nvSpPr>
          <p:cNvPr id="12" name="Shape 9"/>
          <p:cNvSpPr/>
          <p:nvPr/>
        </p:nvSpPr>
        <p:spPr>
          <a:xfrm>
            <a:off x="4343400" y="3657600"/>
            <a:ext cx="3447288" cy="2377440"/>
          </a:xfrm>
          <a:prstGeom prst="roundRect">
            <a:avLst>
              <a:gd name="adj" fmla="val 3846"/>
            </a:avLst>
          </a:prstGeom>
          <a:solidFill>
            <a:srgbClr val="FFFFFF"/>
          </a:solidFill>
          <a:ln/>
        </p:spPr>
      </p:sp>
      <p:sp>
        <p:nvSpPr>
          <p:cNvPr id="13" name="Shape 10"/>
          <p:cNvSpPr/>
          <p:nvPr/>
        </p:nvSpPr>
        <p:spPr>
          <a:xfrm>
            <a:off x="4572000" y="3886200"/>
            <a:ext cx="457200" cy="73152"/>
          </a:xfrm>
          <a:prstGeom prst="roundRect">
            <a:avLst/>
          </a:prstGeom>
          <a:solidFill>
            <a:srgbClr val="065A82"/>
          </a:solidFill>
          <a:ln/>
        </p:spPr>
      </p:sp>
      <p:sp>
        <p:nvSpPr>
          <p:cNvPr id="14" name="Text 11"/>
          <p:cNvSpPr/>
          <p:nvPr/>
        </p:nvSpPr>
        <p:spPr>
          <a:xfrm>
            <a:off x="4572000" y="4069080"/>
            <a:ext cx="299008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Storage &amp; validation</a:t>
            </a:r>
            <a:endParaRPr lang="en-US" sz="1600" dirty="0"/>
          </a:p>
        </p:txBody>
      </p:sp>
      <p:sp>
        <p:nvSpPr>
          <p:cNvPr id="15" name="Text 12"/>
          <p:cNvSpPr/>
          <p:nvPr/>
        </p:nvSpPr>
        <p:spPr>
          <a:xfrm>
            <a:off x="4572000" y="4526280"/>
            <a:ext cx="2990088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database uses the type to allocate storage and validate every value entered.</a:t>
            </a:r>
            <a:endParaRPr lang="en-US" sz="1250" dirty="0"/>
          </a:p>
        </p:txBody>
      </p:sp>
      <p:sp>
        <p:nvSpPr>
          <p:cNvPr id="16" name="Shape 13"/>
          <p:cNvSpPr/>
          <p:nvPr/>
        </p:nvSpPr>
        <p:spPr>
          <a:xfrm>
            <a:off x="8046720" y="3657600"/>
            <a:ext cx="3447288" cy="2377440"/>
          </a:xfrm>
          <a:prstGeom prst="roundRect">
            <a:avLst>
              <a:gd name="adj" fmla="val 3846"/>
            </a:avLst>
          </a:prstGeom>
          <a:solidFill>
            <a:srgbClr val="FFFFFF"/>
          </a:solidFill>
          <a:ln/>
        </p:spPr>
      </p:sp>
      <p:sp>
        <p:nvSpPr>
          <p:cNvPr id="17" name="Shape 14"/>
          <p:cNvSpPr/>
          <p:nvPr/>
        </p:nvSpPr>
        <p:spPr>
          <a:xfrm>
            <a:off x="8275320" y="3886200"/>
            <a:ext cx="457200" cy="73152"/>
          </a:xfrm>
          <a:prstGeom prst="roundRect">
            <a:avLst/>
          </a:prstGeom>
          <a:solidFill>
            <a:srgbClr val="065A82"/>
          </a:solidFill>
          <a:ln/>
        </p:spPr>
      </p:sp>
      <p:sp>
        <p:nvSpPr>
          <p:cNvPr id="18" name="Text 15"/>
          <p:cNvSpPr/>
          <p:nvPr/>
        </p:nvSpPr>
        <p:spPr>
          <a:xfrm>
            <a:off x="8275320" y="4069080"/>
            <a:ext cx="299008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Table design</a:t>
            </a:r>
            <a:endParaRPr lang="en-US" sz="1600" dirty="0"/>
          </a:p>
        </p:txBody>
      </p:sp>
      <p:sp>
        <p:nvSpPr>
          <p:cNvPr id="19" name="Text 16"/>
          <p:cNvSpPr/>
          <p:nvPr/>
        </p:nvSpPr>
        <p:spPr>
          <a:xfrm>
            <a:off x="8275320" y="4526280"/>
            <a:ext cx="2990088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Choosing correct types is the first real design decision when creating a table.</a:t>
            </a:r>
            <a:endParaRPr lang="en-US" sz="1250" dirty="0"/>
          </a:p>
        </p:txBody>
      </p:sp>
      <p:sp>
        <p:nvSpPr>
          <p:cNvPr id="20" name="Text 17"/>
          <p:cNvSpPr/>
          <p:nvPr/>
        </p:nvSpPr>
        <p:spPr>
          <a:xfrm>
            <a:off x="457200" y="64465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5B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 Fundamentals</a:t>
            </a:r>
            <a:endParaRPr lang="en-US" sz="1000" dirty="0"/>
          </a:p>
        </p:txBody>
      </p:sp>
      <p:sp>
        <p:nvSpPr>
          <p:cNvPr id="21" name="Text 18"/>
          <p:cNvSpPr/>
          <p:nvPr/>
        </p:nvSpPr>
        <p:spPr>
          <a:xfrm>
            <a:off x="11274552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9144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Common SQL Data Types</a:t>
            </a:r>
            <a:endParaRPr lang="en-US" sz="32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280160"/>
          <a:ext cx="6675120" cy="4846320"/>
        </p:xfrm>
        <a:graphic>
          <a:graphicData uri="http://schemas.openxmlformats.org/drawingml/2006/table">
            <a:tbl>
              <a:tblPr/>
              <a:tblGrid>
                <a:gridCol w="2468880"/>
                <a:gridCol w="4206240"/>
              </a:tblGrid>
              <a:tr h="5486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Data Type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065A8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Used For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065A82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21295C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INT</a:t>
                      </a:r>
                      <a:endParaRPr lang="en-US" sz="13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4F8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Whole numbers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4F8FA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21295C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VARCHAR(n)</a:t>
                      </a:r>
                      <a:endParaRPr lang="en-US" sz="13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Text of variable length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21295C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CHAR(n)</a:t>
                      </a:r>
                      <a:endParaRPr lang="en-US" sz="13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4F8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Fixed-length text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4F8FA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21295C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DECIMAL(10,2)</a:t>
                      </a:r>
                      <a:endParaRPr lang="en-US" sz="13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Decimal numbers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21295C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DATE</a:t>
                      </a:r>
                      <a:endParaRPr lang="en-US" sz="13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4F8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Calendar date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4F8FA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21295C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TIME</a:t>
                      </a:r>
                      <a:endParaRPr lang="en-US" sz="13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Time of day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21295C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DATETIME</a:t>
                      </a:r>
                      <a:endParaRPr lang="en-US" sz="13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4F8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Date and time together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4F8FA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21295C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BOOLEAN</a:t>
                      </a:r>
                      <a:endParaRPr lang="en-US" sz="13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True / False values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Shape 1"/>
          <p:cNvSpPr/>
          <p:nvPr/>
        </p:nvSpPr>
        <p:spPr>
          <a:xfrm>
            <a:off x="7498080" y="1280160"/>
            <a:ext cx="4114800" cy="4846320"/>
          </a:xfrm>
          <a:prstGeom prst="roundRect">
            <a:avLst>
              <a:gd name="adj" fmla="val 2222"/>
            </a:avLst>
          </a:prstGeom>
          <a:solidFill>
            <a:srgbClr val="21295C"/>
          </a:solidFill>
          <a:ln/>
        </p:spPr>
      </p:sp>
      <p:sp>
        <p:nvSpPr>
          <p:cNvPr id="5" name="Shape 2"/>
          <p:cNvSpPr/>
          <p:nvPr/>
        </p:nvSpPr>
        <p:spPr>
          <a:xfrm>
            <a:off x="7818120" y="1600200"/>
            <a:ext cx="685800" cy="685800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6" name="Image 0" descr="layer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968996" y="1751076"/>
            <a:ext cx="384048" cy="384048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7818120" y="2423160"/>
            <a:ext cx="3749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Choosing the right type</a:t>
            </a:r>
            <a:endParaRPr lang="en-US" sz="1700" dirty="0"/>
          </a:p>
        </p:txBody>
      </p:sp>
      <p:sp>
        <p:nvSpPr>
          <p:cNvPr id="8" name="Text 4"/>
          <p:cNvSpPr/>
          <p:nvPr/>
        </p:nvSpPr>
        <p:spPr>
          <a:xfrm>
            <a:off x="7818120" y="3017520"/>
            <a:ext cx="3657600" cy="2834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60000"/>
              </a:lnSpc>
              <a:buNone/>
            </a:pPr>
            <a:r>
              <a:rPr lang="en-US" sz="1400" b="1" dirty="0">
                <a:solidFill>
                  <a:srgbClr val="8FD3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Text → </a:t>
            </a:r>
            <a:pPr indent="0" marL="0">
              <a:lnSpc>
                <a:spcPct val="1600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VARCHAR / CHAR
</a:t>
            </a:r>
            <a:pPr indent="0" marL="0">
              <a:lnSpc>
                <a:spcPct val="160000"/>
              </a:lnSpc>
              <a:buNone/>
            </a:pPr>
            <a:r>
              <a:rPr lang="en-US" sz="1400" b="1" dirty="0">
                <a:solidFill>
                  <a:srgbClr val="8FD3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Numbers → </a:t>
            </a:r>
            <a:pPr indent="0" marL="0">
              <a:lnSpc>
                <a:spcPct val="1600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 / DECIMAL
</a:t>
            </a:r>
            <a:pPr indent="0" marL="0">
              <a:lnSpc>
                <a:spcPct val="160000"/>
              </a:lnSpc>
              <a:buNone/>
            </a:pPr>
            <a:r>
              <a:rPr lang="en-US" sz="1400" b="1" dirty="0">
                <a:solidFill>
                  <a:srgbClr val="8FD3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Dates → </a:t>
            </a:r>
            <a:pPr indent="0" marL="0">
              <a:lnSpc>
                <a:spcPct val="1600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DATE / DATETIME
</a:t>
            </a:r>
            <a:pPr indent="0" marL="0">
              <a:lnSpc>
                <a:spcPct val="160000"/>
              </a:lnSpc>
              <a:buNone/>
            </a:pPr>
            <a:r>
              <a:rPr lang="en-US" sz="1400" b="1" dirty="0">
                <a:solidFill>
                  <a:srgbClr val="8FD3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Yes/No → </a:t>
            </a:r>
            <a:pPr indent="0" marL="0">
              <a:lnSpc>
                <a:spcPct val="1600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BOOLEAN</a:t>
            </a:r>
            <a:endParaRPr lang="en-US" sz="1400" dirty="0"/>
          </a:p>
        </p:txBody>
      </p:sp>
      <p:sp>
        <p:nvSpPr>
          <p:cNvPr id="9" name="Text 5"/>
          <p:cNvSpPr/>
          <p:nvPr/>
        </p:nvSpPr>
        <p:spPr>
          <a:xfrm>
            <a:off x="457200" y="64465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5B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 Fundamentals</a:t>
            </a:r>
            <a:endParaRPr lang="en-US" sz="1000" dirty="0"/>
          </a:p>
        </p:txBody>
      </p:sp>
      <p:sp>
        <p:nvSpPr>
          <p:cNvPr id="10" name="Text 6"/>
          <p:cNvSpPr/>
          <p:nvPr/>
        </p:nvSpPr>
        <p:spPr>
          <a:xfrm>
            <a:off x="11274552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10058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Creating &amp; Selecting a Database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737360"/>
            <a:ext cx="5257800" cy="4206240"/>
          </a:xfrm>
          <a:prstGeom prst="roundRect">
            <a:avLst>
              <a:gd name="adj" fmla="val 2609"/>
            </a:avLst>
          </a:prstGeom>
          <a:solidFill>
            <a:srgbClr val="F4F8FA"/>
          </a:solidFill>
          <a:ln/>
        </p:spPr>
      </p:sp>
      <p:sp>
        <p:nvSpPr>
          <p:cNvPr id="4" name="Shape 2"/>
          <p:cNvSpPr/>
          <p:nvPr/>
        </p:nvSpPr>
        <p:spPr>
          <a:xfrm>
            <a:off x="868680" y="2057400"/>
            <a:ext cx="822960" cy="822960"/>
          </a:xfrm>
          <a:prstGeom prst="ellipse">
            <a:avLst/>
          </a:prstGeom>
          <a:solidFill>
            <a:srgbClr val="065A82"/>
          </a:solidFill>
          <a:ln/>
        </p:spPr>
      </p:sp>
      <p:pic>
        <p:nvPicPr>
          <p:cNvPr id="5" name="Image 0" descr="databas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49731" y="2238451"/>
            <a:ext cx="460858" cy="460858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828800" y="2103120"/>
            <a:ext cx="37947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Step 1 — Create the Database</a:t>
            </a:r>
            <a:endParaRPr lang="en-US" sz="1800" dirty="0"/>
          </a:p>
        </p:txBody>
      </p:sp>
      <p:sp>
        <p:nvSpPr>
          <p:cNvPr id="7" name="Text 4"/>
          <p:cNvSpPr/>
          <p:nvPr/>
        </p:nvSpPr>
        <p:spPr>
          <a:xfrm>
            <a:off x="868680" y="3108960"/>
            <a:ext cx="461772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45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database is created first, before anything else — it acts as the container for every table that follows.</a:t>
            </a:r>
            <a:endParaRPr lang="en-US" sz="1450" dirty="0"/>
          </a:p>
        </p:txBody>
      </p:sp>
      <p:sp>
        <p:nvSpPr>
          <p:cNvPr id="8" name="Shape 5"/>
          <p:cNvSpPr/>
          <p:nvPr/>
        </p:nvSpPr>
        <p:spPr>
          <a:xfrm>
            <a:off x="868680" y="4480560"/>
            <a:ext cx="4617720" cy="1097280"/>
          </a:xfrm>
          <a:prstGeom prst="roundRect">
            <a:avLst>
              <a:gd name="adj" fmla="val 6667"/>
            </a:avLst>
          </a:prstGeom>
          <a:solidFill>
            <a:srgbClr val="21295C"/>
          </a:solidFill>
          <a:ln/>
        </p:spPr>
      </p:sp>
      <p:sp>
        <p:nvSpPr>
          <p:cNvPr id="9" name="Text 6"/>
          <p:cNvSpPr/>
          <p:nvPr/>
        </p:nvSpPr>
        <p:spPr>
          <a:xfrm>
            <a:off x="1051560" y="4480560"/>
            <a:ext cx="42519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8FD3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CREATE DATABASE CompanyDB;</a:t>
            </a:r>
            <a:endParaRPr lang="en-US" sz="1400" dirty="0"/>
          </a:p>
        </p:txBody>
      </p:sp>
      <p:sp>
        <p:nvSpPr>
          <p:cNvPr id="10" name="Shape 7"/>
          <p:cNvSpPr/>
          <p:nvPr/>
        </p:nvSpPr>
        <p:spPr>
          <a:xfrm>
            <a:off x="6172200" y="1737360"/>
            <a:ext cx="5257800" cy="4206240"/>
          </a:xfrm>
          <a:prstGeom prst="roundRect">
            <a:avLst>
              <a:gd name="adj" fmla="val 2609"/>
            </a:avLst>
          </a:prstGeom>
          <a:solidFill>
            <a:srgbClr val="F4F8FA"/>
          </a:solidFill>
          <a:ln/>
        </p:spPr>
      </p:sp>
      <p:sp>
        <p:nvSpPr>
          <p:cNvPr id="11" name="Shape 8"/>
          <p:cNvSpPr/>
          <p:nvPr/>
        </p:nvSpPr>
        <p:spPr>
          <a:xfrm>
            <a:off x="6492240" y="2057400"/>
            <a:ext cx="822960" cy="822960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12" name="Image 1" descr="filter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73291" y="2238451"/>
            <a:ext cx="460858" cy="460858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7452360" y="2103120"/>
            <a:ext cx="37947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Step 2 — Select the Database</a:t>
            </a:r>
            <a:endParaRPr lang="en-US" sz="1800" dirty="0"/>
          </a:p>
        </p:txBody>
      </p:sp>
      <p:sp>
        <p:nvSpPr>
          <p:cNvPr id="14" name="Text 10"/>
          <p:cNvSpPr/>
          <p:nvPr/>
        </p:nvSpPr>
        <p:spPr>
          <a:xfrm>
            <a:off x="6492240" y="3108960"/>
            <a:ext cx="461772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45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Once created, the database must be selected so that all following commands run inside it.</a:t>
            </a:r>
            <a:endParaRPr lang="en-US" sz="1450" dirty="0"/>
          </a:p>
        </p:txBody>
      </p:sp>
      <p:sp>
        <p:nvSpPr>
          <p:cNvPr id="15" name="Shape 11"/>
          <p:cNvSpPr/>
          <p:nvPr/>
        </p:nvSpPr>
        <p:spPr>
          <a:xfrm>
            <a:off x="6492240" y="4480560"/>
            <a:ext cx="4617720" cy="1097280"/>
          </a:xfrm>
          <a:prstGeom prst="roundRect">
            <a:avLst>
              <a:gd name="adj" fmla="val 6667"/>
            </a:avLst>
          </a:prstGeom>
          <a:solidFill>
            <a:srgbClr val="21295C"/>
          </a:solidFill>
          <a:ln/>
        </p:spPr>
      </p:sp>
      <p:sp>
        <p:nvSpPr>
          <p:cNvPr id="16" name="Text 12"/>
          <p:cNvSpPr/>
          <p:nvPr/>
        </p:nvSpPr>
        <p:spPr>
          <a:xfrm>
            <a:off x="6675120" y="4480560"/>
            <a:ext cx="42519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8FD3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USE CompanyDB;</a:t>
            </a:r>
            <a:endParaRPr lang="en-US" sz="1400" dirty="0"/>
          </a:p>
        </p:txBody>
      </p:sp>
      <p:sp>
        <p:nvSpPr>
          <p:cNvPr id="17" name="Text 13"/>
          <p:cNvSpPr/>
          <p:nvPr/>
        </p:nvSpPr>
        <p:spPr>
          <a:xfrm>
            <a:off x="457200" y="64465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5B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 Fundamentals</a:t>
            </a:r>
            <a:endParaRPr lang="en-US" sz="1000" dirty="0"/>
          </a:p>
        </p:txBody>
      </p:sp>
      <p:sp>
        <p:nvSpPr>
          <p:cNvPr id="18" name="Text 14"/>
          <p:cNvSpPr/>
          <p:nvPr/>
        </p:nvSpPr>
        <p:spPr>
          <a:xfrm>
            <a:off x="11274552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10058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Designing the Employee Table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105156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5B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column is defined with a name and a data type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10881360" cy="667512"/>
          </a:xfrm>
          <a:prstGeom prst="roundRect">
            <a:avLst>
              <a:gd name="adj" fmla="val 8219"/>
            </a:avLst>
          </a:prstGeom>
          <a:solidFill>
            <a:srgbClr val="F4F8FA"/>
          </a:solidFill>
          <a:ln/>
        </p:spPr>
      </p:sp>
      <p:sp>
        <p:nvSpPr>
          <p:cNvPr id="5" name="Text 3"/>
          <p:cNvSpPr/>
          <p:nvPr/>
        </p:nvSpPr>
        <p:spPr>
          <a:xfrm>
            <a:off x="777240" y="1600200"/>
            <a:ext cx="2103120" cy="6675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1295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emp_id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3017520" y="1751076"/>
            <a:ext cx="2377440" cy="402336"/>
          </a:xfrm>
          <a:prstGeom prst="roundRect">
            <a:avLst>
              <a:gd name="adj" fmla="val 50000"/>
            </a:avLst>
          </a:prstGeom>
          <a:solidFill>
            <a:srgbClr val="065A82"/>
          </a:solidFill>
          <a:ln/>
        </p:spPr>
      </p:sp>
      <p:sp>
        <p:nvSpPr>
          <p:cNvPr id="7" name="Text 5"/>
          <p:cNvSpPr/>
          <p:nvPr/>
        </p:nvSpPr>
        <p:spPr>
          <a:xfrm>
            <a:off x="3017520" y="1751076"/>
            <a:ext cx="237744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 — Primary Key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5669280" y="1600200"/>
            <a:ext cx="5577840" cy="6675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Uniquely identifies each employee; cannot repeat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548640" y="2359152"/>
            <a:ext cx="10881360" cy="667512"/>
          </a:xfrm>
          <a:prstGeom prst="roundRect">
            <a:avLst>
              <a:gd name="adj" fmla="val 8219"/>
            </a:avLst>
          </a:prstGeom>
          <a:solidFill>
            <a:srgbClr val="FFFFFF"/>
          </a:solidFill>
          <a:ln/>
        </p:spPr>
      </p:sp>
      <p:sp>
        <p:nvSpPr>
          <p:cNvPr id="10" name="Text 8"/>
          <p:cNvSpPr/>
          <p:nvPr/>
        </p:nvSpPr>
        <p:spPr>
          <a:xfrm>
            <a:off x="777240" y="2359152"/>
            <a:ext cx="2103120" cy="6675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1295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name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3017520" y="2510028"/>
            <a:ext cx="2377440" cy="402336"/>
          </a:xfrm>
          <a:prstGeom prst="roundRect">
            <a:avLst>
              <a:gd name="adj" fmla="val 50000"/>
            </a:avLst>
          </a:prstGeom>
          <a:solidFill>
            <a:srgbClr val="065A82"/>
          </a:solidFill>
          <a:ln/>
        </p:spPr>
      </p:sp>
      <p:sp>
        <p:nvSpPr>
          <p:cNvPr id="12" name="Text 10"/>
          <p:cNvSpPr/>
          <p:nvPr/>
        </p:nvSpPr>
        <p:spPr>
          <a:xfrm>
            <a:off x="3017520" y="2510028"/>
            <a:ext cx="237744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VARCHAR(50)</a:t>
            </a:r>
            <a:endParaRPr lang="en-US" sz="1150" dirty="0"/>
          </a:p>
        </p:txBody>
      </p:sp>
      <p:sp>
        <p:nvSpPr>
          <p:cNvPr id="13" name="Text 11"/>
          <p:cNvSpPr/>
          <p:nvPr/>
        </p:nvSpPr>
        <p:spPr>
          <a:xfrm>
            <a:off x="5669280" y="2359152"/>
            <a:ext cx="5577840" cy="6675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Stores the employee's name, up to 50 characters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548640" y="3118104"/>
            <a:ext cx="10881360" cy="667512"/>
          </a:xfrm>
          <a:prstGeom prst="roundRect">
            <a:avLst>
              <a:gd name="adj" fmla="val 8219"/>
            </a:avLst>
          </a:prstGeom>
          <a:solidFill>
            <a:srgbClr val="F4F8FA"/>
          </a:solidFill>
          <a:ln/>
        </p:spPr>
      </p:sp>
      <p:sp>
        <p:nvSpPr>
          <p:cNvPr id="15" name="Text 13"/>
          <p:cNvSpPr/>
          <p:nvPr/>
        </p:nvSpPr>
        <p:spPr>
          <a:xfrm>
            <a:off x="777240" y="3118104"/>
            <a:ext cx="2103120" cy="6675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1295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age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3017520" y="3268980"/>
            <a:ext cx="2377440" cy="402336"/>
          </a:xfrm>
          <a:prstGeom prst="roundRect">
            <a:avLst>
              <a:gd name="adj" fmla="val 50000"/>
            </a:avLst>
          </a:prstGeom>
          <a:solidFill>
            <a:srgbClr val="065A82"/>
          </a:solidFill>
          <a:ln/>
        </p:spPr>
      </p:sp>
      <p:sp>
        <p:nvSpPr>
          <p:cNvPr id="17" name="Text 15"/>
          <p:cNvSpPr/>
          <p:nvPr/>
        </p:nvSpPr>
        <p:spPr>
          <a:xfrm>
            <a:off x="3017520" y="3268980"/>
            <a:ext cx="237744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</a:t>
            </a:r>
            <a:endParaRPr lang="en-US" sz="1150" dirty="0"/>
          </a:p>
        </p:txBody>
      </p:sp>
      <p:sp>
        <p:nvSpPr>
          <p:cNvPr id="18" name="Text 16"/>
          <p:cNvSpPr/>
          <p:nvPr/>
        </p:nvSpPr>
        <p:spPr>
          <a:xfrm>
            <a:off x="5669280" y="3118104"/>
            <a:ext cx="5577840" cy="6675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Stores the employee's age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548640" y="3877056"/>
            <a:ext cx="10881360" cy="667512"/>
          </a:xfrm>
          <a:prstGeom prst="roundRect">
            <a:avLst>
              <a:gd name="adj" fmla="val 8219"/>
            </a:avLst>
          </a:prstGeom>
          <a:solidFill>
            <a:srgbClr val="FFFFFF"/>
          </a:solidFill>
          <a:ln/>
        </p:spPr>
      </p:sp>
      <p:sp>
        <p:nvSpPr>
          <p:cNvPr id="20" name="Text 18"/>
          <p:cNvSpPr/>
          <p:nvPr/>
        </p:nvSpPr>
        <p:spPr>
          <a:xfrm>
            <a:off x="777240" y="3877056"/>
            <a:ext cx="2103120" cy="6675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1295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department</a:t>
            </a:r>
            <a:endParaRPr lang="en-US" sz="1400" dirty="0"/>
          </a:p>
        </p:txBody>
      </p:sp>
      <p:sp>
        <p:nvSpPr>
          <p:cNvPr id="21" name="Shape 19"/>
          <p:cNvSpPr/>
          <p:nvPr/>
        </p:nvSpPr>
        <p:spPr>
          <a:xfrm>
            <a:off x="3017520" y="4027932"/>
            <a:ext cx="2377440" cy="402336"/>
          </a:xfrm>
          <a:prstGeom prst="roundRect">
            <a:avLst>
              <a:gd name="adj" fmla="val 50000"/>
            </a:avLst>
          </a:prstGeom>
          <a:solidFill>
            <a:srgbClr val="065A82"/>
          </a:solidFill>
          <a:ln/>
        </p:spPr>
      </p:sp>
      <p:sp>
        <p:nvSpPr>
          <p:cNvPr id="22" name="Text 20"/>
          <p:cNvSpPr/>
          <p:nvPr/>
        </p:nvSpPr>
        <p:spPr>
          <a:xfrm>
            <a:off x="3017520" y="4027932"/>
            <a:ext cx="237744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VARCHAR(30)</a:t>
            </a:r>
            <a:endParaRPr lang="en-US" sz="1150" dirty="0"/>
          </a:p>
        </p:txBody>
      </p:sp>
      <p:sp>
        <p:nvSpPr>
          <p:cNvPr id="23" name="Text 21"/>
          <p:cNvSpPr/>
          <p:nvPr/>
        </p:nvSpPr>
        <p:spPr>
          <a:xfrm>
            <a:off x="5669280" y="3877056"/>
            <a:ext cx="5577840" cy="6675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Stores the department name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548640" y="4636008"/>
            <a:ext cx="10881360" cy="667512"/>
          </a:xfrm>
          <a:prstGeom prst="roundRect">
            <a:avLst>
              <a:gd name="adj" fmla="val 8219"/>
            </a:avLst>
          </a:prstGeom>
          <a:solidFill>
            <a:srgbClr val="F4F8FA"/>
          </a:solidFill>
          <a:ln/>
        </p:spPr>
      </p:sp>
      <p:sp>
        <p:nvSpPr>
          <p:cNvPr id="25" name="Text 23"/>
          <p:cNvSpPr/>
          <p:nvPr/>
        </p:nvSpPr>
        <p:spPr>
          <a:xfrm>
            <a:off x="777240" y="4636008"/>
            <a:ext cx="2103120" cy="6675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1295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salary</a:t>
            </a:r>
            <a:endParaRPr lang="en-US" sz="1400" dirty="0"/>
          </a:p>
        </p:txBody>
      </p:sp>
      <p:sp>
        <p:nvSpPr>
          <p:cNvPr id="26" name="Shape 24"/>
          <p:cNvSpPr/>
          <p:nvPr/>
        </p:nvSpPr>
        <p:spPr>
          <a:xfrm>
            <a:off x="3017520" y="4786884"/>
            <a:ext cx="2377440" cy="402336"/>
          </a:xfrm>
          <a:prstGeom prst="roundRect">
            <a:avLst>
              <a:gd name="adj" fmla="val 50000"/>
            </a:avLst>
          </a:prstGeom>
          <a:solidFill>
            <a:srgbClr val="065A82"/>
          </a:solidFill>
          <a:ln/>
        </p:spPr>
      </p:sp>
      <p:sp>
        <p:nvSpPr>
          <p:cNvPr id="27" name="Text 25"/>
          <p:cNvSpPr/>
          <p:nvPr/>
        </p:nvSpPr>
        <p:spPr>
          <a:xfrm>
            <a:off x="3017520" y="4786884"/>
            <a:ext cx="237744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DECIMAL(10,2)</a:t>
            </a:r>
            <a:endParaRPr lang="en-US" sz="1150" dirty="0"/>
          </a:p>
        </p:txBody>
      </p:sp>
      <p:sp>
        <p:nvSpPr>
          <p:cNvPr id="28" name="Text 26"/>
          <p:cNvSpPr/>
          <p:nvPr/>
        </p:nvSpPr>
        <p:spPr>
          <a:xfrm>
            <a:off x="5669280" y="4636008"/>
            <a:ext cx="5577840" cy="6675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Stores salary with two decimal places</a:t>
            </a:r>
            <a:endParaRPr lang="en-US" sz="1300" dirty="0"/>
          </a:p>
        </p:txBody>
      </p:sp>
      <p:sp>
        <p:nvSpPr>
          <p:cNvPr id="29" name="Shape 27"/>
          <p:cNvSpPr/>
          <p:nvPr/>
        </p:nvSpPr>
        <p:spPr>
          <a:xfrm>
            <a:off x="548640" y="5394960"/>
            <a:ext cx="10881360" cy="667512"/>
          </a:xfrm>
          <a:prstGeom prst="roundRect">
            <a:avLst>
              <a:gd name="adj" fmla="val 8219"/>
            </a:avLst>
          </a:prstGeom>
          <a:solidFill>
            <a:srgbClr val="FFFFFF"/>
          </a:solidFill>
          <a:ln/>
        </p:spPr>
      </p:sp>
      <p:sp>
        <p:nvSpPr>
          <p:cNvPr id="30" name="Text 28"/>
          <p:cNvSpPr/>
          <p:nvPr/>
        </p:nvSpPr>
        <p:spPr>
          <a:xfrm>
            <a:off x="777240" y="5394960"/>
            <a:ext cx="2103120" cy="6675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1295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joining_date</a:t>
            </a:r>
            <a:endParaRPr lang="en-US" sz="1400" dirty="0"/>
          </a:p>
        </p:txBody>
      </p:sp>
      <p:sp>
        <p:nvSpPr>
          <p:cNvPr id="31" name="Shape 29"/>
          <p:cNvSpPr/>
          <p:nvPr/>
        </p:nvSpPr>
        <p:spPr>
          <a:xfrm>
            <a:off x="3017520" y="5545836"/>
            <a:ext cx="2377440" cy="402336"/>
          </a:xfrm>
          <a:prstGeom prst="roundRect">
            <a:avLst>
              <a:gd name="adj" fmla="val 50000"/>
            </a:avLst>
          </a:prstGeom>
          <a:solidFill>
            <a:srgbClr val="065A82"/>
          </a:solidFill>
          <a:ln/>
        </p:spPr>
      </p:sp>
      <p:sp>
        <p:nvSpPr>
          <p:cNvPr id="32" name="Text 30"/>
          <p:cNvSpPr/>
          <p:nvPr/>
        </p:nvSpPr>
        <p:spPr>
          <a:xfrm>
            <a:off x="3017520" y="5545836"/>
            <a:ext cx="237744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DATE</a:t>
            </a:r>
            <a:endParaRPr lang="en-US" sz="1150" dirty="0"/>
          </a:p>
        </p:txBody>
      </p:sp>
      <p:sp>
        <p:nvSpPr>
          <p:cNvPr id="33" name="Text 31"/>
          <p:cNvSpPr/>
          <p:nvPr/>
        </p:nvSpPr>
        <p:spPr>
          <a:xfrm>
            <a:off x="5669280" y="5394960"/>
            <a:ext cx="5577840" cy="6675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Stores the date the employee joined</a:t>
            </a:r>
            <a:endParaRPr lang="en-US" sz="1300" dirty="0"/>
          </a:p>
        </p:txBody>
      </p:sp>
      <p:sp>
        <p:nvSpPr>
          <p:cNvPr id="34" name="Text 32"/>
          <p:cNvSpPr/>
          <p:nvPr/>
        </p:nvSpPr>
        <p:spPr>
          <a:xfrm>
            <a:off x="457200" y="64465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5B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 Fundamentals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11274552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2129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502920"/>
            <a:ext cx="822960" cy="822960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3" name="Image 0" descr="key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1131" y="683971"/>
            <a:ext cx="460858" cy="460858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691640" y="54864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Is a Primary Key?</a:t>
            </a:r>
            <a:endParaRPr lang="en-US" sz="3200" dirty="0"/>
          </a:p>
        </p:txBody>
      </p:sp>
      <p:sp>
        <p:nvSpPr>
          <p:cNvPr id="5" name="Shape 2"/>
          <p:cNvSpPr/>
          <p:nvPr/>
        </p:nvSpPr>
        <p:spPr>
          <a:xfrm>
            <a:off x="640080" y="1600200"/>
            <a:ext cx="5577840" cy="1280160"/>
          </a:xfrm>
          <a:prstGeom prst="roundRect">
            <a:avLst>
              <a:gd name="adj" fmla="val 7143"/>
            </a:avLst>
          </a:prstGeom>
          <a:solidFill>
            <a:srgbClr val="1C7293">
              <a:alpha val="85000"/>
            </a:srgbClr>
          </a:solidFill>
          <a:ln/>
        </p:spPr>
      </p:sp>
      <p:sp>
        <p:nvSpPr>
          <p:cNvPr id="6" name="Text 3"/>
          <p:cNvSpPr/>
          <p:nvPr/>
        </p:nvSpPr>
        <p:spPr>
          <a:xfrm>
            <a:off x="868680" y="1600200"/>
            <a:ext cx="512064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Primary Key is a column that uniquely identifies every row in a table.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640080" y="3108960"/>
            <a:ext cx="5486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8FD3E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Rules of a Primary Key</a:t>
            </a:r>
            <a:endParaRPr lang="en-US" sz="1800" dirty="0"/>
          </a:p>
        </p:txBody>
      </p:sp>
      <p:sp>
        <p:nvSpPr>
          <p:cNvPr id="8" name="Shape 5"/>
          <p:cNvSpPr/>
          <p:nvPr/>
        </p:nvSpPr>
        <p:spPr>
          <a:xfrm>
            <a:off x="640080" y="3703320"/>
            <a:ext cx="128016" cy="128016"/>
          </a:xfrm>
          <a:prstGeom prst="ellipse">
            <a:avLst/>
          </a:prstGeom>
          <a:solidFill>
            <a:srgbClr val="8FD3E8"/>
          </a:solidFill>
          <a:ln/>
        </p:spPr>
      </p:sp>
      <p:sp>
        <p:nvSpPr>
          <p:cNvPr id="9" name="Text 6"/>
          <p:cNvSpPr/>
          <p:nvPr/>
        </p:nvSpPr>
        <p:spPr>
          <a:xfrm>
            <a:off x="914400" y="3547872"/>
            <a:ext cx="5120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Must be unique for every row</a:t>
            </a:r>
            <a:endParaRPr lang="en-US" sz="1500" dirty="0"/>
          </a:p>
        </p:txBody>
      </p:sp>
      <p:sp>
        <p:nvSpPr>
          <p:cNvPr id="10" name="Shape 7"/>
          <p:cNvSpPr/>
          <p:nvPr/>
        </p:nvSpPr>
        <p:spPr>
          <a:xfrm>
            <a:off x="640080" y="4206240"/>
            <a:ext cx="128016" cy="128016"/>
          </a:xfrm>
          <a:prstGeom prst="ellipse">
            <a:avLst/>
          </a:prstGeom>
          <a:solidFill>
            <a:srgbClr val="8FD3E8"/>
          </a:solidFill>
          <a:ln/>
        </p:spPr>
      </p:sp>
      <p:sp>
        <p:nvSpPr>
          <p:cNvPr id="11" name="Text 8"/>
          <p:cNvSpPr/>
          <p:nvPr/>
        </p:nvSpPr>
        <p:spPr>
          <a:xfrm>
            <a:off x="914400" y="4050792"/>
            <a:ext cx="5120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Cannot be NULL</a:t>
            </a:r>
            <a:endParaRPr lang="en-US" sz="1500" dirty="0"/>
          </a:p>
        </p:txBody>
      </p:sp>
      <p:sp>
        <p:nvSpPr>
          <p:cNvPr id="12" name="Shape 9"/>
          <p:cNvSpPr/>
          <p:nvPr/>
        </p:nvSpPr>
        <p:spPr>
          <a:xfrm>
            <a:off x="640080" y="4709160"/>
            <a:ext cx="128016" cy="128016"/>
          </a:xfrm>
          <a:prstGeom prst="ellipse">
            <a:avLst/>
          </a:prstGeom>
          <a:solidFill>
            <a:srgbClr val="8FD3E8"/>
          </a:solidFill>
          <a:ln/>
        </p:spPr>
      </p:sp>
      <p:sp>
        <p:nvSpPr>
          <p:cNvPr id="13" name="Text 10"/>
          <p:cNvSpPr/>
          <p:nvPr/>
        </p:nvSpPr>
        <p:spPr>
          <a:xfrm>
            <a:off x="914400" y="4553712"/>
            <a:ext cx="5120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 one Primary Key per table</a:t>
            </a:r>
            <a:endParaRPr lang="en-US" sz="1500" dirty="0"/>
          </a:p>
        </p:txBody>
      </p:sp>
      <p:sp>
        <p:nvSpPr>
          <p:cNvPr id="14" name="Shape 11"/>
          <p:cNvSpPr/>
          <p:nvPr/>
        </p:nvSpPr>
        <p:spPr>
          <a:xfrm>
            <a:off x="6675120" y="1600200"/>
            <a:ext cx="4846320" cy="1965960"/>
          </a:xfrm>
          <a:prstGeom prst="roundRect">
            <a:avLst>
              <a:gd name="adj" fmla="val 4651"/>
            </a:avLst>
          </a:prstGeom>
          <a:solidFill>
            <a:srgbClr val="FFFFFF"/>
          </a:solidFill>
          <a:ln/>
        </p:spPr>
      </p:sp>
      <p:sp>
        <p:nvSpPr>
          <p:cNvPr id="15" name="Text 12"/>
          <p:cNvSpPr/>
          <p:nvPr/>
        </p:nvSpPr>
        <p:spPr>
          <a:xfrm>
            <a:off x="6949440" y="1737360"/>
            <a:ext cx="4297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 — unique emp_id</a:t>
            </a:r>
            <a:endParaRPr lang="en-US" sz="13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949440" y="2148840"/>
          <a:ext cx="4297680" cy="1280160"/>
        </p:xfrm>
        <a:graphic>
          <a:graphicData uri="http://schemas.openxmlformats.org/drawingml/2006/table">
            <a:tbl>
              <a:tblPr/>
              <a:tblGrid>
                <a:gridCol w="2148840"/>
                <a:gridCol w="2148840"/>
              </a:tblGrid>
              <a:tr h="4267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emp_id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5A8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Name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5A82"/>
                    </a:solidFill>
                  </a:tcPr>
                </a:tc>
              </a:tr>
              <a:tr h="4267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2733"/>
                          </a:solidFill>
                        </a:rPr>
                        <a:t>101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2733"/>
                          </a:solidFill>
                        </a:rPr>
                        <a:t>Rahul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267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2733"/>
                          </a:solidFill>
                        </a:rPr>
                        <a:t>102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2733"/>
                          </a:solidFill>
                        </a:rPr>
                        <a:t>Priya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7" name="Shape 13"/>
          <p:cNvSpPr/>
          <p:nvPr/>
        </p:nvSpPr>
        <p:spPr>
          <a:xfrm>
            <a:off x="6675120" y="3794760"/>
            <a:ext cx="4846320" cy="1965960"/>
          </a:xfrm>
          <a:prstGeom prst="roundRect">
            <a:avLst>
              <a:gd name="adj" fmla="val 4651"/>
            </a:avLst>
          </a:prstGeom>
          <a:solidFill>
            <a:srgbClr val="FFFFFF"/>
          </a:solidFill>
          <a:ln/>
        </p:spPr>
      </p:sp>
      <p:sp>
        <p:nvSpPr>
          <p:cNvPr id="18" name="Text 14"/>
          <p:cNvSpPr/>
          <p:nvPr/>
        </p:nvSpPr>
        <p:spPr>
          <a:xfrm>
            <a:off x="6949440" y="3931920"/>
            <a:ext cx="4297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B03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Invalid — duplicate emp_id</a:t>
            </a:r>
            <a:endParaRPr lang="en-US" sz="1300" dirty="0"/>
          </a:p>
        </p:txBody>
      </p:sp>
      <p:graphicFrame>
        <p:nvGraphicFramePr>
          <p:cNvPr id="17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949440" y="4343400"/>
          <a:ext cx="4297680" cy="1280160"/>
        </p:xfrm>
        <a:graphic>
          <a:graphicData uri="http://schemas.openxmlformats.org/drawingml/2006/table">
            <a:tbl>
              <a:tblPr/>
              <a:tblGrid>
                <a:gridCol w="2148840"/>
                <a:gridCol w="2148840"/>
              </a:tblGrid>
              <a:tr h="4267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emp_id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03A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Name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03A2E"/>
                    </a:solidFill>
                  </a:tcPr>
                </a:tc>
              </a:tr>
              <a:tr h="4267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2733"/>
                          </a:solidFill>
                        </a:rPr>
                        <a:t>101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2733"/>
                          </a:solidFill>
                        </a:rPr>
                        <a:t>Rahul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267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B03A2E"/>
                          </a:solidFill>
                        </a:rPr>
                        <a:t>101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2733"/>
                          </a:solidFill>
                        </a:rPr>
                        <a:t>Ravi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20" name="Text 15"/>
          <p:cNvSpPr/>
          <p:nvPr/>
        </p:nvSpPr>
        <p:spPr>
          <a:xfrm>
            <a:off x="457200" y="64465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5B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 Fundamentals</a:t>
            </a:r>
            <a:endParaRPr lang="en-US" sz="1000" dirty="0"/>
          </a:p>
        </p:txBody>
      </p:sp>
      <p:sp>
        <p:nvSpPr>
          <p:cNvPr id="21" name="Text 16"/>
          <p:cNvSpPr/>
          <p:nvPr/>
        </p:nvSpPr>
        <p:spPr>
          <a:xfrm>
            <a:off x="11274552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7315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CRUD Operations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48640" y="1051560"/>
            <a:ext cx="10789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5B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can HR do with employee data? Add, view, update, or remove it — these are CRUD operations.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1828800"/>
            <a:ext cx="2514600" cy="3840480"/>
          </a:xfrm>
          <a:prstGeom prst="roundRect">
            <a:avLst>
              <a:gd name="adj" fmla="val 4364"/>
            </a:avLst>
          </a:prstGeom>
          <a:solidFill>
            <a:srgbClr val="F4F8FA"/>
          </a:solidFill>
          <a:ln/>
        </p:spPr>
      </p:sp>
      <p:sp>
        <p:nvSpPr>
          <p:cNvPr id="5" name="Shape 3"/>
          <p:cNvSpPr/>
          <p:nvPr/>
        </p:nvSpPr>
        <p:spPr>
          <a:xfrm>
            <a:off x="1371600" y="2148840"/>
            <a:ext cx="868680" cy="868680"/>
          </a:xfrm>
          <a:prstGeom prst="ellipse">
            <a:avLst/>
          </a:prstGeom>
          <a:solidFill>
            <a:srgbClr val="065A82"/>
          </a:solidFill>
          <a:ln/>
        </p:spPr>
      </p:sp>
      <p:pic>
        <p:nvPicPr>
          <p:cNvPr id="6" name="Image 0" descr="plu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562710" y="2339950"/>
            <a:ext cx="486461" cy="486461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548640" y="3200400"/>
            <a:ext cx="2514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Create</a:t>
            </a:r>
            <a:endParaRPr lang="en-US" sz="1900" dirty="0"/>
          </a:p>
        </p:txBody>
      </p:sp>
      <p:sp>
        <p:nvSpPr>
          <p:cNvPr id="8" name="Shape 5"/>
          <p:cNvSpPr/>
          <p:nvPr/>
        </p:nvSpPr>
        <p:spPr>
          <a:xfrm>
            <a:off x="1074420" y="3703320"/>
            <a:ext cx="1463040" cy="411480"/>
          </a:xfrm>
          <a:prstGeom prst="roundRect">
            <a:avLst>
              <a:gd name="adj" fmla="val 13333"/>
            </a:avLst>
          </a:prstGeom>
          <a:solidFill>
            <a:srgbClr val="21295C"/>
          </a:solidFill>
          <a:ln/>
        </p:spPr>
      </p:sp>
      <p:sp>
        <p:nvSpPr>
          <p:cNvPr id="9" name="Text 6"/>
          <p:cNvSpPr/>
          <p:nvPr/>
        </p:nvSpPr>
        <p:spPr>
          <a:xfrm>
            <a:off x="1074420" y="3703320"/>
            <a:ext cx="14630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8FD3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INSERT</a:t>
            </a:r>
            <a:endParaRPr lang="en-US" sz="1400" dirty="0"/>
          </a:p>
        </p:txBody>
      </p:sp>
      <p:sp>
        <p:nvSpPr>
          <p:cNvPr id="10" name="Text 7"/>
          <p:cNvSpPr/>
          <p:nvPr/>
        </p:nvSpPr>
        <p:spPr>
          <a:xfrm>
            <a:off x="731520" y="4297680"/>
            <a:ext cx="214884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a new employee record</a:t>
            </a:r>
            <a:endParaRPr lang="en-US" sz="1250" dirty="0"/>
          </a:p>
        </p:txBody>
      </p:sp>
      <p:sp>
        <p:nvSpPr>
          <p:cNvPr id="11" name="Shape 8"/>
          <p:cNvSpPr/>
          <p:nvPr/>
        </p:nvSpPr>
        <p:spPr>
          <a:xfrm>
            <a:off x="3319272" y="1828800"/>
            <a:ext cx="2514600" cy="3840480"/>
          </a:xfrm>
          <a:prstGeom prst="roundRect">
            <a:avLst>
              <a:gd name="adj" fmla="val 4364"/>
            </a:avLst>
          </a:prstGeom>
          <a:solidFill>
            <a:srgbClr val="F4F8FA"/>
          </a:solidFill>
          <a:ln/>
        </p:spPr>
      </p:sp>
      <p:sp>
        <p:nvSpPr>
          <p:cNvPr id="12" name="Shape 9"/>
          <p:cNvSpPr/>
          <p:nvPr/>
        </p:nvSpPr>
        <p:spPr>
          <a:xfrm>
            <a:off x="4142232" y="2148840"/>
            <a:ext cx="868680" cy="868680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13" name="Image 1" descr="search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33342" y="2339950"/>
            <a:ext cx="486461" cy="486461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3319272" y="3200400"/>
            <a:ext cx="2514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Read</a:t>
            </a:r>
            <a:endParaRPr lang="en-US" sz="1900" dirty="0"/>
          </a:p>
        </p:txBody>
      </p:sp>
      <p:sp>
        <p:nvSpPr>
          <p:cNvPr id="15" name="Shape 11"/>
          <p:cNvSpPr/>
          <p:nvPr/>
        </p:nvSpPr>
        <p:spPr>
          <a:xfrm>
            <a:off x="3845052" y="3703320"/>
            <a:ext cx="1463040" cy="411480"/>
          </a:xfrm>
          <a:prstGeom prst="roundRect">
            <a:avLst>
              <a:gd name="adj" fmla="val 13333"/>
            </a:avLst>
          </a:prstGeom>
          <a:solidFill>
            <a:srgbClr val="21295C"/>
          </a:solidFill>
          <a:ln/>
        </p:spPr>
      </p:sp>
      <p:sp>
        <p:nvSpPr>
          <p:cNvPr id="16" name="Text 12"/>
          <p:cNvSpPr/>
          <p:nvPr/>
        </p:nvSpPr>
        <p:spPr>
          <a:xfrm>
            <a:off x="3845052" y="3703320"/>
            <a:ext cx="14630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8FD3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SELECT</a:t>
            </a:r>
            <a:endParaRPr lang="en-US" sz="1400" dirty="0"/>
          </a:p>
        </p:txBody>
      </p:sp>
      <p:sp>
        <p:nvSpPr>
          <p:cNvPr id="17" name="Text 13"/>
          <p:cNvSpPr/>
          <p:nvPr/>
        </p:nvSpPr>
        <p:spPr>
          <a:xfrm>
            <a:off x="3502152" y="4297680"/>
            <a:ext cx="214884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View existing employee data</a:t>
            </a:r>
            <a:endParaRPr lang="en-US" sz="1250" dirty="0"/>
          </a:p>
        </p:txBody>
      </p:sp>
      <p:sp>
        <p:nvSpPr>
          <p:cNvPr id="18" name="Shape 14"/>
          <p:cNvSpPr/>
          <p:nvPr/>
        </p:nvSpPr>
        <p:spPr>
          <a:xfrm>
            <a:off x="6089904" y="1828800"/>
            <a:ext cx="2514600" cy="3840480"/>
          </a:xfrm>
          <a:prstGeom prst="roundRect">
            <a:avLst>
              <a:gd name="adj" fmla="val 4364"/>
            </a:avLst>
          </a:prstGeom>
          <a:solidFill>
            <a:srgbClr val="F4F8FA"/>
          </a:solidFill>
          <a:ln/>
        </p:spPr>
      </p:sp>
      <p:sp>
        <p:nvSpPr>
          <p:cNvPr id="19" name="Shape 15"/>
          <p:cNvSpPr/>
          <p:nvPr/>
        </p:nvSpPr>
        <p:spPr>
          <a:xfrm>
            <a:off x="6912864" y="2148840"/>
            <a:ext cx="868680" cy="868680"/>
          </a:xfrm>
          <a:prstGeom prst="ellipse">
            <a:avLst/>
          </a:prstGeom>
          <a:solidFill>
            <a:srgbClr val="065A82"/>
          </a:solidFill>
          <a:ln/>
        </p:spPr>
      </p:sp>
      <p:pic>
        <p:nvPicPr>
          <p:cNvPr id="20" name="Image 2" descr="edit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03974" y="2339950"/>
            <a:ext cx="486461" cy="486461"/>
          </a:xfrm>
          <a:prstGeom prst="rect">
            <a:avLst/>
          </a:prstGeom>
        </p:spPr>
      </p:pic>
      <p:sp>
        <p:nvSpPr>
          <p:cNvPr id="21" name="Text 16"/>
          <p:cNvSpPr/>
          <p:nvPr/>
        </p:nvSpPr>
        <p:spPr>
          <a:xfrm>
            <a:off x="6089904" y="3200400"/>
            <a:ext cx="2514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Update</a:t>
            </a:r>
            <a:endParaRPr lang="en-US" sz="1900" dirty="0"/>
          </a:p>
        </p:txBody>
      </p:sp>
      <p:sp>
        <p:nvSpPr>
          <p:cNvPr id="22" name="Shape 17"/>
          <p:cNvSpPr/>
          <p:nvPr/>
        </p:nvSpPr>
        <p:spPr>
          <a:xfrm>
            <a:off x="6615684" y="3703320"/>
            <a:ext cx="1463040" cy="411480"/>
          </a:xfrm>
          <a:prstGeom prst="roundRect">
            <a:avLst>
              <a:gd name="adj" fmla="val 13333"/>
            </a:avLst>
          </a:prstGeom>
          <a:solidFill>
            <a:srgbClr val="21295C"/>
          </a:solidFill>
          <a:ln/>
        </p:spPr>
      </p:sp>
      <p:sp>
        <p:nvSpPr>
          <p:cNvPr id="23" name="Text 18"/>
          <p:cNvSpPr/>
          <p:nvPr/>
        </p:nvSpPr>
        <p:spPr>
          <a:xfrm>
            <a:off x="6615684" y="3703320"/>
            <a:ext cx="14630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8FD3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UPDATE</a:t>
            </a:r>
            <a:endParaRPr lang="en-US" sz="1400" dirty="0"/>
          </a:p>
        </p:txBody>
      </p:sp>
      <p:sp>
        <p:nvSpPr>
          <p:cNvPr id="24" name="Text 19"/>
          <p:cNvSpPr/>
          <p:nvPr/>
        </p:nvSpPr>
        <p:spPr>
          <a:xfrm>
            <a:off x="6272784" y="4297680"/>
            <a:ext cx="214884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Modify an employee's details</a:t>
            </a:r>
            <a:endParaRPr lang="en-US" sz="1250" dirty="0"/>
          </a:p>
        </p:txBody>
      </p:sp>
      <p:sp>
        <p:nvSpPr>
          <p:cNvPr id="25" name="Shape 20"/>
          <p:cNvSpPr/>
          <p:nvPr/>
        </p:nvSpPr>
        <p:spPr>
          <a:xfrm>
            <a:off x="8860536" y="1828800"/>
            <a:ext cx="2514600" cy="3840480"/>
          </a:xfrm>
          <a:prstGeom prst="roundRect">
            <a:avLst>
              <a:gd name="adj" fmla="val 4364"/>
            </a:avLst>
          </a:prstGeom>
          <a:solidFill>
            <a:srgbClr val="F4F8FA"/>
          </a:solidFill>
          <a:ln/>
        </p:spPr>
      </p:sp>
      <p:sp>
        <p:nvSpPr>
          <p:cNvPr id="26" name="Shape 21"/>
          <p:cNvSpPr/>
          <p:nvPr/>
        </p:nvSpPr>
        <p:spPr>
          <a:xfrm>
            <a:off x="9683496" y="2148840"/>
            <a:ext cx="868680" cy="868680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27" name="Image 3" descr="trash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874606" y="2339950"/>
            <a:ext cx="486461" cy="486461"/>
          </a:xfrm>
          <a:prstGeom prst="rect">
            <a:avLst/>
          </a:prstGeom>
        </p:spPr>
      </p:pic>
      <p:sp>
        <p:nvSpPr>
          <p:cNvPr id="28" name="Text 22"/>
          <p:cNvSpPr/>
          <p:nvPr/>
        </p:nvSpPr>
        <p:spPr>
          <a:xfrm>
            <a:off x="8860536" y="3200400"/>
            <a:ext cx="2514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Delete</a:t>
            </a:r>
            <a:endParaRPr lang="en-US" sz="1900" dirty="0"/>
          </a:p>
        </p:txBody>
      </p:sp>
      <p:sp>
        <p:nvSpPr>
          <p:cNvPr id="29" name="Shape 23"/>
          <p:cNvSpPr/>
          <p:nvPr/>
        </p:nvSpPr>
        <p:spPr>
          <a:xfrm>
            <a:off x="9386316" y="3703320"/>
            <a:ext cx="1463040" cy="411480"/>
          </a:xfrm>
          <a:prstGeom prst="roundRect">
            <a:avLst>
              <a:gd name="adj" fmla="val 13333"/>
            </a:avLst>
          </a:prstGeom>
          <a:solidFill>
            <a:srgbClr val="21295C"/>
          </a:solidFill>
          <a:ln/>
        </p:spPr>
      </p:sp>
      <p:sp>
        <p:nvSpPr>
          <p:cNvPr id="30" name="Text 24"/>
          <p:cNvSpPr/>
          <p:nvPr/>
        </p:nvSpPr>
        <p:spPr>
          <a:xfrm>
            <a:off x="9386316" y="3703320"/>
            <a:ext cx="14630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8FD3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DELETE</a:t>
            </a:r>
            <a:endParaRPr lang="en-US" sz="1400" dirty="0"/>
          </a:p>
        </p:txBody>
      </p:sp>
      <p:sp>
        <p:nvSpPr>
          <p:cNvPr id="31" name="Text 25"/>
          <p:cNvSpPr/>
          <p:nvPr/>
        </p:nvSpPr>
        <p:spPr>
          <a:xfrm>
            <a:off x="9043416" y="4297680"/>
            <a:ext cx="214884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Remove an employee record</a:t>
            </a:r>
            <a:endParaRPr lang="en-US" sz="1250" dirty="0"/>
          </a:p>
        </p:txBody>
      </p:sp>
      <p:sp>
        <p:nvSpPr>
          <p:cNvPr id="32" name="Text 26"/>
          <p:cNvSpPr/>
          <p:nvPr/>
        </p:nvSpPr>
        <p:spPr>
          <a:xfrm>
            <a:off x="457200" y="64465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5B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 Fundamentals</a:t>
            </a:r>
            <a:endParaRPr lang="en-US" sz="1000" dirty="0"/>
          </a:p>
        </p:txBody>
      </p:sp>
      <p:sp>
        <p:nvSpPr>
          <p:cNvPr id="33" name="Text 27"/>
          <p:cNvSpPr/>
          <p:nvPr/>
        </p:nvSpPr>
        <p:spPr>
          <a:xfrm>
            <a:off x="11274552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WHERE Clause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48640" y="1051560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5B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Filters rows so operations apply only to the records that match a condition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640080" y="1828800"/>
            <a:ext cx="1188720" cy="1188720"/>
          </a:xfrm>
          <a:prstGeom prst="ellipse">
            <a:avLst/>
          </a:prstGeom>
          <a:solidFill>
            <a:srgbClr val="065A82"/>
          </a:solidFill>
          <a:ln/>
        </p:spPr>
      </p:sp>
      <p:pic>
        <p:nvPicPr>
          <p:cNvPr id="5" name="Image 0" descr="filte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01598" y="2090318"/>
            <a:ext cx="665683" cy="665683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2103120" y="1828800"/>
            <a:ext cx="4572000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55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Without WHERE, a command like SELECT, UPDATE, or DELETE applies to every row in the table. WHERE narrows that down to a specific condition — like one department, or one employee.</a:t>
            </a:r>
            <a:endParaRPr lang="en-US" sz="1550" dirty="0"/>
          </a:p>
        </p:txBody>
      </p:sp>
      <p:sp>
        <p:nvSpPr>
          <p:cNvPr id="7" name="Shape 4"/>
          <p:cNvSpPr/>
          <p:nvPr/>
        </p:nvSpPr>
        <p:spPr>
          <a:xfrm>
            <a:off x="7040880" y="1737360"/>
            <a:ext cx="4572000" cy="3657600"/>
          </a:xfrm>
          <a:prstGeom prst="roundRect">
            <a:avLst>
              <a:gd name="adj" fmla="val 3000"/>
            </a:avLst>
          </a:prstGeom>
          <a:solidFill>
            <a:srgbClr val="21295C"/>
          </a:solidFill>
          <a:ln/>
        </p:spPr>
      </p:sp>
      <p:sp>
        <p:nvSpPr>
          <p:cNvPr id="8" name="Text 5"/>
          <p:cNvSpPr/>
          <p:nvPr/>
        </p:nvSpPr>
        <p:spPr>
          <a:xfrm>
            <a:off x="7315200" y="1965960"/>
            <a:ext cx="4023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8FD3E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Typical Conditions</a:t>
            </a:r>
            <a:endParaRPr lang="en-US" sz="1700" dirty="0"/>
          </a:p>
        </p:txBody>
      </p:sp>
      <p:sp>
        <p:nvSpPr>
          <p:cNvPr id="9" name="Shape 6"/>
          <p:cNvSpPr/>
          <p:nvPr/>
        </p:nvSpPr>
        <p:spPr>
          <a:xfrm>
            <a:off x="7315200" y="2606040"/>
            <a:ext cx="4023360" cy="777240"/>
          </a:xfrm>
          <a:prstGeom prst="roundRect">
            <a:avLst>
              <a:gd name="adj" fmla="val 9412"/>
            </a:avLst>
          </a:prstGeom>
          <a:solidFill>
            <a:srgbClr val="1C7293">
              <a:alpha val="80000"/>
            </a:srgbClr>
          </a:solidFill>
          <a:ln/>
        </p:spPr>
      </p:sp>
      <p:sp>
        <p:nvSpPr>
          <p:cNvPr id="10" name="Text 7"/>
          <p:cNvSpPr/>
          <p:nvPr/>
        </p:nvSpPr>
        <p:spPr>
          <a:xfrm>
            <a:off x="7498080" y="2606040"/>
            <a:ext cx="36576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Filter by department (e.g. only IT)</a:t>
            </a:r>
            <a:endParaRPr lang="en-US" sz="1350" dirty="0"/>
          </a:p>
        </p:txBody>
      </p:sp>
      <p:sp>
        <p:nvSpPr>
          <p:cNvPr id="11" name="Shape 8"/>
          <p:cNvSpPr/>
          <p:nvPr/>
        </p:nvSpPr>
        <p:spPr>
          <a:xfrm>
            <a:off x="7315200" y="3520440"/>
            <a:ext cx="4023360" cy="777240"/>
          </a:xfrm>
          <a:prstGeom prst="roundRect">
            <a:avLst>
              <a:gd name="adj" fmla="val 9412"/>
            </a:avLst>
          </a:prstGeom>
          <a:solidFill>
            <a:srgbClr val="1C7293">
              <a:alpha val="80000"/>
            </a:srgbClr>
          </a:solidFill>
          <a:ln/>
        </p:spPr>
      </p:sp>
      <p:sp>
        <p:nvSpPr>
          <p:cNvPr id="12" name="Text 9"/>
          <p:cNvSpPr/>
          <p:nvPr/>
        </p:nvSpPr>
        <p:spPr>
          <a:xfrm>
            <a:off x="7498080" y="3520440"/>
            <a:ext cx="36576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Filter by a salary threshold</a:t>
            </a:r>
            <a:endParaRPr lang="en-US" sz="1350" dirty="0"/>
          </a:p>
        </p:txBody>
      </p:sp>
      <p:sp>
        <p:nvSpPr>
          <p:cNvPr id="13" name="Shape 10"/>
          <p:cNvSpPr/>
          <p:nvPr/>
        </p:nvSpPr>
        <p:spPr>
          <a:xfrm>
            <a:off x="7315200" y="4434840"/>
            <a:ext cx="4023360" cy="777240"/>
          </a:xfrm>
          <a:prstGeom prst="roundRect">
            <a:avLst>
              <a:gd name="adj" fmla="val 9412"/>
            </a:avLst>
          </a:prstGeom>
          <a:solidFill>
            <a:srgbClr val="1C7293">
              <a:alpha val="80000"/>
            </a:srgbClr>
          </a:solidFill>
          <a:ln/>
        </p:spPr>
      </p:sp>
      <p:sp>
        <p:nvSpPr>
          <p:cNvPr id="14" name="Text 11"/>
          <p:cNvSpPr/>
          <p:nvPr/>
        </p:nvSpPr>
        <p:spPr>
          <a:xfrm>
            <a:off x="7498080" y="4434840"/>
            <a:ext cx="36576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Filter by a specific employee ID</a:t>
            </a:r>
            <a:endParaRPr lang="en-US" sz="1350" dirty="0"/>
          </a:p>
        </p:txBody>
      </p:sp>
      <p:sp>
        <p:nvSpPr>
          <p:cNvPr id="15" name="Text 12"/>
          <p:cNvSpPr/>
          <p:nvPr/>
        </p:nvSpPr>
        <p:spPr>
          <a:xfrm>
            <a:off x="457200" y="64465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5B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 Fundamentals</a:t>
            </a:r>
            <a:endParaRPr lang="en-US" sz="1000" dirty="0"/>
          </a:p>
        </p:txBody>
      </p:sp>
      <p:sp>
        <p:nvSpPr>
          <p:cNvPr id="16" name="Text 13"/>
          <p:cNvSpPr/>
          <p:nvPr/>
        </p:nvSpPr>
        <p:spPr>
          <a:xfrm>
            <a:off x="11274552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B03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548640"/>
            <a:ext cx="914400" cy="914400"/>
          </a:xfrm>
          <a:prstGeom prst="ellipse">
            <a:avLst/>
          </a:prstGeom>
          <a:solidFill>
            <a:srgbClr val="8A2418"/>
          </a:solidFill>
          <a:ln/>
        </p:spPr>
      </p:sp>
      <p:pic>
        <p:nvPicPr>
          <p:cNvPr id="3" name="Image 0" descr="aler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41248" y="749808"/>
            <a:ext cx="512064" cy="512064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737360" y="59436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Handle With Care</a:t>
            </a:r>
            <a:endParaRPr lang="en-US" sz="3200" dirty="0"/>
          </a:p>
        </p:txBody>
      </p:sp>
      <p:sp>
        <p:nvSpPr>
          <p:cNvPr id="5" name="Text 2"/>
          <p:cNvSpPr/>
          <p:nvPr/>
        </p:nvSpPr>
        <p:spPr>
          <a:xfrm>
            <a:off x="1737360" y="123444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F5D6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single most important warning in this class</a:t>
            </a:r>
            <a:endParaRPr lang="en-US" sz="1400" dirty="0"/>
          </a:p>
        </p:txBody>
      </p:sp>
      <p:sp>
        <p:nvSpPr>
          <p:cNvPr id="6" name="Shape 3"/>
          <p:cNvSpPr/>
          <p:nvPr/>
        </p:nvSpPr>
        <p:spPr>
          <a:xfrm>
            <a:off x="548640" y="2011680"/>
            <a:ext cx="5257800" cy="3840480"/>
          </a:xfrm>
          <a:prstGeom prst="roundRect">
            <a:avLst>
              <a:gd name="adj" fmla="val 2857"/>
            </a:avLst>
          </a:prstGeom>
          <a:solidFill>
            <a:srgbClr val="FFFFFF"/>
          </a:solidFill>
          <a:ln/>
        </p:spPr>
      </p:sp>
      <p:sp>
        <p:nvSpPr>
          <p:cNvPr id="7" name="Text 4"/>
          <p:cNvSpPr/>
          <p:nvPr/>
        </p:nvSpPr>
        <p:spPr>
          <a:xfrm>
            <a:off x="822960" y="2286000"/>
            <a:ext cx="4709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B03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UPDATE without WHERE</a:t>
            </a:r>
            <a:endParaRPr lang="en-US" sz="1800" dirty="0"/>
          </a:p>
        </p:txBody>
      </p:sp>
      <p:sp>
        <p:nvSpPr>
          <p:cNvPr id="8" name="Text 5"/>
          <p:cNvSpPr/>
          <p:nvPr/>
        </p:nvSpPr>
        <p:spPr>
          <a:xfrm>
            <a:off x="822960" y="2880360"/>
            <a:ext cx="47091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the WHERE clause is left out of an UPDATE, the change is not limited to one row.</a:t>
            </a:r>
            <a:endParaRPr lang="en-US" sz="1400" dirty="0"/>
          </a:p>
        </p:txBody>
      </p:sp>
      <p:sp>
        <p:nvSpPr>
          <p:cNvPr id="9" name="Shape 6"/>
          <p:cNvSpPr/>
          <p:nvPr/>
        </p:nvSpPr>
        <p:spPr>
          <a:xfrm>
            <a:off x="822960" y="3840480"/>
            <a:ext cx="4709160" cy="1737360"/>
          </a:xfrm>
          <a:prstGeom prst="roundRect">
            <a:avLst>
              <a:gd name="adj" fmla="val 4211"/>
            </a:avLst>
          </a:prstGeom>
          <a:solidFill>
            <a:srgbClr val="F4F8FA"/>
          </a:solidFill>
          <a:ln/>
        </p:spPr>
      </p:sp>
      <p:sp>
        <p:nvSpPr>
          <p:cNvPr id="10" name="Text 7"/>
          <p:cNvSpPr/>
          <p:nvPr/>
        </p:nvSpPr>
        <p:spPr>
          <a:xfrm>
            <a:off x="1051560" y="3840480"/>
            <a:ext cx="4251960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i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employee's salary is overwritten with the same value — across the entire table.</a:t>
            </a:r>
            <a:endParaRPr lang="en-US" sz="1450" dirty="0"/>
          </a:p>
        </p:txBody>
      </p:sp>
      <p:sp>
        <p:nvSpPr>
          <p:cNvPr id="11" name="Shape 8"/>
          <p:cNvSpPr/>
          <p:nvPr/>
        </p:nvSpPr>
        <p:spPr>
          <a:xfrm>
            <a:off x="6172200" y="2011680"/>
            <a:ext cx="5257800" cy="3840480"/>
          </a:xfrm>
          <a:prstGeom prst="roundRect">
            <a:avLst>
              <a:gd name="adj" fmla="val 2857"/>
            </a:avLst>
          </a:prstGeom>
          <a:solidFill>
            <a:srgbClr val="FFFFFF"/>
          </a:solidFill>
          <a:ln/>
        </p:spPr>
      </p:sp>
      <p:sp>
        <p:nvSpPr>
          <p:cNvPr id="12" name="Text 9"/>
          <p:cNvSpPr/>
          <p:nvPr/>
        </p:nvSpPr>
        <p:spPr>
          <a:xfrm>
            <a:off x="6446520" y="2286000"/>
            <a:ext cx="4709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B03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DELETE without WHERE</a:t>
            </a:r>
            <a:endParaRPr lang="en-US" sz="1800" dirty="0"/>
          </a:p>
        </p:txBody>
      </p:sp>
      <p:sp>
        <p:nvSpPr>
          <p:cNvPr id="13" name="Text 10"/>
          <p:cNvSpPr/>
          <p:nvPr/>
        </p:nvSpPr>
        <p:spPr>
          <a:xfrm>
            <a:off x="6446520" y="2880360"/>
            <a:ext cx="47091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the WHERE clause is left out of a DELETE, the removal is not limited to one row.</a:t>
            </a:r>
            <a:endParaRPr lang="en-US" sz="1400" dirty="0"/>
          </a:p>
        </p:txBody>
      </p:sp>
      <p:sp>
        <p:nvSpPr>
          <p:cNvPr id="14" name="Shape 11"/>
          <p:cNvSpPr/>
          <p:nvPr/>
        </p:nvSpPr>
        <p:spPr>
          <a:xfrm>
            <a:off x="6446520" y="3840480"/>
            <a:ext cx="4709160" cy="1737360"/>
          </a:xfrm>
          <a:prstGeom prst="roundRect">
            <a:avLst>
              <a:gd name="adj" fmla="val 4211"/>
            </a:avLst>
          </a:prstGeom>
          <a:solidFill>
            <a:srgbClr val="F4F8FA"/>
          </a:solidFill>
          <a:ln/>
        </p:spPr>
      </p:sp>
      <p:sp>
        <p:nvSpPr>
          <p:cNvPr id="15" name="Text 12"/>
          <p:cNvSpPr/>
          <p:nvPr/>
        </p:nvSpPr>
        <p:spPr>
          <a:xfrm>
            <a:off x="6675120" y="3840480"/>
            <a:ext cx="4251960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i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row in the table is removed — the entire dataset is gone.</a:t>
            </a:r>
            <a:endParaRPr lang="en-US" sz="1450" dirty="0"/>
          </a:p>
        </p:txBody>
      </p:sp>
      <p:sp>
        <p:nvSpPr>
          <p:cNvPr id="16" name="Text 13"/>
          <p:cNvSpPr/>
          <p:nvPr/>
        </p:nvSpPr>
        <p:spPr>
          <a:xfrm>
            <a:off x="457200" y="64465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5B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 Fundamentals</a:t>
            </a:r>
            <a:endParaRPr lang="en-US" sz="1000" dirty="0"/>
          </a:p>
        </p:txBody>
      </p:sp>
      <p:sp>
        <p:nvSpPr>
          <p:cNvPr id="17" name="Text 14"/>
          <p:cNvSpPr/>
          <p:nvPr/>
        </p:nvSpPr>
        <p:spPr>
          <a:xfrm>
            <a:off x="11274552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Practical Activity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48640" y="105156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5B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Apply today's concepts hands-on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5120640" cy="4114800"/>
          </a:xfrm>
          <a:prstGeom prst="roundRect">
            <a:avLst>
              <a:gd name="adj" fmla="val 2667"/>
            </a:avLst>
          </a:prstGeom>
          <a:solidFill>
            <a:srgbClr val="F4F8FA"/>
          </a:solidFill>
          <a:ln/>
        </p:spPr>
      </p:sp>
      <p:sp>
        <p:nvSpPr>
          <p:cNvPr id="5" name="Shape 3"/>
          <p:cNvSpPr/>
          <p:nvPr/>
        </p:nvSpPr>
        <p:spPr>
          <a:xfrm>
            <a:off x="822960" y="1920240"/>
            <a:ext cx="731520" cy="731520"/>
          </a:xfrm>
          <a:prstGeom prst="ellipse">
            <a:avLst/>
          </a:prstGeom>
          <a:solidFill>
            <a:srgbClr val="065A82"/>
          </a:solidFill>
          <a:ln/>
        </p:spPr>
      </p:sp>
      <p:pic>
        <p:nvPicPr>
          <p:cNvPr id="6" name="Image 0" descr="databas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83894" y="2081174"/>
            <a:ext cx="409651" cy="409651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737360" y="1965960"/>
            <a:ext cx="37490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Build: CollegeDB → Student table</a:t>
            </a:r>
            <a:endParaRPr lang="en-US" sz="1600" dirty="0"/>
          </a:p>
        </p:txBody>
      </p:sp>
      <p:sp>
        <p:nvSpPr>
          <p:cNvPr id="8" name="Shape 5"/>
          <p:cNvSpPr/>
          <p:nvPr/>
        </p:nvSpPr>
        <p:spPr>
          <a:xfrm>
            <a:off x="822960" y="2834640"/>
            <a:ext cx="2194560" cy="384048"/>
          </a:xfrm>
          <a:prstGeom prst="roundRect">
            <a:avLst>
              <a:gd name="adj" fmla="val 50000"/>
            </a:avLst>
          </a:prstGeom>
          <a:solidFill>
            <a:srgbClr val="065A82"/>
          </a:solidFill>
          <a:ln/>
        </p:spPr>
      </p:sp>
      <p:sp>
        <p:nvSpPr>
          <p:cNvPr id="9" name="Text 6"/>
          <p:cNvSpPr/>
          <p:nvPr/>
        </p:nvSpPr>
        <p:spPr>
          <a:xfrm>
            <a:off x="822960" y="2834640"/>
            <a:ext cx="21945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student_id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822960" y="3310128"/>
            <a:ext cx="2194560" cy="384048"/>
          </a:xfrm>
          <a:prstGeom prst="roundRect">
            <a:avLst>
              <a:gd name="adj" fmla="val 50000"/>
            </a:avLst>
          </a:prstGeom>
          <a:solidFill>
            <a:srgbClr val="065A82"/>
          </a:solidFill>
          <a:ln/>
        </p:spPr>
      </p:sp>
      <p:sp>
        <p:nvSpPr>
          <p:cNvPr id="11" name="Text 8"/>
          <p:cNvSpPr/>
          <p:nvPr/>
        </p:nvSpPr>
        <p:spPr>
          <a:xfrm>
            <a:off x="822960" y="3310128"/>
            <a:ext cx="21945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name</a:t>
            </a:r>
            <a:endParaRPr lang="en-US" sz="1200" dirty="0"/>
          </a:p>
        </p:txBody>
      </p:sp>
      <p:sp>
        <p:nvSpPr>
          <p:cNvPr id="12" name="Shape 9"/>
          <p:cNvSpPr/>
          <p:nvPr/>
        </p:nvSpPr>
        <p:spPr>
          <a:xfrm>
            <a:off x="822960" y="3785616"/>
            <a:ext cx="2194560" cy="384048"/>
          </a:xfrm>
          <a:prstGeom prst="roundRect">
            <a:avLst>
              <a:gd name="adj" fmla="val 50000"/>
            </a:avLst>
          </a:prstGeom>
          <a:solidFill>
            <a:srgbClr val="065A82"/>
          </a:solidFill>
          <a:ln/>
        </p:spPr>
      </p:sp>
      <p:sp>
        <p:nvSpPr>
          <p:cNvPr id="13" name="Text 10"/>
          <p:cNvSpPr/>
          <p:nvPr/>
        </p:nvSpPr>
        <p:spPr>
          <a:xfrm>
            <a:off x="822960" y="3785616"/>
            <a:ext cx="21945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age</a:t>
            </a:r>
            <a:endParaRPr lang="en-US" sz="1200" dirty="0"/>
          </a:p>
        </p:txBody>
      </p:sp>
      <p:sp>
        <p:nvSpPr>
          <p:cNvPr id="14" name="Shape 11"/>
          <p:cNvSpPr/>
          <p:nvPr/>
        </p:nvSpPr>
        <p:spPr>
          <a:xfrm>
            <a:off x="822960" y="4261104"/>
            <a:ext cx="2194560" cy="384048"/>
          </a:xfrm>
          <a:prstGeom prst="roundRect">
            <a:avLst>
              <a:gd name="adj" fmla="val 50000"/>
            </a:avLst>
          </a:prstGeom>
          <a:solidFill>
            <a:srgbClr val="065A82"/>
          </a:solidFill>
          <a:ln/>
        </p:spPr>
      </p:sp>
      <p:sp>
        <p:nvSpPr>
          <p:cNvPr id="15" name="Text 12"/>
          <p:cNvSpPr/>
          <p:nvPr/>
        </p:nvSpPr>
        <p:spPr>
          <a:xfrm>
            <a:off x="822960" y="4261104"/>
            <a:ext cx="21945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branch</a:t>
            </a:r>
            <a:endParaRPr lang="en-US" sz="1200" dirty="0"/>
          </a:p>
        </p:txBody>
      </p:sp>
      <p:sp>
        <p:nvSpPr>
          <p:cNvPr id="16" name="Shape 13"/>
          <p:cNvSpPr/>
          <p:nvPr/>
        </p:nvSpPr>
        <p:spPr>
          <a:xfrm>
            <a:off x="822960" y="4736592"/>
            <a:ext cx="2194560" cy="384048"/>
          </a:xfrm>
          <a:prstGeom prst="roundRect">
            <a:avLst>
              <a:gd name="adj" fmla="val 50000"/>
            </a:avLst>
          </a:prstGeom>
          <a:solidFill>
            <a:srgbClr val="065A82"/>
          </a:solidFill>
          <a:ln/>
        </p:spPr>
      </p:sp>
      <p:sp>
        <p:nvSpPr>
          <p:cNvPr id="17" name="Text 14"/>
          <p:cNvSpPr/>
          <p:nvPr/>
        </p:nvSpPr>
        <p:spPr>
          <a:xfrm>
            <a:off x="822960" y="4736592"/>
            <a:ext cx="21945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marks</a:t>
            </a:r>
            <a:endParaRPr lang="en-US" sz="1200" dirty="0"/>
          </a:p>
        </p:txBody>
      </p:sp>
      <p:sp>
        <p:nvSpPr>
          <p:cNvPr id="18" name="Shape 15"/>
          <p:cNvSpPr/>
          <p:nvPr/>
        </p:nvSpPr>
        <p:spPr>
          <a:xfrm>
            <a:off x="5943600" y="1691640"/>
            <a:ext cx="5669280" cy="4114800"/>
          </a:xfrm>
          <a:prstGeom prst="roundRect">
            <a:avLst>
              <a:gd name="adj" fmla="val 2667"/>
            </a:avLst>
          </a:prstGeom>
          <a:solidFill>
            <a:srgbClr val="21295C"/>
          </a:solidFill>
          <a:ln/>
        </p:spPr>
      </p:sp>
      <p:sp>
        <p:nvSpPr>
          <p:cNvPr id="19" name="Text 16"/>
          <p:cNvSpPr/>
          <p:nvPr/>
        </p:nvSpPr>
        <p:spPr>
          <a:xfrm>
            <a:off x="6217920" y="1874520"/>
            <a:ext cx="5120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8FD3E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Tasks</a:t>
            </a:r>
            <a:endParaRPr lang="en-US" sz="1800" dirty="0"/>
          </a:p>
        </p:txBody>
      </p:sp>
      <p:sp>
        <p:nvSpPr>
          <p:cNvPr id="20" name="Shape 17"/>
          <p:cNvSpPr/>
          <p:nvPr/>
        </p:nvSpPr>
        <p:spPr>
          <a:xfrm>
            <a:off x="6217920" y="2496312"/>
            <a:ext cx="256032" cy="256032"/>
          </a:xfrm>
          <a:prstGeom prst="ellipse">
            <a:avLst/>
          </a:prstGeom>
          <a:solidFill>
            <a:srgbClr val="21295C"/>
          </a:solidFill>
          <a:ln w="19050">
            <a:solidFill>
              <a:srgbClr val="8FD3E8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6629400" y="2423160"/>
            <a:ext cx="4800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Insert 5 student records</a:t>
            </a:r>
            <a:endParaRPr lang="en-US" sz="1400" dirty="0"/>
          </a:p>
        </p:txBody>
      </p:sp>
      <p:sp>
        <p:nvSpPr>
          <p:cNvPr id="22" name="Shape 19"/>
          <p:cNvSpPr/>
          <p:nvPr/>
        </p:nvSpPr>
        <p:spPr>
          <a:xfrm>
            <a:off x="6217920" y="3044952"/>
            <a:ext cx="256032" cy="256032"/>
          </a:xfrm>
          <a:prstGeom prst="ellipse">
            <a:avLst/>
          </a:prstGeom>
          <a:solidFill>
            <a:srgbClr val="21295C"/>
          </a:solidFill>
          <a:ln w="19050">
            <a:solidFill>
              <a:srgbClr val="8FD3E8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6629400" y="2971800"/>
            <a:ext cx="4800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Display all students</a:t>
            </a:r>
            <a:endParaRPr lang="en-US" sz="1400" dirty="0"/>
          </a:p>
        </p:txBody>
      </p:sp>
      <p:sp>
        <p:nvSpPr>
          <p:cNvPr id="24" name="Shape 21"/>
          <p:cNvSpPr/>
          <p:nvPr/>
        </p:nvSpPr>
        <p:spPr>
          <a:xfrm>
            <a:off x="6217920" y="3593592"/>
            <a:ext cx="256032" cy="256032"/>
          </a:xfrm>
          <a:prstGeom prst="ellipse">
            <a:avLst/>
          </a:prstGeom>
          <a:solidFill>
            <a:srgbClr val="21295C"/>
          </a:solidFill>
          <a:ln w="19050">
            <a:solidFill>
              <a:srgbClr val="8FD3E8"/>
            </a:solidFill>
            <a:prstDash val="solid"/>
          </a:ln>
        </p:spPr>
      </p:sp>
      <p:sp>
        <p:nvSpPr>
          <p:cNvPr id="25" name="Text 22"/>
          <p:cNvSpPr/>
          <p:nvPr/>
        </p:nvSpPr>
        <p:spPr>
          <a:xfrm>
            <a:off x="6629400" y="3520440"/>
            <a:ext cx="4800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Display only names</a:t>
            </a:r>
            <a:endParaRPr lang="en-US" sz="1400" dirty="0"/>
          </a:p>
        </p:txBody>
      </p:sp>
      <p:sp>
        <p:nvSpPr>
          <p:cNvPr id="26" name="Shape 23"/>
          <p:cNvSpPr/>
          <p:nvPr/>
        </p:nvSpPr>
        <p:spPr>
          <a:xfrm>
            <a:off x="6217920" y="4142232"/>
            <a:ext cx="256032" cy="256032"/>
          </a:xfrm>
          <a:prstGeom prst="ellipse">
            <a:avLst/>
          </a:prstGeom>
          <a:solidFill>
            <a:srgbClr val="21295C"/>
          </a:solidFill>
          <a:ln w="19050">
            <a:solidFill>
              <a:srgbClr val="8FD3E8"/>
            </a:solidFill>
            <a:prstDash val="solid"/>
          </a:ln>
        </p:spPr>
      </p:sp>
      <p:sp>
        <p:nvSpPr>
          <p:cNvPr id="27" name="Text 24"/>
          <p:cNvSpPr/>
          <p:nvPr/>
        </p:nvSpPr>
        <p:spPr>
          <a:xfrm>
            <a:off x="6629400" y="4069080"/>
            <a:ext cx="4800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Display students with marks greater than 80</a:t>
            </a:r>
            <a:endParaRPr lang="en-US" sz="1400" dirty="0"/>
          </a:p>
        </p:txBody>
      </p:sp>
      <p:sp>
        <p:nvSpPr>
          <p:cNvPr id="28" name="Shape 25"/>
          <p:cNvSpPr/>
          <p:nvPr/>
        </p:nvSpPr>
        <p:spPr>
          <a:xfrm>
            <a:off x="6217920" y="4690872"/>
            <a:ext cx="256032" cy="256032"/>
          </a:xfrm>
          <a:prstGeom prst="ellipse">
            <a:avLst/>
          </a:prstGeom>
          <a:solidFill>
            <a:srgbClr val="21295C"/>
          </a:solidFill>
          <a:ln w="19050">
            <a:solidFill>
              <a:srgbClr val="8FD3E8"/>
            </a:solidFill>
            <a:prstDash val="solid"/>
          </a:ln>
        </p:spPr>
      </p:sp>
      <p:sp>
        <p:nvSpPr>
          <p:cNvPr id="29" name="Text 26"/>
          <p:cNvSpPr/>
          <p:nvPr/>
        </p:nvSpPr>
        <p:spPr>
          <a:xfrm>
            <a:off x="6629400" y="4617720"/>
            <a:ext cx="4800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Update one student's marks</a:t>
            </a:r>
            <a:endParaRPr lang="en-US" sz="1400" dirty="0"/>
          </a:p>
        </p:txBody>
      </p:sp>
      <p:sp>
        <p:nvSpPr>
          <p:cNvPr id="30" name="Shape 27"/>
          <p:cNvSpPr/>
          <p:nvPr/>
        </p:nvSpPr>
        <p:spPr>
          <a:xfrm>
            <a:off x="6217920" y="5239512"/>
            <a:ext cx="256032" cy="256032"/>
          </a:xfrm>
          <a:prstGeom prst="ellipse">
            <a:avLst/>
          </a:prstGeom>
          <a:solidFill>
            <a:srgbClr val="21295C"/>
          </a:solidFill>
          <a:ln w="19050">
            <a:solidFill>
              <a:srgbClr val="8FD3E8"/>
            </a:solidFill>
            <a:prstDash val="solid"/>
          </a:ln>
        </p:spPr>
      </p:sp>
      <p:sp>
        <p:nvSpPr>
          <p:cNvPr id="31" name="Text 28"/>
          <p:cNvSpPr/>
          <p:nvPr/>
        </p:nvSpPr>
        <p:spPr>
          <a:xfrm>
            <a:off x="6629400" y="5166360"/>
            <a:ext cx="4800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Delete one student</a:t>
            </a:r>
            <a:endParaRPr lang="en-US" sz="1400" dirty="0"/>
          </a:p>
        </p:txBody>
      </p:sp>
      <p:sp>
        <p:nvSpPr>
          <p:cNvPr id="32" name="Text 29"/>
          <p:cNvSpPr/>
          <p:nvPr/>
        </p:nvSpPr>
        <p:spPr>
          <a:xfrm>
            <a:off x="457200" y="64465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5B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 Fundamentals</a:t>
            </a:r>
            <a:endParaRPr lang="en-US" sz="1000" dirty="0"/>
          </a:p>
        </p:txBody>
      </p:sp>
      <p:sp>
        <p:nvSpPr>
          <p:cNvPr id="33" name="Text 30"/>
          <p:cNvSpPr/>
          <p:nvPr/>
        </p:nvSpPr>
        <p:spPr>
          <a:xfrm>
            <a:off x="11274552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Interview Questions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48640" y="105156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5B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Common questions to test understanding of today's topics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1737360"/>
            <a:ext cx="5257800" cy="868680"/>
          </a:xfrm>
          <a:prstGeom prst="roundRect">
            <a:avLst>
              <a:gd name="adj" fmla="val 10526"/>
            </a:avLst>
          </a:prstGeom>
          <a:solidFill>
            <a:srgbClr val="E8F1F5"/>
          </a:solidFill>
          <a:ln/>
        </p:spPr>
      </p:sp>
      <p:sp>
        <p:nvSpPr>
          <p:cNvPr id="5" name="Shape 3"/>
          <p:cNvSpPr/>
          <p:nvPr/>
        </p:nvSpPr>
        <p:spPr>
          <a:xfrm>
            <a:off x="731520" y="1943100"/>
            <a:ext cx="457200" cy="45720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6" name="Text 4"/>
          <p:cNvSpPr/>
          <p:nvPr/>
        </p:nvSpPr>
        <p:spPr>
          <a:xfrm>
            <a:off x="731520" y="194310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371600" y="1737360"/>
            <a:ext cx="425196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a data type?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548640" y="2788920"/>
            <a:ext cx="5257800" cy="868680"/>
          </a:xfrm>
          <a:prstGeom prst="roundRect">
            <a:avLst>
              <a:gd name="adj" fmla="val 10526"/>
            </a:avLst>
          </a:prstGeom>
          <a:solidFill>
            <a:srgbClr val="F4F8FA"/>
          </a:solidFill>
          <a:ln/>
        </p:spPr>
      </p:sp>
      <p:sp>
        <p:nvSpPr>
          <p:cNvPr id="9" name="Shape 7"/>
          <p:cNvSpPr/>
          <p:nvPr/>
        </p:nvSpPr>
        <p:spPr>
          <a:xfrm>
            <a:off x="731520" y="2994660"/>
            <a:ext cx="457200" cy="45720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10" name="Text 8"/>
          <p:cNvSpPr/>
          <p:nvPr/>
        </p:nvSpPr>
        <p:spPr>
          <a:xfrm>
            <a:off x="731520" y="299466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1371600" y="2788920"/>
            <a:ext cx="425196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do we use VARCHAR instead of INT for names?</a:t>
            </a:r>
            <a:endParaRPr lang="en-US" sz="1350" dirty="0"/>
          </a:p>
        </p:txBody>
      </p:sp>
      <p:sp>
        <p:nvSpPr>
          <p:cNvPr id="12" name="Shape 10"/>
          <p:cNvSpPr/>
          <p:nvPr/>
        </p:nvSpPr>
        <p:spPr>
          <a:xfrm>
            <a:off x="548640" y="3840480"/>
            <a:ext cx="5257800" cy="868680"/>
          </a:xfrm>
          <a:prstGeom prst="roundRect">
            <a:avLst>
              <a:gd name="adj" fmla="val 10526"/>
            </a:avLst>
          </a:prstGeom>
          <a:solidFill>
            <a:srgbClr val="E8F1F5"/>
          </a:solidFill>
          <a:ln/>
        </p:spPr>
      </p:sp>
      <p:sp>
        <p:nvSpPr>
          <p:cNvPr id="13" name="Shape 11"/>
          <p:cNvSpPr/>
          <p:nvPr/>
        </p:nvSpPr>
        <p:spPr>
          <a:xfrm>
            <a:off x="731520" y="4046220"/>
            <a:ext cx="457200" cy="45720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14" name="Text 12"/>
          <p:cNvSpPr/>
          <p:nvPr/>
        </p:nvSpPr>
        <p:spPr>
          <a:xfrm>
            <a:off x="731520" y="404622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1371600" y="3840480"/>
            <a:ext cx="425196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a Primary Key?</a:t>
            </a:r>
            <a:endParaRPr lang="en-US" sz="1350" dirty="0"/>
          </a:p>
        </p:txBody>
      </p:sp>
      <p:sp>
        <p:nvSpPr>
          <p:cNvPr id="16" name="Shape 14"/>
          <p:cNvSpPr/>
          <p:nvPr/>
        </p:nvSpPr>
        <p:spPr>
          <a:xfrm>
            <a:off x="548640" y="4892040"/>
            <a:ext cx="5257800" cy="868680"/>
          </a:xfrm>
          <a:prstGeom prst="roundRect">
            <a:avLst>
              <a:gd name="adj" fmla="val 10526"/>
            </a:avLst>
          </a:prstGeom>
          <a:solidFill>
            <a:srgbClr val="F4F8FA"/>
          </a:solidFill>
          <a:ln/>
        </p:spPr>
      </p:sp>
      <p:sp>
        <p:nvSpPr>
          <p:cNvPr id="17" name="Shape 15"/>
          <p:cNvSpPr/>
          <p:nvPr/>
        </p:nvSpPr>
        <p:spPr>
          <a:xfrm>
            <a:off x="731520" y="5097780"/>
            <a:ext cx="457200" cy="45720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18" name="Text 16"/>
          <p:cNvSpPr/>
          <p:nvPr/>
        </p:nvSpPr>
        <p:spPr>
          <a:xfrm>
            <a:off x="731520" y="509778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1371600" y="4892040"/>
            <a:ext cx="425196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Difference between CHAR and VARCHAR?</a:t>
            </a:r>
            <a:endParaRPr lang="en-US" sz="1350" dirty="0"/>
          </a:p>
        </p:txBody>
      </p:sp>
      <p:sp>
        <p:nvSpPr>
          <p:cNvPr id="20" name="Shape 18"/>
          <p:cNvSpPr/>
          <p:nvPr/>
        </p:nvSpPr>
        <p:spPr>
          <a:xfrm>
            <a:off x="6172200" y="1737360"/>
            <a:ext cx="5257800" cy="868680"/>
          </a:xfrm>
          <a:prstGeom prst="roundRect">
            <a:avLst>
              <a:gd name="adj" fmla="val 10526"/>
            </a:avLst>
          </a:prstGeom>
          <a:solidFill>
            <a:srgbClr val="E8F1F5"/>
          </a:solidFill>
          <a:ln/>
        </p:spPr>
      </p:sp>
      <p:sp>
        <p:nvSpPr>
          <p:cNvPr id="21" name="Shape 19"/>
          <p:cNvSpPr/>
          <p:nvPr/>
        </p:nvSpPr>
        <p:spPr>
          <a:xfrm>
            <a:off x="6355080" y="1943100"/>
            <a:ext cx="457200" cy="45720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22" name="Text 20"/>
          <p:cNvSpPr/>
          <p:nvPr/>
        </p:nvSpPr>
        <p:spPr>
          <a:xfrm>
            <a:off x="6355080" y="194310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6995160" y="1737360"/>
            <a:ext cx="425196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DECIMAL used for?</a:t>
            </a:r>
            <a:endParaRPr lang="en-US" sz="1350" dirty="0"/>
          </a:p>
        </p:txBody>
      </p:sp>
      <p:sp>
        <p:nvSpPr>
          <p:cNvPr id="24" name="Shape 22"/>
          <p:cNvSpPr/>
          <p:nvPr/>
        </p:nvSpPr>
        <p:spPr>
          <a:xfrm>
            <a:off x="6172200" y="2788920"/>
            <a:ext cx="5257800" cy="868680"/>
          </a:xfrm>
          <a:prstGeom prst="roundRect">
            <a:avLst>
              <a:gd name="adj" fmla="val 10526"/>
            </a:avLst>
          </a:prstGeom>
          <a:solidFill>
            <a:srgbClr val="F4F8FA"/>
          </a:solidFill>
          <a:ln/>
        </p:spPr>
      </p:sp>
      <p:sp>
        <p:nvSpPr>
          <p:cNvPr id="25" name="Shape 23"/>
          <p:cNvSpPr/>
          <p:nvPr/>
        </p:nvSpPr>
        <p:spPr>
          <a:xfrm>
            <a:off x="6355080" y="2994660"/>
            <a:ext cx="457200" cy="45720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26" name="Text 24"/>
          <p:cNvSpPr/>
          <p:nvPr/>
        </p:nvSpPr>
        <p:spPr>
          <a:xfrm>
            <a:off x="6355080" y="299466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6995160" y="2788920"/>
            <a:ext cx="425196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happens if UPDATE is used without WHERE?</a:t>
            </a:r>
            <a:endParaRPr lang="en-US" sz="1350" dirty="0"/>
          </a:p>
        </p:txBody>
      </p:sp>
      <p:sp>
        <p:nvSpPr>
          <p:cNvPr id="28" name="Shape 26"/>
          <p:cNvSpPr/>
          <p:nvPr/>
        </p:nvSpPr>
        <p:spPr>
          <a:xfrm>
            <a:off x="6172200" y="3840480"/>
            <a:ext cx="5257800" cy="868680"/>
          </a:xfrm>
          <a:prstGeom prst="roundRect">
            <a:avLst>
              <a:gd name="adj" fmla="val 10526"/>
            </a:avLst>
          </a:prstGeom>
          <a:solidFill>
            <a:srgbClr val="E8F1F5"/>
          </a:solidFill>
          <a:ln/>
        </p:spPr>
      </p:sp>
      <p:sp>
        <p:nvSpPr>
          <p:cNvPr id="29" name="Shape 27"/>
          <p:cNvSpPr/>
          <p:nvPr/>
        </p:nvSpPr>
        <p:spPr>
          <a:xfrm>
            <a:off x="6355080" y="4046220"/>
            <a:ext cx="457200" cy="45720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30" name="Text 28"/>
          <p:cNvSpPr/>
          <p:nvPr/>
        </p:nvSpPr>
        <p:spPr>
          <a:xfrm>
            <a:off x="6355080" y="404622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</a:t>
            </a:r>
            <a:endParaRPr lang="en-US" sz="1400" dirty="0"/>
          </a:p>
        </p:txBody>
      </p:sp>
      <p:sp>
        <p:nvSpPr>
          <p:cNvPr id="31" name="Text 29"/>
          <p:cNvSpPr/>
          <p:nvPr/>
        </p:nvSpPr>
        <p:spPr>
          <a:xfrm>
            <a:off x="6995160" y="3840480"/>
            <a:ext cx="425196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happens if DELETE is used without WHERE?</a:t>
            </a:r>
            <a:endParaRPr lang="en-US" sz="1350" dirty="0"/>
          </a:p>
        </p:txBody>
      </p:sp>
      <p:sp>
        <p:nvSpPr>
          <p:cNvPr id="32" name="Text 30"/>
          <p:cNvSpPr/>
          <p:nvPr/>
        </p:nvSpPr>
        <p:spPr>
          <a:xfrm>
            <a:off x="457200" y="64465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5B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 Fundamentals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11274552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10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2129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7315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Real-World Connection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640080" y="114300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C7DC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Map every SQL concept to an Employee Management System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640080" y="1874520"/>
            <a:ext cx="2514600" cy="1828800"/>
          </a:xfrm>
          <a:prstGeom prst="roundRect">
            <a:avLst>
              <a:gd name="adj" fmla="val 5000"/>
            </a:avLst>
          </a:prstGeom>
          <a:solidFill>
            <a:srgbClr val="1C7293">
              <a:alpha val="85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1577340" y="2057400"/>
            <a:ext cx="640080" cy="640080"/>
          </a:xfrm>
          <a:prstGeom prst="ellipse">
            <a:avLst/>
          </a:prstGeom>
          <a:solidFill>
            <a:srgbClr val="065A82"/>
          </a:solidFill>
          <a:ln/>
        </p:spPr>
      </p:sp>
      <p:pic>
        <p:nvPicPr>
          <p:cNvPr id="6" name="Image 0" descr="plu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718158" y="2198218"/>
            <a:ext cx="358445" cy="358445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731520" y="2788920"/>
            <a:ext cx="2331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Employee joins</a:t>
            </a:r>
            <a:endParaRPr lang="en-US" sz="1250" dirty="0"/>
          </a:p>
        </p:txBody>
      </p:sp>
      <p:sp>
        <p:nvSpPr>
          <p:cNvPr id="8" name="Text 5"/>
          <p:cNvSpPr/>
          <p:nvPr/>
        </p:nvSpPr>
        <p:spPr>
          <a:xfrm>
            <a:off x="731520" y="3246120"/>
            <a:ext cx="2331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FD3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INSERT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3154680" y="2514600"/>
            <a:ext cx="320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8FD3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200" dirty="0"/>
          </a:p>
        </p:txBody>
      </p:sp>
      <p:sp>
        <p:nvSpPr>
          <p:cNvPr id="10" name="Shape 7"/>
          <p:cNvSpPr/>
          <p:nvPr/>
        </p:nvSpPr>
        <p:spPr>
          <a:xfrm>
            <a:off x="3474720" y="1874520"/>
            <a:ext cx="2514600" cy="1828800"/>
          </a:xfrm>
          <a:prstGeom prst="roundRect">
            <a:avLst>
              <a:gd name="adj" fmla="val 5000"/>
            </a:avLst>
          </a:prstGeom>
          <a:solidFill>
            <a:srgbClr val="1C7293">
              <a:alpha val="85000"/>
            </a:srgbClr>
          </a:solidFill>
          <a:ln/>
        </p:spPr>
      </p:sp>
      <p:sp>
        <p:nvSpPr>
          <p:cNvPr id="11" name="Shape 8"/>
          <p:cNvSpPr/>
          <p:nvPr/>
        </p:nvSpPr>
        <p:spPr>
          <a:xfrm>
            <a:off x="4411980" y="2057400"/>
            <a:ext cx="640080" cy="640080"/>
          </a:xfrm>
          <a:prstGeom prst="ellipse">
            <a:avLst/>
          </a:prstGeom>
          <a:solidFill>
            <a:srgbClr val="065A82"/>
          </a:solidFill>
          <a:ln/>
        </p:spPr>
      </p:sp>
      <p:pic>
        <p:nvPicPr>
          <p:cNvPr id="12" name="Image 1" descr="search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52798" y="2198218"/>
            <a:ext cx="358445" cy="358445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3566160" y="2788920"/>
            <a:ext cx="2331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HR checks details</a:t>
            </a:r>
            <a:endParaRPr lang="en-US" sz="1250" dirty="0"/>
          </a:p>
        </p:txBody>
      </p:sp>
      <p:sp>
        <p:nvSpPr>
          <p:cNvPr id="14" name="Text 10"/>
          <p:cNvSpPr/>
          <p:nvPr/>
        </p:nvSpPr>
        <p:spPr>
          <a:xfrm>
            <a:off x="3566160" y="3246120"/>
            <a:ext cx="2331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FD3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SELECT</a:t>
            </a:r>
            <a:endParaRPr lang="en-US" sz="1200" dirty="0"/>
          </a:p>
        </p:txBody>
      </p:sp>
      <p:sp>
        <p:nvSpPr>
          <p:cNvPr id="15" name="Text 11"/>
          <p:cNvSpPr/>
          <p:nvPr/>
        </p:nvSpPr>
        <p:spPr>
          <a:xfrm>
            <a:off x="5989320" y="2514600"/>
            <a:ext cx="320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8FD3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200" dirty="0"/>
          </a:p>
        </p:txBody>
      </p:sp>
      <p:sp>
        <p:nvSpPr>
          <p:cNvPr id="16" name="Shape 12"/>
          <p:cNvSpPr/>
          <p:nvPr/>
        </p:nvSpPr>
        <p:spPr>
          <a:xfrm>
            <a:off x="6309360" y="1874520"/>
            <a:ext cx="2514600" cy="1828800"/>
          </a:xfrm>
          <a:prstGeom prst="roundRect">
            <a:avLst>
              <a:gd name="adj" fmla="val 5000"/>
            </a:avLst>
          </a:prstGeom>
          <a:solidFill>
            <a:srgbClr val="1C7293">
              <a:alpha val="85000"/>
            </a:srgbClr>
          </a:solidFill>
          <a:ln/>
        </p:spPr>
      </p:sp>
      <p:sp>
        <p:nvSpPr>
          <p:cNvPr id="17" name="Shape 13"/>
          <p:cNvSpPr/>
          <p:nvPr/>
        </p:nvSpPr>
        <p:spPr>
          <a:xfrm>
            <a:off x="7246620" y="2057400"/>
            <a:ext cx="640080" cy="640080"/>
          </a:xfrm>
          <a:prstGeom prst="ellipse">
            <a:avLst/>
          </a:prstGeom>
          <a:solidFill>
            <a:srgbClr val="065A82"/>
          </a:solidFill>
          <a:ln/>
        </p:spPr>
      </p:sp>
      <p:pic>
        <p:nvPicPr>
          <p:cNvPr id="18" name="Image 2" descr="edit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87438" y="2198218"/>
            <a:ext cx="358445" cy="358445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6400800" y="2788920"/>
            <a:ext cx="2331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Salary revision</a:t>
            </a:r>
            <a:endParaRPr lang="en-US" sz="1250" dirty="0"/>
          </a:p>
        </p:txBody>
      </p:sp>
      <p:sp>
        <p:nvSpPr>
          <p:cNvPr id="20" name="Text 15"/>
          <p:cNvSpPr/>
          <p:nvPr/>
        </p:nvSpPr>
        <p:spPr>
          <a:xfrm>
            <a:off x="6400800" y="3246120"/>
            <a:ext cx="2331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FD3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UPDATE</a:t>
            </a:r>
            <a:endParaRPr lang="en-US" sz="1200" dirty="0"/>
          </a:p>
        </p:txBody>
      </p:sp>
      <p:sp>
        <p:nvSpPr>
          <p:cNvPr id="21" name="Text 16"/>
          <p:cNvSpPr/>
          <p:nvPr/>
        </p:nvSpPr>
        <p:spPr>
          <a:xfrm>
            <a:off x="8823960" y="2514600"/>
            <a:ext cx="320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8FD3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200" dirty="0"/>
          </a:p>
        </p:txBody>
      </p:sp>
      <p:sp>
        <p:nvSpPr>
          <p:cNvPr id="22" name="Shape 17"/>
          <p:cNvSpPr/>
          <p:nvPr/>
        </p:nvSpPr>
        <p:spPr>
          <a:xfrm>
            <a:off x="9144000" y="1874520"/>
            <a:ext cx="2514600" cy="1828800"/>
          </a:xfrm>
          <a:prstGeom prst="roundRect">
            <a:avLst>
              <a:gd name="adj" fmla="val 5000"/>
            </a:avLst>
          </a:prstGeom>
          <a:solidFill>
            <a:srgbClr val="1C7293">
              <a:alpha val="85000"/>
            </a:srgbClr>
          </a:solidFill>
          <a:ln/>
        </p:spPr>
      </p:sp>
      <p:sp>
        <p:nvSpPr>
          <p:cNvPr id="23" name="Shape 18"/>
          <p:cNvSpPr/>
          <p:nvPr/>
        </p:nvSpPr>
        <p:spPr>
          <a:xfrm>
            <a:off x="10081260" y="2057400"/>
            <a:ext cx="640080" cy="640080"/>
          </a:xfrm>
          <a:prstGeom prst="ellipse">
            <a:avLst/>
          </a:prstGeom>
          <a:solidFill>
            <a:srgbClr val="065A82"/>
          </a:solidFill>
          <a:ln/>
        </p:spPr>
      </p:sp>
      <p:pic>
        <p:nvPicPr>
          <p:cNvPr id="24" name="Image 3" descr="trash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222078" y="2198218"/>
            <a:ext cx="358445" cy="358445"/>
          </a:xfrm>
          <a:prstGeom prst="rect">
            <a:avLst/>
          </a:prstGeom>
        </p:spPr>
      </p:pic>
      <p:sp>
        <p:nvSpPr>
          <p:cNvPr id="25" name="Text 19"/>
          <p:cNvSpPr/>
          <p:nvPr/>
        </p:nvSpPr>
        <p:spPr>
          <a:xfrm>
            <a:off x="9235440" y="2788920"/>
            <a:ext cx="2331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Employee resigns</a:t>
            </a:r>
            <a:endParaRPr lang="en-US" sz="1250" dirty="0"/>
          </a:p>
        </p:txBody>
      </p:sp>
      <p:sp>
        <p:nvSpPr>
          <p:cNvPr id="26" name="Text 20"/>
          <p:cNvSpPr/>
          <p:nvPr/>
        </p:nvSpPr>
        <p:spPr>
          <a:xfrm>
            <a:off x="9235440" y="3246120"/>
            <a:ext cx="2331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FD3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DELETE</a:t>
            </a:r>
            <a:endParaRPr lang="en-US" sz="1200" dirty="0"/>
          </a:p>
        </p:txBody>
      </p:sp>
      <p:sp>
        <p:nvSpPr>
          <p:cNvPr id="27" name="Shape 21"/>
          <p:cNvSpPr/>
          <p:nvPr/>
        </p:nvSpPr>
        <p:spPr>
          <a:xfrm>
            <a:off x="640080" y="4114800"/>
            <a:ext cx="10881360" cy="2011680"/>
          </a:xfrm>
          <a:prstGeom prst="roundRect">
            <a:avLst>
              <a:gd name="adj" fmla="val 5455"/>
            </a:avLst>
          </a:prstGeom>
          <a:solidFill>
            <a:srgbClr val="FFFFFF"/>
          </a:solidFill>
          <a:ln/>
        </p:spPr>
      </p:sp>
      <p:sp>
        <p:nvSpPr>
          <p:cNvPr id="28" name="Text 22"/>
          <p:cNvSpPr/>
          <p:nvPr/>
        </p:nvSpPr>
        <p:spPr>
          <a:xfrm>
            <a:off x="914400" y="4343400"/>
            <a:ext cx="10332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Coming Up Next Class</a:t>
            </a:r>
            <a:endParaRPr lang="en-US" sz="1800" dirty="0"/>
          </a:p>
        </p:txBody>
      </p:sp>
      <p:sp>
        <p:nvSpPr>
          <p:cNvPr id="29" name="Text 23"/>
          <p:cNvSpPr/>
          <p:nvPr/>
        </p:nvSpPr>
        <p:spPr>
          <a:xfrm>
            <a:off x="914400" y="4846320"/>
            <a:ext cx="1033272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600" i="1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We'll learn how to sort records, remove duplicates, perform calculations using aggregate functions, and generate reports using GROUP BY and HAVING.</a:t>
            </a:r>
            <a:endParaRPr lang="en-US" sz="1600" dirty="0"/>
          </a:p>
        </p:txBody>
      </p:sp>
      <p:sp>
        <p:nvSpPr>
          <p:cNvPr id="30" name="Text 24"/>
          <p:cNvSpPr/>
          <p:nvPr/>
        </p:nvSpPr>
        <p:spPr>
          <a:xfrm>
            <a:off x="457200" y="64465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5B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 Fundamentals</a:t>
            </a:r>
            <a:endParaRPr lang="en-US" sz="1000" dirty="0"/>
          </a:p>
        </p:txBody>
      </p:sp>
      <p:sp>
        <p:nvSpPr>
          <p:cNvPr id="31" name="Text 25"/>
          <p:cNvSpPr/>
          <p:nvPr/>
        </p:nvSpPr>
        <p:spPr>
          <a:xfrm>
            <a:off x="11274552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2026-07-29T15:20:36Z</dcterms:created>
  <dcterms:modified xsi:type="dcterms:W3CDTF">2026-07-29T15:20:36Z</dcterms:modified>
</cp:coreProperties>
</file>