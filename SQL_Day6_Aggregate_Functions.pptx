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3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4916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463040"/>
            <a:ext cx="4754880" cy="47548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3840480"/>
            <a:ext cx="3840480" cy="3840480"/>
          </a:xfrm>
          <a:prstGeom prst="ellipse">
            <a:avLst/>
          </a:prstGeom>
          <a:solidFill>
            <a:srgbClr val="16213E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  ·  DAY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 Functions,</a:t>
            </a:r>
            <a:endParaRPr lang="en-US" sz="4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BY &amp; HAVING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counting rows to summarizing business data like a real analyst.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C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COUNT()   SUM()   AVG()   MIN()   MAX()   GROUP BY   HAVING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CLASS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67335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aggregate functions: COUNT, SUM, AVG, MIN, MAX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5328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5146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totals and averages for numeric columns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37413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33558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minimum and maximum values in a dataset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21538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419709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records using GROUP BY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50566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50383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grouped results using HAVING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 · Day 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01200" y="6537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· 10 MINUTES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 Start — Quick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3736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50800" dist="25400" dir="5400000" algn="bl" rotWithShape="0">
              <a:srgbClr val="1A1A2E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3736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73736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SELECT?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50800" dist="25400" dir="5400000" algn="bl" rotWithShape="0">
              <a:srgbClr val="1A1A2E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56032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256032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WHERE?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50800" dist="25400" dir="5400000" algn="bl" rotWithShape="0">
              <a:srgbClr val="1A1A2E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38328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338328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DISTINCT and ORDER BY?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50800" dist="25400" dir="5400000" algn="bl" rotWithShape="0">
              <a:srgbClr val="1A1A2E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20624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420624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AND and OR?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50800" dist="25400" dir="5400000" algn="bl" rotWithShape="0">
              <a:srgbClr val="1A1A2E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502920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502920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LIMIT?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 · Day 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01200" y="6537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Table — Employee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6309360" cy="3246120"/>
          </a:xfrm>
          <a:prstGeom prst="roundRect">
            <a:avLst>
              <a:gd name="adj" fmla="val 2254"/>
            </a:avLst>
          </a:prstGeom>
          <a:solidFill>
            <a:srgbClr val="16213E"/>
          </a:solidFill>
          <a:ln/>
          <a:effectLst>
            <a:outerShdw blurRad="76200" dist="381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465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7465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7465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7190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create_employee.sql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984248"/>
            <a:ext cx="57972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Employee(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INT PRIMARY KEY,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VARCHAR(50),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 INT,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department VARCHAR(30),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salary DECIMAL(10,2)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Employee VALUES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(101,'Rahul',24,'IT',50000),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(102,'Priya',23,'HR',45000),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(103,'Hari',30,'IT',70000),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(104,'Anjali',25,'Finance',65000),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(105,'Kiran',28,'HR',55000),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(106,'Ravi',32,'IT',60000);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086600" y="160934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TABLE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920240"/>
          <a:ext cx="4526280" cy="2176272"/>
        </p:xfrm>
        <a:graphic>
          <a:graphicData uri="http://schemas.openxmlformats.org/drawingml/2006/table">
            <a:tbl>
              <a:tblPr/>
              <a:tblGrid>
                <a:gridCol w="1131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1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1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1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Anjali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086600" y="43434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table every example in today's class runs against.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 · Day 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601200" y="6537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 Functions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aggregate function performs a calculation on multiple rows and returns ONE result.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084832" cy="29260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635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71016" y="26517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271016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93192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records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98064" y="2331720"/>
            <a:ext cx="2084832" cy="29260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635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26517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20" dirty="0"/>
          </a:p>
        </p:txBody>
      </p:sp>
      <p:sp>
        <p:nvSpPr>
          <p:cNvPr id="14" name="Text 12"/>
          <p:cNvSpPr/>
          <p:nvPr/>
        </p:nvSpPr>
        <p:spPr>
          <a:xfrm>
            <a:off x="2798064" y="34747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35224" y="393192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all values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47488" y="2331720"/>
            <a:ext cx="2084832" cy="29260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635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9864" y="2651760"/>
            <a:ext cx="640080" cy="64008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8" name="Text 16"/>
          <p:cNvSpPr/>
          <p:nvPr/>
        </p:nvSpPr>
        <p:spPr>
          <a:xfrm>
            <a:off x="5769864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20" dirty="0"/>
          </a:p>
        </p:txBody>
      </p:sp>
      <p:sp>
        <p:nvSpPr>
          <p:cNvPr id="19" name="Text 17"/>
          <p:cNvSpPr/>
          <p:nvPr/>
        </p:nvSpPr>
        <p:spPr>
          <a:xfrm>
            <a:off x="5047488" y="34747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84648" y="393192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average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296912" y="2331720"/>
            <a:ext cx="2084832" cy="29260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635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19288" y="2651760"/>
            <a:ext cx="640080" cy="640080"/>
          </a:xfrm>
          <a:prstGeom prst="ellipse">
            <a:avLst/>
          </a:prstGeom>
          <a:solidFill>
            <a:srgbClr val="3D8361"/>
          </a:solidFill>
          <a:ln/>
        </p:spPr>
      </p:sp>
      <p:sp>
        <p:nvSpPr>
          <p:cNvPr id="23" name="Text 21"/>
          <p:cNvSpPr/>
          <p:nvPr/>
        </p:nvSpPr>
        <p:spPr>
          <a:xfrm>
            <a:off x="8019288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20" dirty="0"/>
          </a:p>
        </p:txBody>
      </p:sp>
      <p:sp>
        <p:nvSpPr>
          <p:cNvPr id="24" name="Text 22"/>
          <p:cNvSpPr/>
          <p:nvPr/>
        </p:nvSpPr>
        <p:spPr>
          <a:xfrm>
            <a:off x="7296912" y="34747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34072" y="393192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smallest value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546336" y="2331720"/>
            <a:ext cx="2084832" cy="29260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635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268712" y="2651760"/>
            <a:ext cx="640080" cy="64008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8" name="Text 26"/>
          <p:cNvSpPr/>
          <p:nvPr/>
        </p:nvSpPr>
        <p:spPr>
          <a:xfrm>
            <a:off x="10268712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20" dirty="0"/>
          </a:p>
        </p:txBody>
      </p:sp>
      <p:sp>
        <p:nvSpPr>
          <p:cNvPr id="29" name="Text 27"/>
          <p:cNvSpPr/>
          <p:nvPr/>
        </p:nvSpPr>
        <p:spPr>
          <a:xfrm>
            <a:off x="9546336" y="34747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83496" y="393192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largest value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 · Day 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601200" y="6537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 1 OF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COUNT() — Counting Records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6309360" cy="1417320"/>
          </a:xfrm>
          <a:prstGeom prst="roundRect">
            <a:avLst>
              <a:gd name="adj" fmla="val 5161"/>
            </a:avLst>
          </a:prstGeom>
          <a:solidFill>
            <a:srgbClr val="16213E"/>
          </a:solidFill>
          <a:ln/>
          <a:effectLst>
            <a:outerShdw blurRad="76200" dist="381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465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7465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7465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7190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count_all.sql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984248"/>
            <a:ext cx="5797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086600" y="160934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920240"/>
          <a:ext cx="4526280" cy="621792"/>
        </p:xfrm>
        <a:graphic>
          <a:graphicData uri="http://schemas.openxmlformats.org/drawingml/2006/table">
            <a:tbl>
              <a:tblPr/>
              <a:tblGrid>
                <a:gridCol w="4526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COUNT(*)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3246120"/>
            <a:ext cx="6309360" cy="1691640"/>
          </a:xfrm>
          <a:prstGeom prst="roundRect">
            <a:avLst>
              <a:gd name="adj" fmla="val 4324"/>
            </a:avLst>
          </a:prstGeom>
          <a:solidFill>
            <a:srgbClr val="16213E"/>
          </a:solidFill>
          <a:ln/>
          <a:effectLst>
            <a:outerShdw blurRad="76200" dist="381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13232" y="33924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2"/>
          <p:cNvSpPr/>
          <p:nvPr/>
        </p:nvSpPr>
        <p:spPr>
          <a:xfrm>
            <a:off x="914400" y="33924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3"/>
          <p:cNvSpPr/>
          <p:nvPr/>
        </p:nvSpPr>
        <p:spPr>
          <a:xfrm>
            <a:off x="1115568" y="33924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4"/>
          <p:cNvSpPr/>
          <p:nvPr/>
        </p:nvSpPr>
        <p:spPr>
          <a:xfrm>
            <a:off x="1371600" y="33649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count_it.sql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04672" y="3630168"/>
            <a:ext cx="57972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department = 'IT';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086600" y="325526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graphicFrame>
        <p:nvGraphicFramePr>
          <p:cNvPr id="2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3566160"/>
          <a:ext cx="4526280" cy="621792"/>
        </p:xfrm>
        <a:graphic>
          <a:graphicData uri="http://schemas.openxmlformats.org/drawingml/2006/table">
            <a:tbl>
              <a:tblPr/>
              <a:tblGrid>
                <a:gridCol w="4526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COUNT(*)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rows — not values — so COUNT(*) includes every row regardless of NULLs.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 · Day 6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601200" y="6537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 2 &amp; 3 OF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SUM() and AVG()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SUM() — Adds All Values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16213E"/>
          </a:solidFill>
          <a:ln/>
          <a:effectLst>
            <a:outerShdw blurRad="76200" dist="381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0208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0208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0208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258568"/>
            <a:ext cx="4882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SUM(salary)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5394960" cy="621792"/>
        </p:xfrm>
        <a:graphic>
          <a:graphicData uri="http://schemas.openxmlformats.org/drawingml/2006/table">
            <a:tbl>
              <a:tblPr/>
              <a:tblGrid>
                <a:gridCol w="539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SUM(salary)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345000.00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37947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6213E"/>
          </a:solidFill>
          <a:ln/>
          <a:effectLst>
            <a:outerShdw blurRad="76200" dist="381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3232" y="394106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1"/>
          <p:cNvSpPr/>
          <p:nvPr/>
        </p:nvSpPr>
        <p:spPr>
          <a:xfrm>
            <a:off x="914400" y="394106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2"/>
          <p:cNvSpPr/>
          <p:nvPr/>
        </p:nvSpPr>
        <p:spPr>
          <a:xfrm>
            <a:off x="1115568" y="394106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3"/>
          <p:cNvSpPr/>
          <p:nvPr/>
        </p:nvSpPr>
        <p:spPr>
          <a:xfrm>
            <a:off x="1371600" y="391363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hr_total.sql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04672" y="4178808"/>
            <a:ext cx="4882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SUM(salary)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department = 'HR';</a:t>
            </a:r>
            <a:endParaRPr lang="en-US" sz="1350" dirty="0"/>
          </a:p>
        </p:txBody>
      </p:sp>
      <p:graphicFrame>
        <p:nvGraphicFramePr>
          <p:cNvPr id="1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394960"/>
          <a:ext cx="5394960" cy="621792"/>
        </p:xfrm>
        <a:graphic>
          <a:graphicData uri="http://schemas.openxmlformats.org/drawingml/2006/table">
            <a:tbl>
              <a:tblPr/>
              <a:tblGrid>
                <a:gridCol w="539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SUM(salary)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6263640" y="1508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AVG() — Returns the Average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263640" y="18745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16213E"/>
          </a:solidFill>
          <a:ln/>
          <a:effectLst>
            <a:outerShdw blurRad="76200" dist="381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28232" y="20208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" name="Shape 18"/>
          <p:cNvSpPr/>
          <p:nvPr/>
        </p:nvSpPr>
        <p:spPr>
          <a:xfrm>
            <a:off x="6629400" y="20208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19"/>
          <p:cNvSpPr/>
          <p:nvPr/>
        </p:nvSpPr>
        <p:spPr>
          <a:xfrm>
            <a:off x="6830568" y="20208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4" name="Text 20"/>
          <p:cNvSpPr/>
          <p:nvPr/>
        </p:nvSpPr>
        <p:spPr>
          <a:xfrm>
            <a:off x="6519672" y="2258568"/>
            <a:ext cx="4882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AVG(salary)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35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246120"/>
          <a:ext cx="5394960" cy="621792"/>
        </p:xfrm>
        <a:graphic>
          <a:graphicData uri="http://schemas.openxmlformats.org/drawingml/2006/table">
            <a:tbl>
              <a:tblPr/>
              <a:tblGrid>
                <a:gridCol w="539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AVG(salary)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57500.00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" name="Shape 21"/>
          <p:cNvSpPr/>
          <p:nvPr/>
        </p:nvSpPr>
        <p:spPr>
          <a:xfrm>
            <a:off x="6263640" y="37947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6213E"/>
          </a:solidFill>
          <a:ln/>
          <a:effectLst>
            <a:outerShdw blurRad="76200" dist="381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428232" y="394106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8" name="Shape 23"/>
          <p:cNvSpPr/>
          <p:nvPr/>
        </p:nvSpPr>
        <p:spPr>
          <a:xfrm>
            <a:off x="6629400" y="394106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9" name="Shape 24"/>
          <p:cNvSpPr/>
          <p:nvPr/>
        </p:nvSpPr>
        <p:spPr>
          <a:xfrm>
            <a:off x="6830568" y="394106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0" name="Text 25"/>
          <p:cNvSpPr/>
          <p:nvPr/>
        </p:nvSpPr>
        <p:spPr>
          <a:xfrm>
            <a:off x="7086600" y="391363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it_average.sql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519672" y="4178808"/>
            <a:ext cx="4882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AVG(salary)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department = 'IT';</a:t>
            </a:r>
            <a:endParaRPr lang="en-US" sz="1350" dirty="0"/>
          </a:p>
        </p:txBody>
      </p:sp>
      <p:graphicFrame>
        <p:nvGraphicFramePr>
          <p:cNvPr id="32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5394960"/>
          <a:ext cx="5394960" cy="621792"/>
        </p:xfrm>
        <a:graphic>
          <a:graphicData uri="http://schemas.openxmlformats.org/drawingml/2006/table">
            <a:tbl>
              <a:tblPr/>
              <a:tblGrid>
                <a:gridCol w="539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AVG(salary)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Text 27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 · Day 6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9601200" y="6537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 4 &amp; 5 OF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MIN() and MAX()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MIN() — Smallest Value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16213E"/>
          </a:solidFill>
          <a:ln/>
          <a:effectLst>
            <a:outerShdw blurRad="76200" dist="381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0208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0208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0208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258568"/>
            <a:ext cx="4882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MIN(salary)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5394960" cy="621792"/>
        </p:xfrm>
        <a:graphic>
          <a:graphicData uri="http://schemas.openxmlformats.org/drawingml/2006/table">
            <a:tbl>
              <a:tblPr/>
              <a:tblGrid>
                <a:gridCol w="539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MIN(salary)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37947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6213E"/>
          </a:solidFill>
          <a:ln/>
          <a:effectLst>
            <a:outerShdw blurRad="76200" dist="381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3232" y="394106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1"/>
          <p:cNvSpPr/>
          <p:nvPr/>
        </p:nvSpPr>
        <p:spPr>
          <a:xfrm>
            <a:off x="914400" y="394106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2"/>
          <p:cNvSpPr/>
          <p:nvPr/>
        </p:nvSpPr>
        <p:spPr>
          <a:xfrm>
            <a:off x="1115568" y="394106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3"/>
          <p:cNvSpPr/>
          <p:nvPr/>
        </p:nvSpPr>
        <p:spPr>
          <a:xfrm>
            <a:off x="1371600" y="391363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youngest.sql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04672" y="4178808"/>
            <a:ext cx="4882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MIN(age)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350" dirty="0"/>
          </a:p>
        </p:txBody>
      </p:sp>
      <p:graphicFrame>
        <p:nvGraphicFramePr>
          <p:cNvPr id="1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394960"/>
          <a:ext cx="5394960" cy="621792"/>
        </p:xfrm>
        <a:graphic>
          <a:graphicData uri="http://schemas.openxmlformats.org/drawingml/2006/table">
            <a:tbl>
              <a:tblPr/>
              <a:tblGrid>
                <a:gridCol w="539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MIN(age)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6263640" y="1508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MAX() — Largest Value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263640" y="18745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16213E"/>
          </a:solidFill>
          <a:ln/>
          <a:effectLst>
            <a:outerShdw blurRad="76200" dist="381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28232" y="20208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" name="Shape 18"/>
          <p:cNvSpPr/>
          <p:nvPr/>
        </p:nvSpPr>
        <p:spPr>
          <a:xfrm>
            <a:off x="6629400" y="20208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19"/>
          <p:cNvSpPr/>
          <p:nvPr/>
        </p:nvSpPr>
        <p:spPr>
          <a:xfrm>
            <a:off x="6830568" y="20208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4" name="Text 20"/>
          <p:cNvSpPr/>
          <p:nvPr/>
        </p:nvSpPr>
        <p:spPr>
          <a:xfrm>
            <a:off x="6519672" y="2258568"/>
            <a:ext cx="4882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MAX(salary)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35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246120"/>
          <a:ext cx="5394960" cy="621792"/>
        </p:xfrm>
        <a:graphic>
          <a:graphicData uri="http://schemas.openxmlformats.org/drawingml/2006/table">
            <a:tbl>
              <a:tblPr/>
              <a:tblGrid>
                <a:gridCol w="539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MAX(salary)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" name="Shape 21"/>
          <p:cNvSpPr/>
          <p:nvPr/>
        </p:nvSpPr>
        <p:spPr>
          <a:xfrm>
            <a:off x="6263640" y="37947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6213E"/>
          </a:solidFill>
          <a:ln/>
          <a:effectLst>
            <a:outerShdw blurRad="76200" dist="381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428232" y="394106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8" name="Shape 23"/>
          <p:cNvSpPr/>
          <p:nvPr/>
        </p:nvSpPr>
        <p:spPr>
          <a:xfrm>
            <a:off x="6629400" y="394106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9" name="Shape 24"/>
          <p:cNvSpPr/>
          <p:nvPr/>
        </p:nvSpPr>
        <p:spPr>
          <a:xfrm>
            <a:off x="6830568" y="394106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0" name="Text 25"/>
          <p:cNvSpPr/>
          <p:nvPr/>
        </p:nvSpPr>
        <p:spPr>
          <a:xfrm>
            <a:off x="7086600" y="391363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oldest.sql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519672" y="4178808"/>
            <a:ext cx="4882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MAX(age)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350" dirty="0"/>
          </a:p>
        </p:txBody>
      </p:sp>
      <p:graphicFrame>
        <p:nvGraphicFramePr>
          <p:cNvPr id="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5394960"/>
          <a:ext cx="5394960" cy="621792"/>
        </p:xfrm>
        <a:graphic>
          <a:graphicData uri="http://schemas.openxmlformats.org/drawingml/2006/table">
            <a:tbl>
              <a:tblPr/>
              <a:tblGrid>
                <a:gridCol w="539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MAX(age)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" name="Text 27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 · Day 6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9601200" y="6537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 Functions —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2011680"/>
          <a:ext cx="9601200" cy="1865376"/>
        </p:xfrm>
        <a:graphic>
          <a:graphicData uri="http://schemas.openxmlformats.org/drawingml/2006/table">
            <a:tbl>
              <a:tblPr/>
              <a:tblGrid>
                <a:gridCol w="480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of values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of values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280160" y="5074920"/>
            <a:ext cx="960120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1554480" y="507492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framing: HR asks how many, Finance asks how much, CEO asks on average.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 · Day 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601200" y="6537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BY — Grouping Rows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groups rows that share the same value in a column, so an aggregate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runs once per group instead of once for the whole table.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943600" cy="1645920"/>
          </a:xfrm>
          <a:prstGeom prst="roundRect">
            <a:avLst>
              <a:gd name="adj" fmla="val 4444"/>
            </a:avLst>
          </a:prstGeom>
          <a:solidFill>
            <a:srgbClr val="16213E"/>
          </a:solidFill>
          <a:ln/>
          <a:effectLst>
            <a:outerShdw blurRad="76200" dist="381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4323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4323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4323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40487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count_by_dept.sql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2670048"/>
            <a:ext cx="5431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department, COUNT(*)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department;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66560" y="22951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2606040"/>
          <a:ext cx="4846320" cy="1243584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COUNT(*)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sorting employees into piles by department, then counting each pile.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 · Day 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601200" y="6537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IN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Department-wise Reporting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Salary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6213E"/>
          </a:solidFill>
          <a:ln/>
          <a:effectLst>
            <a:outerShdw blurRad="76200" dist="381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2037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2037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2037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441448"/>
            <a:ext cx="3099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department, SUM(salary)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department;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297680" y="16916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Salary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297680" y="20574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6213E"/>
          </a:solidFill>
          <a:ln/>
          <a:effectLst>
            <a:outerShdw blurRad="76200" dist="381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62272" y="22037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0" y="22037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4864608" y="22037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4553712" y="2441448"/>
            <a:ext cx="3099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department, AVG(salary)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department;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046720" y="16916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Maximum Salary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46720" y="20574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6213E"/>
          </a:solidFill>
          <a:ln/>
          <a:effectLst>
            <a:outerShdw blurRad="76200" dist="381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11312" y="22037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22037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8613648" y="22037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8302752" y="2441448"/>
            <a:ext cx="3099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department, MAX(salary)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department;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 · Day 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01200" y="6537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42062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GROUP BY shape every time — only the aggregate function changes.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HAVING — Filtering Groups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filters rows before grouping. HAVING filters groups after grouping.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943600" cy="1737360"/>
          </a:xfrm>
          <a:prstGeom prst="roundRect">
            <a:avLst>
              <a:gd name="adj" fmla="val 4211"/>
            </a:avLst>
          </a:prstGeom>
          <a:solidFill>
            <a:srgbClr val="16213E"/>
          </a:solidFill>
          <a:ln/>
          <a:effectLst>
            <a:outerShdw blurRad="76200" dist="381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2037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2037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2037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17627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depts_over_2.sql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2441448"/>
            <a:ext cx="5431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department, COUNT(*)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department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COUNT(*) &gt; 2;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66560" y="20665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2377440"/>
          <a:ext cx="4846320" cy="621792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COUNT(*)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3977640"/>
            <a:ext cx="5943600" cy="1874520"/>
          </a:xfrm>
          <a:prstGeom prst="roundRect">
            <a:avLst>
              <a:gd name="adj" fmla="val 3902"/>
            </a:avLst>
          </a:prstGeom>
          <a:solidFill>
            <a:srgbClr val="16213E"/>
          </a:solidFill>
          <a:ln/>
          <a:effectLst>
            <a:outerShdw blurRad="76200" dist="381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13232" y="41239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3"/>
          <p:cNvSpPr/>
          <p:nvPr/>
        </p:nvSpPr>
        <p:spPr>
          <a:xfrm>
            <a:off x="914400" y="41239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1115568" y="41239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5"/>
          <p:cNvSpPr/>
          <p:nvPr/>
        </p:nvSpPr>
        <p:spPr>
          <a:xfrm>
            <a:off x="1371600" y="409651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high_avg_salary.sql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04672" y="4361688"/>
            <a:ext cx="54315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department, AVG(salary)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department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AVG(salary) &gt; 55000;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766560" y="40325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4343400"/>
          <a:ext cx="4846320" cy="932688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AVG(salary)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 · Day 6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601200" y="6537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&amp; CONTRAST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vs HAVING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37360"/>
          <a:ext cx="10332720" cy="1243584"/>
        </p:xfrm>
        <a:graphic>
          <a:graphicData uri="http://schemas.openxmlformats.org/drawingml/2006/table">
            <a:tbl>
              <a:tblPr/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 groups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before GROUP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after GROUP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use aggregate functions directly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use aggregate functions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14400" y="352044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16213E"/>
          </a:solidFill>
          <a:ln/>
          <a:effectLst>
            <a:outerShdw blurRad="76200" dist="381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78992" y="36667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280160" y="36667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481328" y="36667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737360" y="363931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where_example.sql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70432" y="3904488"/>
            <a:ext cx="4562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department = 'IT';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172200" y="352044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16213E"/>
          </a:solidFill>
          <a:ln/>
          <a:effectLst>
            <a:outerShdw blurRad="76200" dist="381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36792" y="36667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11"/>
          <p:cNvSpPr/>
          <p:nvPr/>
        </p:nvSpPr>
        <p:spPr>
          <a:xfrm>
            <a:off x="6537960" y="36667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2"/>
          <p:cNvSpPr/>
          <p:nvPr/>
        </p:nvSpPr>
        <p:spPr>
          <a:xfrm>
            <a:off x="6739128" y="36667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363931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having_example.sql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28232" y="3904488"/>
            <a:ext cx="4562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department, COUNT(*)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department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COUNT(*) &gt; 2;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914400" y="52120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from IT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172200" y="52120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with more than 2 employees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 · Day 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601200" y="6537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373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2" dirty="0"/>
          </a:p>
        </p:txBody>
      </p:sp>
      <p:sp>
        <p:nvSpPr>
          <p:cNvPr id="7" name="Text 5"/>
          <p:cNvSpPr/>
          <p:nvPr/>
        </p:nvSpPr>
        <p:spPr>
          <a:xfrm>
            <a:off x="1207008" y="16916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total employees.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2" dirty="0"/>
          </a:p>
        </p:txBody>
      </p:sp>
      <p:sp>
        <p:nvSpPr>
          <p:cNvPr id="10" name="Text 8"/>
          <p:cNvSpPr/>
          <p:nvPr/>
        </p:nvSpPr>
        <p:spPr>
          <a:xfrm>
            <a:off x="1207008" y="24688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HR employees.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2" dirty="0"/>
          </a:p>
        </p:txBody>
      </p:sp>
      <p:sp>
        <p:nvSpPr>
          <p:cNvPr id="13" name="Text 11"/>
          <p:cNvSpPr/>
          <p:nvPr/>
        </p:nvSpPr>
        <p:spPr>
          <a:xfrm>
            <a:off x="1207008" y="32461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total salary.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92" dirty="0"/>
          </a:p>
        </p:txBody>
      </p:sp>
      <p:sp>
        <p:nvSpPr>
          <p:cNvPr id="16" name="Text 14"/>
          <p:cNvSpPr/>
          <p:nvPr/>
        </p:nvSpPr>
        <p:spPr>
          <a:xfrm>
            <a:off x="1207008" y="40233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average salary.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48463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92" dirty="0"/>
          </a:p>
        </p:txBody>
      </p:sp>
      <p:sp>
        <p:nvSpPr>
          <p:cNvPr id="19" name="Text 17"/>
          <p:cNvSpPr/>
          <p:nvPr/>
        </p:nvSpPr>
        <p:spPr>
          <a:xfrm>
            <a:off x="1207008" y="48006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highest salary.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309360" y="17373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2" dirty="0"/>
          </a:p>
        </p:txBody>
      </p:sp>
      <p:sp>
        <p:nvSpPr>
          <p:cNvPr id="22" name="Text 20"/>
          <p:cNvSpPr/>
          <p:nvPr/>
        </p:nvSpPr>
        <p:spPr>
          <a:xfrm>
            <a:off x="6876288" y="16916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lowest salary.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309360" y="2514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2" dirty="0"/>
          </a:p>
        </p:txBody>
      </p:sp>
      <p:sp>
        <p:nvSpPr>
          <p:cNvPr id="25" name="Text 23"/>
          <p:cNvSpPr/>
          <p:nvPr/>
        </p:nvSpPr>
        <p:spPr>
          <a:xfrm>
            <a:off x="6876288" y="24688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employees department-wise.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309360" y="32918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2" dirty="0"/>
          </a:p>
        </p:txBody>
      </p:sp>
      <p:sp>
        <p:nvSpPr>
          <p:cNvPr id="28" name="Text 26"/>
          <p:cNvSpPr/>
          <p:nvPr/>
        </p:nvSpPr>
        <p:spPr>
          <a:xfrm>
            <a:off x="6876288" y="32461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average salary department-wise.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309360" y="40690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92" dirty="0"/>
          </a:p>
        </p:txBody>
      </p:sp>
      <p:sp>
        <p:nvSpPr>
          <p:cNvPr id="31" name="Text 29"/>
          <p:cNvSpPr/>
          <p:nvPr/>
        </p:nvSpPr>
        <p:spPr>
          <a:xfrm>
            <a:off x="6876288" y="40233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total salary department-wise.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309360" y="48463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92" dirty="0"/>
          </a:p>
        </p:txBody>
      </p:sp>
      <p:sp>
        <p:nvSpPr>
          <p:cNvPr id="34" name="Text 32"/>
          <p:cNvSpPr/>
          <p:nvPr/>
        </p:nvSpPr>
        <p:spPr>
          <a:xfrm>
            <a:off x="6876288" y="48006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departments having more than one employee.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 · Day 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601200" y="6537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ACTIVITY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— Student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852160" cy="1920240"/>
          </a:xfrm>
          <a:prstGeom prst="roundRect">
            <a:avLst>
              <a:gd name="adj" fmla="val 3810"/>
            </a:avLst>
          </a:prstGeom>
          <a:solidFill>
            <a:srgbClr val="16213E"/>
          </a:solidFill>
          <a:ln/>
          <a:effectLst>
            <a:outerShdw blurRad="76200" dist="381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465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7465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7465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71907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create_student.sql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984248"/>
            <a:ext cx="5340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Student(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INT PRIMARY KEY,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VARCHAR(50),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branch VARCHAR(30),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marks DECIMAL(5,2)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5852160" cy="594360"/>
          </a:xfrm>
          <a:prstGeom prst="roundRect">
            <a:avLst>
              <a:gd name="adj" fmla="val 12308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8 students, then write the queries below.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1600200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36" dirty="0"/>
          </a:p>
        </p:txBody>
      </p:sp>
      <p:sp>
        <p:nvSpPr>
          <p:cNvPr id="15" name="Text 13"/>
          <p:cNvSpPr/>
          <p:nvPr/>
        </p:nvSpPr>
        <p:spPr>
          <a:xfrm>
            <a:off x="7223760" y="157276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students.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766560" y="216712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2167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36" dirty="0"/>
          </a:p>
        </p:txBody>
      </p:sp>
      <p:sp>
        <p:nvSpPr>
          <p:cNvPr id="18" name="Text 16"/>
          <p:cNvSpPr/>
          <p:nvPr/>
        </p:nvSpPr>
        <p:spPr>
          <a:xfrm>
            <a:off x="7223760" y="213969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marks.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766560" y="2734056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2734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36" dirty="0"/>
          </a:p>
        </p:txBody>
      </p:sp>
      <p:sp>
        <p:nvSpPr>
          <p:cNvPr id="21" name="Text 19"/>
          <p:cNvSpPr/>
          <p:nvPr/>
        </p:nvSpPr>
        <p:spPr>
          <a:xfrm>
            <a:off x="7223760" y="270662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marks.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766560" y="3300984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36" dirty="0"/>
          </a:p>
        </p:txBody>
      </p:sp>
      <p:sp>
        <p:nvSpPr>
          <p:cNvPr id="24" name="Text 22"/>
          <p:cNvSpPr/>
          <p:nvPr/>
        </p:nvSpPr>
        <p:spPr>
          <a:xfrm>
            <a:off x="7223760" y="327355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marks.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766560" y="386791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3867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36" dirty="0"/>
          </a:p>
        </p:txBody>
      </p:sp>
      <p:sp>
        <p:nvSpPr>
          <p:cNvPr id="27" name="Text 25"/>
          <p:cNvSpPr/>
          <p:nvPr/>
        </p:nvSpPr>
        <p:spPr>
          <a:xfrm>
            <a:off x="7223760" y="38404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students branch-wise.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766560" y="4434840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4434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36" dirty="0"/>
          </a:p>
        </p:txBody>
      </p:sp>
      <p:sp>
        <p:nvSpPr>
          <p:cNvPr id="30" name="Text 28"/>
          <p:cNvSpPr/>
          <p:nvPr/>
        </p:nvSpPr>
        <p:spPr>
          <a:xfrm>
            <a:off x="7223760" y="440740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marks branch-wise.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766560" y="500176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5001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36" dirty="0"/>
          </a:p>
        </p:txBody>
      </p:sp>
      <p:sp>
        <p:nvSpPr>
          <p:cNvPr id="33" name="Text 31"/>
          <p:cNvSpPr/>
          <p:nvPr/>
        </p:nvSpPr>
        <p:spPr>
          <a:xfrm>
            <a:off x="7223760" y="497433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branches having more than 2 students.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 · Day 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601200" y="6537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Table — Apply Everything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Sales table and insert 10 records.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139696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116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sale_id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79776" y="2011680"/>
            <a:ext cx="2139696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779776" y="20116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product_name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10912" y="2011680"/>
            <a:ext cx="2139696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010912" y="20116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42048" y="2011680"/>
            <a:ext cx="2139696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242048" y="20116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0"/>
            <a:ext cx="2139696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9473184" y="20116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880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queries using: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37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14600" y="3337560"/>
            <a:ext cx="123444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33375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977640" y="3337560"/>
            <a:ext cx="123444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33375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40680" y="3337560"/>
            <a:ext cx="123444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33375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903720" y="3337560"/>
            <a:ext cx="123444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33375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366760" y="333756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3337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332720" y="3337560"/>
            <a:ext cx="123444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32720" y="33375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 · Day 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601200" y="6537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Questions &amp; Teaching Tip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are aggregate functions?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Difference: COUNT(*) vs COUNT(column_name)?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What is GROUP BY?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Difference between WHERE and HAVING?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Can we use HAVING without GROUP BY?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Q6.  Which clause runs first: WHERE or GROUP BY?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Q7.  Which aggregate function returns the highest value?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1600200"/>
            <a:ext cx="5120640" cy="3794760"/>
          </a:xfrm>
          <a:prstGeom prst="roundRect">
            <a:avLst>
              <a:gd name="adj" fmla="val 2892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TIP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every function as a business question: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2606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employees?"  </a:t>
            </a:r>
            <a:r>
              <a:rPr lang="en-US" sz="120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COUNT()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31363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"Total salary expense?"  </a:t>
            </a:r>
            <a:r>
              <a:rPr lang="en-US" sz="120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SUM()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366674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CEO: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"Average salary?"  </a:t>
            </a:r>
            <a:r>
              <a:rPr lang="en-US" sz="120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AVG()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419709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dept. has the most staff?"  </a:t>
            </a:r>
            <a:r>
              <a:rPr lang="en-US" sz="120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GROUP BY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47274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Mgmt: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"Depts. with more than 2 staff?"  </a:t>
            </a:r>
            <a:r>
              <a:rPr lang="en-US" sz="120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HAVING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 · Day 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01200" y="6537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16213E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work today!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F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class: JOINs — connecting the Employee table to other tables in the database.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C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COUNT()  ·  SUM()  ·  AVG()  ·  MIN()  ·  MAX()  ·  GROUP BY  ·  HAVING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1388</Words>
  <Application>Microsoft Office PowerPoint</Application>
  <PresentationFormat>Widescreen</PresentationFormat>
  <Paragraphs>382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Day 6 - Aggregate Functions, GROUP BY &amp; HAVING</dc:title>
  <dc:subject>PptxGenJS Presentation</dc:subject>
  <dc:creator>Rupa</dc:creator>
  <cp:lastModifiedBy>Rupa G</cp:lastModifiedBy>
  <cp:revision>2</cp:revision>
  <dcterms:created xsi:type="dcterms:W3CDTF">2026-08-03T15:16:07Z</dcterms:created>
  <dcterms:modified xsi:type="dcterms:W3CDTF">2026-08-03T17:07:27Z</dcterms:modified>
</cp:coreProperties>
</file>