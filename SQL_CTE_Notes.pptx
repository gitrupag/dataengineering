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1371600"/>
            <a:ext cx="420624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0" b="1">
                <a:solidFill>
                  <a:srgbClr val="1B3354"/>
                </a:solidFill>
                <a:latin typeface="Georgia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A098"/>
                </a:solidFill>
                <a:latin typeface="Calibri"/>
              </a:rP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6217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Common Table</a:t>
            </a:r>
          </a:p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Expressions (CTE)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9C7D6"/>
                </a:solidFill>
                <a:latin typeface="Calibri"/>
              </a:rPr>
              <a:t>A temporary named result set defined with WITH — simpler, readable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5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5394960" cy="137160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FD8D2"/>
                </a:solidFill>
                <a:latin typeface="Consolas"/>
              </a:rPr>
              <a:t>WITH high_salary AS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FD8D2"/>
                </a:solidFill>
                <a:latin typeface="Consolas"/>
              </a:rPr>
              <a:t>  SELECT * FROM Employee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FD8D2"/>
                </a:solidFill>
                <a:latin typeface="Consolas"/>
              </a:rPr>
              <a:t>  WHERE salary &gt; 50000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FD8D2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FD8D2"/>
                </a:solidFill>
                <a:latin typeface="Consolas"/>
              </a:rPr>
              <a:t>SELECT * FROM high_salary;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8099"/>
                </a:solidFill>
                <a:latin typeface="Calibri"/>
              </a:rPr>
              <a:t>Class Notes  ·  SQL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What Is a CTE?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CTE = Common Table Expression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</p:spPr>
        <p:txBody>
          <a:bodyPr wrap="square" lIns="0" rIns="164592" tIns="0" bIns="109728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A temporary named result set you can use inside a query.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Defined using the WITH keyword.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It exists only for the duration of that query.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Breaks a big query into readable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5120640" cy="96012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904488"/>
            <a:ext cx="4846320" cy="74066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SIMPLE IDEA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2263A"/>
                </a:solidFill>
                <a:latin typeface="Calibri"/>
              </a:rPr>
              <a:t>CTE = a named temporary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5120640" cy="123444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047488"/>
            <a:ext cx="4846320" cy="10149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INTERVIEW DEFINITION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263A"/>
                </a:solidFill>
                <a:latin typeface="Calibri"/>
              </a:rPr>
              <a:t>A CTE is a temporary named result set defined using WITH, which helps simplify and organize complex SQL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283464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19656"/>
            <a:ext cx="5212080" cy="228600"/>
          </a:xfrm>
          <a:prstGeom prst="rect">
            <a:avLst/>
          </a:prstGeom>
          <a:noFill/>
        </p:spPr>
        <p:txBody>
          <a:bodyPr wrap="square" lIns="164592" rIns="164592" tIns="109728" bIns="10972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67128"/>
            <a:ext cx="5029200" cy="2267712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WITH high_salary AS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    SELECT *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    FROM Employee   -- the CTE body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    WHERE salary &gt; 50000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SELECT *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FROM high_salary;   -- main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70916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4818888"/>
            <a:ext cx="2240280" cy="12435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CTE NAME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63A"/>
                </a:solidFill>
                <a:latin typeface="Calibri"/>
              </a:rPr>
              <a:t>high_salary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4818888"/>
            <a:ext cx="2240280" cy="12435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MAIN QUERY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63A"/>
                </a:solidFill>
                <a:latin typeface="Calibri"/>
              </a:rPr>
              <a:t>Reads from the CTE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02 ·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Basic Syntax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98448"/>
            <a:ext cx="5577840" cy="283464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394960" cy="265176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WITH cte_name AS 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    SELECT column1, column2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    FROM table_name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    WHERE condition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SELECT *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FROM cte_name;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298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Georgia"/>
              </a:rPr>
              <a:t>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55648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1284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505456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400" b="1">
                <a:solidFill>
                  <a:srgbClr val="12263A"/>
                </a:solidFill>
                <a:latin typeface="Consolas"/>
              </a:rPr>
              <a:t>cte_name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6265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55264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400" b="1">
                <a:solidFill>
                  <a:srgbClr val="12263A"/>
                </a:solidFill>
                <a:latin typeface="Consolas"/>
              </a:rPr>
              <a:t>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124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005072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400" b="1">
                <a:solidFill>
                  <a:srgbClr val="12263A"/>
                </a:solidFill>
                <a:latin typeface="Consolas"/>
              </a:rPr>
              <a:t>( Subquery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6227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754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Main Query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00600"/>
            <a:ext cx="5577840" cy="137160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910328"/>
            <a:ext cx="5303520" cy="115214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REMEMBER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The CTE is written first, the main query second. Everything after the closing ) is the query that uses the CTE.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03 ·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Example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The Employee table is used in every example that follows.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916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emp_id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salary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dept_id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Ravi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50000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Priya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60000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Arun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45000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Anu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70000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691640"/>
          <a:ext cx="23774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dept_id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dept_name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IT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HR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11480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224528"/>
            <a:ext cx="5212080" cy="96926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QUICK FACTS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3A"/>
                </a:solidFill>
                <a:latin typeface="Calibri"/>
              </a:rPr>
              <a:t>4 employees · 2 departments · average salary = 56250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10896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218688"/>
            <a:ext cx="4572000" cy="12435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WHY IT MATTERS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263A"/>
                </a:solidFill>
                <a:latin typeface="Calibri"/>
              </a:rPr>
              <a:t>dept_id links Employee to Department — this is what makes GROUP BY and JOIN examples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04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Simple CTE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Question: find employees whose salary is greater than 50000.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577840" cy="265176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94960" cy="246888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WITH high_salary AS 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    SELECT *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    FROM Employee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    WHERE salary &gt; 50000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SELECT *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7EEF6"/>
                </a:solidFill>
                <a:latin typeface="Consolas"/>
              </a:rPr>
              <a:t>FROM high_salary;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990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B7C"/>
                </a:solidFill>
                <a:latin typeface="Calibri"/>
              </a:rPr>
              <a:t>Output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691640"/>
          <a:ext cx="48463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emp_id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salary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dept_id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Priya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60000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Anu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70000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3063240"/>
            <a:ext cx="4846320" cy="155448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172968"/>
            <a:ext cx="4572000" cy="133502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The CTE filters the rows first. The main query then simply selects everything from that named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091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818888"/>
            <a:ext cx="5303520" cy="12435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TIP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The same result could be written as one SELECT — CTEs pay off when the logic gets longer.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05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CTE With an Aggregate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Question: find employees earning above the average salary.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577840" cy="301752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94960" cy="283464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WITH avg_salary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AVG(salary) AS average_salary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FROM Employee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SELECT *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FROM Employee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WHERE salary &gt;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average_salary FROM avg_salary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91640"/>
            <a:ext cx="4846320" cy="114300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801368"/>
            <a:ext cx="4572000" cy="92354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STEP 1 — CTE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Calculates the average salary → 56250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971800"/>
            <a:ext cx="4846320" cy="114300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081528"/>
            <a:ext cx="4572000" cy="92354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STEP 2 — MAIN QUERY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Keeps only rows above that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297680"/>
            <a:ext cx="4846320" cy="118872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4407408"/>
            <a:ext cx="4572000" cy="96926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A83A4E"/>
                </a:solidFill>
                <a:latin typeface="Calibri"/>
              </a:rPr>
              <a:t>RESULT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Priya (60000) and Anu (70000)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06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CTE With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Question: find the average salary of each department.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577840" cy="265176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94960" cy="246888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WITH department_salary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dept_id, AVG(salary) AS avg_salary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FROM Employee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GROUP BY dept_id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SELECT *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FROM department_salary;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990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B7C"/>
                </a:solidFill>
                <a:latin typeface="Calibri"/>
              </a:rPr>
              <a:t>Result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691640"/>
          <a:ext cx="4023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dept_id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avg_salary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47500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65000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301752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127248"/>
            <a:ext cx="4572000" cy="115214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NOTE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A CTE can hold any valid SELECT — including GROUP BY, HAVING and ORDER BY.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091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818888"/>
            <a:ext cx="5303520" cy="12435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WHY USE A CTE HERE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The grouped result gets a name, so later steps can join or filter it just like a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07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CTE With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A CTE can be joined with other tables just like a normal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6035040" cy="320040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852160" cy="301752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WITH department_salary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dept_id, AVG(salary) AS avg_salary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FROM Employee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GROUP BY dept_id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SELECT d.dept_name, ds.avg_salary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FROM department_salary 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JOIN Department 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ON ds.dept_id = d.dept_id;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990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B7C"/>
                </a:solidFill>
                <a:latin typeface="Calibri"/>
              </a:rPr>
              <a:t>Result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691640"/>
          <a:ext cx="4023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dept_name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avg_salary</a:t>
                      </a:r>
                    </a:p>
                  </a:txBody>
                  <a:tcPr marL="73152" marR="73152" marT="18288" marB="18288" anchor="ctr">
                    <a:solidFill>
                      <a:srgbClr val="14A09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IT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47500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HR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263A"/>
                          </a:solidFill>
                          <a:latin typeface="Consolas"/>
                        </a:rPr>
                        <a:t>65000</a:t>
                      </a:r>
                    </a:p>
                  </a:txBody>
                  <a:tcPr marL="73152" marR="73152" marT="18288" marB="18288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0" y="3017520"/>
            <a:ext cx="4389120" cy="155448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3127248"/>
            <a:ext cx="4114800" cy="133502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KEY IDEA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Give the CTE an alias (ds) and join on the shared column — exactly like joining two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08 ·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Multiple CTEs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One WITH clause can define several CTEs, separated by commas.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6035040" cy="310896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852160" cy="292608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WITH high_salary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* FROM Employee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WHERE salary &gt; 50000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hr_employees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* FROM high_salary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WHERE dept_id = 20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SELECT * FROM hr_employees;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89120" cy="160020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19656"/>
            <a:ext cx="4389120" cy="228600"/>
          </a:xfrm>
          <a:prstGeom prst="rect">
            <a:avLst/>
          </a:prstGeom>
          <a:noFill/>
        </p:spPr>
        <p:txBody>
          <a:bodyPr wrap="square" lIns="164592" rIns="164592" tIns="109728" bIns="10972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167128"/>
            <a:ext cx="4206240" cy="1033272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WITH cte1 AS (...),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     cte2 AS (...),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     cte3 AS (...)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SELECT * FROM cte3;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520440"/>
            <a:ext cx="4389120" cy="141732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3630168"/>
            <a:ext cx="4114800" cy="119786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CHAINING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263A"/>
                </a:solidFill>
                <a:latin typeface="Calibri"/>
              </a:rPr>
              <a:t>A later CTE can read from an earlier one — that is how a long query becomes a set of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07492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5184648"/>
            <a:ext cx="4114800" cy="87782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A83A4E"/>
                </a:solidFill>
                <a:latin typeface="Calibri"/>
              </a:rPr>
              <a:t>WATCH OUT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263A"/>
                </a:solidFill>
                <a:latin typeface="Calibri"/>
              </a:rPr>
              <a:t>Comma between CTEs — do not repeat WITH.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09 ·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CTE vs Subquery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47C1E"/>
                </a:solidFill>
                <a:latin typeface="Calibri"/>
              </a:rPr>
              <a:t>SUBQUERY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73736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155448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SELECT * FROM Employee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WHERE salary &gt;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    SELECT AVG(salary) FROM Employee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7EEF6"/>
                </a:solidFill>
                <a:latin typeface="Consolas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721608"/>
            <a:ext cx="5029200" cy="234086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CHARACTERISTICS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Query written inside another query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Harder to read as logic grows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Good for simple, one-off logic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Can be nested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CTE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166360" cy="173736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983480" cy="155448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EF6"/>
                </a:solidFill>
                <a:latin typeface="Consolas"/>
              </a:rPr>
              <a:t>WITH avg_salary AS 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EF6"/>
                </a:solidFill>
                <a:latin typeface="Consolas"/>
              </a:rPr>
              <a:t>    SELECT AVG(salary) AS avg_sal FROM Employee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EF6"/>
                </a:solidFill>
                <a:latin typeface="Consolas"/>
              </a:rPr>
              <a:t>SELECT * FROM Employee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EF6"/>
                </a:solidFill>
                <a:latin typeface="Consolas"/>
              </a:rPr>
              <a:t>WHERE salary &gt; (SELECT avg_sal FROM avg_salary);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611880"/>
            <a:ext cx="5166360" cy="256032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721608"/>
            <a:ext cx="4892040" cy="234086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CHARACTERISTICS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Named temporary result defined with WITH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Usually easier to read and debug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Good for complex, multi-step logic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Several CTEs allowed in one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10 ·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Recursive CTE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Calibri"/>
              </a:rPr>
              <a:t>A recursive CTE refers to itself — ideal for hierarchical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6035040" cy="338328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852160" cy="3200400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WITH RECURSIVE cte_name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-- Anchor query (starting rows)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UNION 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-- Recursive query (repeats)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FROM table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JOIN cte_name ON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SELECT * FROM cte_name;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89120" cy="100584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5472" y="1801368"/>
            <a:ext cx="4114800" cy="7863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EMPLOYEE → MANAGER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Reporting hierarchy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862072"/>
            <a:ext cx="4389120" cy="100584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971800"/>
            <a:ext cx="4114800" cy="7863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B47C1E"/>
                </a:solidFill>
                <a:latin typeface="Calibri"/>
              </a:rPr>
              <a:t>CATEGORY → SUBCATEGORY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Product trees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032504"/>
            <a:ext cx="4389120" cy="100584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4142232"/>
            <a:ext cx="4114800" cy="78638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A83A4E"/>
                </a:solidFill>
                <a:latin typeface="Calibri"/>
              </a:rPr>
              <a:t>FOLDER → SUBFOLDER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Nested structures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49240"/>
            <a:ext cx="6035040" cy="82296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458968"/>
            <a:ext cx="5760720" cy="60350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ANCHOR + RECURSIVE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2263A"/>
                </a:solidFill>
                <a:latin typeface="Calibri"/>
              </a:rPr>
              <a:t>Two parts joined by UNION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11 ·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Advantages of Using CTEs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47087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Makes complex queries easier to understand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3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07207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Improves the readability of your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5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67327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Allows multiple CTEs in a single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47087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Breaks a large query into smaller logical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3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07207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Supports recursive queries for hierarchies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9475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4A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67327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Makes debugging step by step much easier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A098"/>
                </a:solidFill>
                <a:latin typeface="Calibri"/>
              </a:rPr>
              <a:t>12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263A"/>
                </a:solidFill>
                <a:latin typeface="Georgia"/>
              </a:rPr>
              <a:t>Key Points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5577840" cy="365760"/>
          </a:xfrm>
          <a:prstGeom prst="rect">
            <a:avLst/>
          </a:prstGeom>
          <a:noFill/>
        </p:spPr>
        <p:txBody>
          <a:bodyPr wrap="square" lIns="0" rIns="164592" tIns="0" bIns="109728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12263A"/>
                </a:solidFill>
                <a:latin typeface="Calibri"/>
              </a:rPr>
              <a:t>CTE → Common Table Expression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Written with the WITH keyword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Creates a temporary named result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Available only during that one query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Multiple CTEs are separated by commas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12263A"/>
                </a:solidFill>
                <a:latin typeface="Calibri"/>
              </a:rPr>
              <a:t>RECURSIVE handles hierarchical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298448"/>
            <a:ext cx="4846320" cy="2194560"/>
          </a:xfrm>
          <a:prstGeom prst="roundRect">
            <a:avLst>
              <a:gd name="adj" fmla="val 3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426464"/>
            <a:ext cx="4846320" cy="228600"/>
          </a:xfrm>
          <a:prstGeom prst="rect">
            <a:avLst/>
          </a:prstGeom>
          <a:noFill/>
        </p:spPr>
        <p:txBody>
          <a:bodyPr wrap="square" lIns="164592" rIns="164592" tIns="109728" bIns="10972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SYNTAX TO MEMORISE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73936"/>
            <a:ext cx="4663440" cy="1627632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WITH cte_name AS 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SELECT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FROM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    WHERE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7EEF6"/>
                </a:solidFill>
                <a:latin typeface="Consolas"/>
              </a:rPr>
              <a:t>SELECT * FROM cte_name;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114800"/>
            <a:ext cx="4846320" cy="2057400"/>
          </a:xfrm>
          <a:prstGeom prst="roundRect">
            <a:avLst>
              <a:gd name="adj" fmla="val 5000"/>
            </a:avLst>
          </a:prstGeom>
          <a:solidFill>
            <a:srgbClr val="E7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4224528"/>
            <a:ext cx="4572000" cy="183794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4A098"/>
                </a:solidFill>
                <a:latin typeface="Calibri"/>
              </a:rPr>
              <a:t>SAY THIS IN AN INTERVIEW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A CTE is a temporary named result set defined using the WITH keyword, which helps simplify and organize complex SQL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5577840" cy="196596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315968"/>
            <a:ext cx="5303520" cy="1746504"/>
          </a:xfrm>
          <a:prstGeom prst="rect">
            <a:avLst/>
          </a:prstGeom>
          <a:noFill/>
        </p:spPr>
        <p:txBody>
          <a:bodyPr wrap="square" lIns="164592" rIns="164592" tIns="109728" bIns="109728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A83A4E"/>
                </a:solidFill>
                <a:latin typeface="Calibri"/>
              </a:rPr>
              <a:t>COMMON MISTAKES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Forgetting the comma between multiple CTEs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Repeating the WITH keyword for each CTE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2263A"/>
                </a:solidFill>
                <a:latin typeface="Calibri"/>
              </a:rPr>
              <a:t>• Expecting the CTE to exist after the query 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C9AA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